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80" r:id="rId24"/>
    <p:sldId id="281" r:id="rId25"/>
    <p:sldId id="282" r:id="rId26"/>
    <p:sldId id="283" r:id="rId27"/>
    <p:sldId id="284" r:id="rId28"/>
    <p:sldId id="285" r:id="rId29"/>
    <p:sldId id="286" r:id="rId30"/>
  </p:sldIdLst>
  <p:sldSz cx="18288000" cy="10287000"/>
  <p:notesSz cx="6858000" cy="9144000"/>
  <p:embeddedFontLst>
    <p:embeddedFont>
      <p:font typeface="Calibri (MS)" panose="020B0604020202020204" charset="0"/>
      <p:regular r:id="rId32"/>
    </p:embeddedFont>
    <p:embeddedFont>
      <p:font typeface="Calibri (MS)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329C0D-2814-4040-A36C-9C825E644770}" v="3" dt="2025-12-12T11:53:02.0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5407" autoAdjust="0"/>
  </p:normalViewPr>
  <p:slideViewPr>
    <p:cSldViewPr>
      <p:cViewPr varScale="1">
        <p:scale>
          <a:sx n="53" d="100"/>
          <a:sy n="53" d="100"/>
        </p:scale>
        <p:origin x="509"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aib Baig" userId="cdeef8c0420b4d45" providerId="LiveId" clId="{19C35E48-73C2-4A98-B579-F850BC242E64}"/>
    <pc:docChg chg="custSel modSld">
      <pc:chgData name="Shoaib Baig" userId="cdeef8c0420b4d45" providerId="LiveId" clId="{19C35E48-73C2-4A98-B579-F850BC242E64}" dt="2025-12-12T10:36:21.878" v="89"/>
      <pc:docMkLst>
        <pc:docMk/>
      </pc:docMkLst>
      <pc:sldChg chg="modNotes">
        <pc:chgData name="Shoaib Baig" userId="cdeef8c0420b4d45" providerId="LiveId" clId="{19C35E48-73C2-4A98-B579-F850BC242E64}" dt="2025-12-12T10:28:10.684" v="87"/>
        <pc:sldMkLst>
          <pc:docMk/>
          <pc:sldMk cId="0" sldId="257"/>
        </pc:sldMkLst>
      </pc:sldChg>
      <pc:sldChg chg="modNotes">
        <pc:chgData name="Shoaib Baig" userId="cdeef8c0420b4d45" providerId="LiveId" clId="{19C35E48-73C2-4A98-B579-F850BC242E64}" dt="2025-12-12T10:28:10.684" v="87"/>
        <pc:sldMkLst>
          <pc:docMk/>
          <pc:sldMk cId="0" sldId="261"/>
        </pc:sldMkLst>
      </pc:sldChg>
      <pc:sldChg chg="modNotes">
        <pc:chgData name="Shoaib Baig" userId="cdeef8c0420b4d45" providerId="LiveId" clId="{19C35E48-73C2-4A98-B579-F850BC242E64}" dt="2025-12-12T10:28:10.684" v="87"/>
        <pc:sldMkLst>
          <pc:docMk/>
          <pc:sldMk cId="0" sldId="270"/>
        </pc:sldMkLst>
      </pc:sldChg>
      <pc:sldChg chg="modNotes">
        <pc:chgData name="Shoaib Baig" userId="cdeef8c0420b4d45" providerId="LiveId" clId="{19C35E48-73C2-4A98-B579-F850BC242E64}" dt="2025-12-12T10:28:10.684" v="87"/>
        <pc:sldMkLst>
          <pc:docMk/>
          <pc:sldMk cId="0" sldId="271"/>
        </pc:sldMkLst>
      </pc:sldChg>
      <pc:sldChg chg="modNotes">
        <pc:chgData name="Shoaib Baig" userId="cdeef8c0420b4d45" providerId="LiveId" clId="{19C35E48-73C2-4A98-B579-F850BC242E64}" dt="2025-12-12T10:28:10.684" v="87"/>
        <pc:sldMkLst>
          <pc:docMk/>
          <pc:sldMk cId="0" sldId="272"/>
        </pc:sldMkLst>
      </pc:sldChg>
      <pc:sldChg chg="modNotes">
        <pc:chgData name="Shoaib Baig" userId="cdeef8c0420b4d45" providerId="LiveId" clId="{19C35E48-73C2-4A98-B579-F850BC242E64}" dt="2025-12-12T10:28:10.684" v="87"/>
        <pc:sldMkLst>
          <pc:docMk/>
          <pc:sldMk cId="0" sldId="274"/>
        </pc:sldMkLst>
      </pc:sldChg>
      <pc:sldChg chg="modSp mod">
        <pc:chgData name="Shoaib Baig" userId="cdeef8c0420b4d45" providerId="LiveId" clId="{19C35E48-73C2-4A98-B579-F850BC242E64}" dt="2025-12-12T10:36:21.878" v="89"/>
        <pc:sldMkLst>
          <pc:docMk/>
          <pc:sldMk cId="2951322564" sldId="279"/>
        </pc:sldMkLst>
        <pc:spChg chg="mod">
          <ac:chgData name="Shoaib Baig" userId="cdeef8c0420b4d45" providerId="LiveId" clId="{19C35E48-73C2-4A98-B579-F850BC242E64}" dt="2025-12-12T10:36:21.878" v="89"/>
          <ac:spMkLst>
            <pc:docMk/>
            <pc:sldMk cId="2951322564" sldId="279"/>
            <ac:spMk id="3" creationId="{B15B8BAF-BB31-4451-08AD-2F2218CCEDD3}"/>
          </ac:spMkLst>
        </pc:spChg>
      </pc:sldChg>
      <pc:sldChg chg="modSp mod">
        <pc:chgData name="Shoaib Baig" userId="cdeef8c0420b4d45" providerId="LiveId" clId="{19C35E48-73C2-4A98-B579-F850BC242E64}" dt="2025-12-12T10:36:21.878" v="89"/>
        <pc:sldMkLst>
          <pc:docMk/>
          <pc:sldMk cId="3312660738" sldId="280"/>
        </pc:sldMkLst>
        <pc:spChg chg="mod">
          <ac:chgData name="Shoaib Baig" userId="cdeef8c0420b4d45" providerId="LiveId" clId="{19C35E48-73C2-4A98-B579-F850BC242E64}" dt="2025-12-12T10:36:21.878" v="89"/>
          <ac:spMkLst>
            <pc:docMk/>
            <pc:sldMk cId="3312660738" sldId="280"/>
            <ac:spMk id="3" creationId="{FF5F439F-E5AE-3C00-BB7E-6DC1F5CE59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ita.aero/resources/white-papers/flightchain-shared-control-of-data/"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ita.aero/resources/white-papers/flightchain-shared-control-of-data/"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growthmarketreports.com/report/blockchain-in-aviation-market" TargetMode="External"/><Relationship Id="rId3" Type="http://schemas.openxmlformats.org/officeDocument/2006/relationships/hyperlink" Target="https://www.futuretravelexperience.com/2017/12/flightchain-project-sheds-light-on-real-world-potential-of-blockchain-for-airlines-and-airports/" TargetMode="External"/><Relationship Id="rId7" Type="http://schemas.openxmlformats.org/officeDocument/2006/relationships/hyperlink" Target="https://doi.org/10.1049/cmu2.12781"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research-api.cbs.dk/ws/portalfiles/portal/62174647/878879_Blockchain_in_Copenhagen_Airport_The_Journey_Towards_Increased_Data_Sharing_and_Interoperability.pdf" TargetMode="External"/><Relationship Id="rId5" Type="http://schemas.openxmlformats.org/officeDocument/2006/relationships/hyperlink" Target="https://www.iata.org/contentassets/2d997082f3c84c7cba001f506edd2c2e/blockchain-in-aviation-white-paper.pdf" TargetMode="External"/><Relationship Id="rId4" Type="http://schemas.openxmlformats.org/officeDocument/2006/relationships/hyperlink" Target="https://www.sita.aero/resources/White-papers/flightchain-shared-control-of-data/" TargetMode="External"/><Relationship Id="rId9" Type="http://schemas.openxmlformats.org/officeDocument/2006/relationships/hyperlink" Target="https://openaccess.hacettepe.edu.tr/server/api/core/bitstreams/30554ec0-b233-47c6-8587-617928f27057/content" TargetMode="Externa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doras.dcu.ie/26831/1/sustainability-14-02643.pdf" TargetMode="External"/><Relationship Id="rId3" Type="http://schemas.openxmlformats.org/officeDocument/2006/relationships/hyperlink" Target="file:///C:\Users\Uzair%20Patel\Downloads\budimir,+Production+editor,+6_92-97_148-Blockchain+Adoption+in+Aviation+Opportunities+and+Challenges%20(2).pdf" TargetMode="External"/><Relationship Id="rId7" Type="http://schemas.openxmlformats.org/officeDocument/2006/relationships/hyperlink" Target="https://appinventiv.com/blog/blockchain-in-aviation/"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papers.ssrn.com/sol3/papers.cfm?abstract_id=5294484" TargetMode="External"/><Relationship Id="rId5" Type="http://schemas.openxmlformats.org/officeDocument/2006/relationships/hyperlink" Target="https://www.sciencedirect.com/science/article/abs/pii/S2210539521000523" TargetMode="External"/><Relationship Id="rId4" Type="http://schemas.openxmlformats.org/officeDocument/2006/relationships/hyperlink" Target="https://www.iata.org/contentassets/2d997082f3c84c7cba001f506edd2c2e/blockchain-in-aviation-white-paper.pdf" TargetMode="Externa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www.edpb.europa.eu/sites/default/files/files/file1/edpb_guidelines_201905_rtbfsearchengines_afterpublicconsultation_en.pdf" TargetMode="External"/><Relationship Id="rId3" Type="http://schemas.openxmlformats.org/officeDocument/2006/relationships/hyperlink" Target="https://www.sita.aero/resources/White-papers/flightchain-shared-control-of-data/" TargetMode="External"/><Relationship Id="rId7" Type="http://schemas.openxmlformats.org/officeDocument/2006/relationships/hyperlink" Target="https://ico.org.uk/for-organisations/uk-gdpr-guidance-and-resources/individual-rights/individual-rights/right-to-erasure/" TargetMode="External"/><Relationship Id="rId12" Type="http://schemas.openxmlformats.org/officeDocument/2006/relationships/hyperlink" Target="https://www.eurocontrol.int/sites/default/files/2021-04/eurocontrol-annual-nor-2020-main-report.pdf"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www.icao.int/sites/default/files/secretariat/OfficeOfInternalOversight/Final-Oversight-Reports/Performance-Audit-Report-on-Data-Management-Public-Disclosure.pdf" TargetMode="External"/><Relationship Id="rId11" Type="http://schemas.openxmlformats.org/officeDocument/2006/relationships/hyperlink" Target="https://www.sita.aero/sita-activity-report-2021/executive-statements/chair-statement/" TargetMode="External"/><Relationship Id="rId5" Type="http://schemas.openxmlformats.org/officeDocument/2006/relationships/hyperlink" Target="https://www.iata.org/contentassets/c81222d96c9a4e0bb4ff6ced0126f0bb/iata-annual-review-2020.pdf" TargetMode="External"/><Relationship Id="rId10" Type="http://schemas.openxmlformats.org/officeDocument/2006/relationships/hyperlink" Target="https://aerospaceglobalnews.com/news/blockchain-going-up-the-priority-list-for-airlines-and-airports/" TargetMode="External"/><Relationship Id="rId4" Type="http://schemas.openxmlformats.org/officeDocument/2006/relationships/hyperlink" Target="https://airport.nridigital.com/air_yearbook_2018/blockchain_the_future_of_flight_data_management" TargetMode="External"/><Relationship Id="rId9" Type="http://schemas.openxmlformats.org/officeDocument/2006/relationships/hyperlink" Target="https://www.deloitte.com/global/en/Industries/transportation/perspectives/data-driven-process-optimization-in-the-aviation-industry.html" TargetMode="Externa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repositorio.ucp.pt/server/api/core/bitstreams/8c5018b5-8c6e-49e3-b06d-385358806946/content" TargetMode="External"/><Relationship Id="rId3" Type="http://schemas.openxmlformats.org/officeDocument/2006/relationships/hyperlink" Target="https://youtu.be/PTAQ6azDSRM" TargetMode="External"/><Relationship Id="rId7" Type="http://schemas.openxmlformats.org/officeDocument/2006/relationships/hyperlink" Target="https://www.lufthansa-industry-solutions.com/de-en/solutions-products/aviation/generating-more-transparency-in-aviation-with-blockchain-technology" TargetMode="External"/><Relationship Id="rId12" Type="http://schemas.openxmlformats.org/officeDocument/2006/relationships/hyperlink" Target="https://arxiv.org/pdf/2410.14518.pdf"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www.springerprofessional.de/en/blockchain-in-the-tourism-industry-a-new-era-of-secure-and-trans/51283202" TargetMode="External"/><Relationship Id="rId11" Type="http://schemas.openxmlformats.org/officeDocument/2006/relationships/hyperlink" Target="https://amadeus.com/en/newsroom/press-releases/amadeus-lufthansa-eu-digital-identity-wallet" TargetMode="External"/><Relationship Id="rId5" Type="http://schemas.openxmlformats.org/officeDocument/2006/relationships/hyperlink" Target="https://www.youtube.com/watch?v=Zn96NDdIFps" TargetMode="External"/><Relationship Id="rId10" Type="http://schemas.openxmlformats.org/officeDocument/2006/relationships/hyperlink" Target="https://www.sciencedirect.com/science/article/abs/pii/S2210539521000523" TargetMode="External"/><Relationship Id="rId4" Type="http://schemas.openxmlformats.org/officeDocument/2006/relationships/hyperlink" Target="https://www.youtube.com/watch?v=n3D9-WJcgis" TargetMode="External"/><Relationship Id="rId9" Type="http://schemas.openxmlformats.org/officeDocument/2006/relationships/hyperlink" Target="https://au.finance.yahoo.com/news/lufthansa-announces-global-blockchain-challenge-113420763.html"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irport.nridigital.com/air_yearbook_2018/blockchain_the_future_of_flight_data_management"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www.dacbeachcroft.com/en/What-we-think/Cleared-for-take-off-blockchain-in-aviation" TargetMode="External"/><Relationship Id="rId5" Type="http://schemas.openxmlformats.org/officeDocument/2006/relationships/hyperlink" Target="https://www.airportbenchmarking.com/blockchain-flight-data-experiment-results-revealed-by-sita/" TargetMode="External"/><Relationship Id="rId4" Type="http://schemas.openxmlformats.org/officeDocument/2006/relationships/hyperlink" Target="https://financefeeds.com/blockchain-flight-records-future-of-aircraft-data/" TargetMode="External"/></Relationships>
</file>

<file path=ppt/notesSlides/_rels/notesSlide16.xml.rels><?xml version="1.0" encoding="UTF-8" standalone="yes"?>
<Relationships xmlns="http://schemas.openxmlformats.org/package/2006/relationships"><Relationship Id="rId8" Type="http://schemas.openxmlformats.org/officeDocument/2006/relationships/hyperlink" Target="https://www.iata.org/contentassets/e7a533819be440edbb1e49da96e0f2a8/guidance-document-interline-irops_25june2020.pdf" TargetMode="External"/><Relationship Id="rId13" Type="http://schemas.openxmlformats.org/officeDocument/2006/relationships/hyperlink" Target="https://doi.org/10.1063/1.5111995" TargetMode="External"/><Relationship Id="rId3" Type="http://schemas.openxmlformats.org/officeDocument/2006/relationships/hyperlink" Target="https://www.futuretravelexperience.com/2017/12/flightchain-project-sheds-light-on-real-world-potential-of-blockchain-for-airlines-and-airports/" TargetMode="External"/><Relationship Id="rId7" Type="http://schemas.openxmlformats.org/officeDocument/2006/relationships/hyperlink" Target="https://www.developer.aero/api-catalog/aidx-overview" TargetMode="External"/><Relationship Id="rId12" Type="http://schemas.openxmlformats.org/officeDocument/2006/relationships/hyperlink" Target="https://standards.atlassian.net/wiki/spaces/AIDM/pages/574587157/IATA+Data+Exchanges+Messages+Standards+Download+page"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www.iata.org/en/publications/info-data-exchange/" TargetMode="External"/><Relationship Id="rId11" Type="http://schemas.openxmlformats.org/officeDocument/2006/relationships/hyperlink" Target="https://www.aaco.org/Library/Assets/Blockchain-for-aviation-overview%20by%20Barry%20Mclaughlin%20-%20SITA.pdf" TargetMode="External"/><Relationship Id="rId5" Type="http://schemas.openxmlformats.org/officeDocument/2006/relationships/hyperlink" Target="https://www.iata.org/contentassets/2db667ac37c045dbbb537eeb446dd9b2/aidx-xml-implementation-guide.pdf" TargetMode="External"/><Relationship Id="rId10" Type="http://schemas.openxmlformats.org/officeDocument/2006/relationships/hyperlink" Target="https://github.com/sitalab/FlightChain" TargetMode="External"/><Relationship Id="rId4" Type="http://schemas.openxmlformats.org/officeDocument/2006/relationships/hyperlink" Target="https://www.sita.aero/resources/White-papers/flightchain-shared-control-of-data/" TargetMode="External"/><Relationship Id="rId9" Type="http://schemas.openxmlformats.org/officeDocument/2006/relationships/hyperlink" Target="https://www.iata.org/contentassets/2d997082f3c84c7cba001f506edd2c2e/blockchain-in-aviation-white-paper.pdf"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sita.aero/resources/white-papers/flightchain-shared-control-of-data/"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sita.aero/resources/white-papers/flightchain-shared-control-of-data/"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dirty="0"/>
              <a:t>We confirm that this work is entirely our own and complies fully with the University of Bradford Academic Integrity Policy (2025-26). We understand the definitions and implications of poor academic practice, academic misconduct, and gross academic misconduct, including plagiarism, collusion, falsification, contract cheating, and the unauthorised use of AI. </a:t>
            </a:r>
            <a:r>
              <a:rPr lang="en-GB"/>
              <a:t>All sources have been correctly acknowledged.</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acts as an abstract. It </a:t>
            </a:r>
            <a:r>
              <a:rPr lang="en-US" dirty="0" err="1"/>
              <a:t>summarises</a:t>
            </a:r>
            <a:r>
              <a:rPr lang="en-US" dirty="0"/>
              <a:t> who, what, when, where, and the core challenge without evidence detail.</a:t>
            </a:r>
          </a:p>
          <a:p>
            <a:r>
              <a:rPr lang="en-US" b="1" dirty="0"/>
              <a:t>Reference 1: (</a:t>
            </a:r>
            <a:r>
              <a:rPr lang="en-US" dirty="0"/>
              <a:t>SITA (2017) </a:t>
            </a:r>
            <a:r>
              <a:rPr lang="en-US" dirty="0" err="1"/>
              <a:t>FlightChain</a:t>
            </a:r>
            <a:r>
              <a:rPr lang="en-US" dirty="0"/>
              <a:t>: Shared truth for a frictionless journey. .: </a:t>
            </a:r>
            <a:r>
              <a:rPr lang="en-US" dirty="0">
                <a:hlinkClick r:id="rId3"/>
              </a:rPr>
              <a:t>https://www.sita.aero/resources/white-papers/flightchain-shared-control-of-data/</a:t>
            </a:r>
            <a:endParaRPr lang="en-US" dirty="0"/>
          </a:p>
          <a:p>
            <a:r>
              <a:rPr lang="en-US" dirty="0"/>
              <a:t>(SITA, 2017)</a:t>
            </a:r>
          </a:p>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panose="020B0604020202020204" pitchFamily="34" charset="0"/>
              <a:buChar char="•"/>
            </a:pPr>
            <a:r>
              <a:rPr lang="en-GB" dirty="0"/>
              <a:t>Several sources concur that the technology was effective, and scaling could not be done due to governance and incentive issues.</a:t>
            </a:r>
          </a:p>
          <a:p>
            <a:pPr marL="171450" indent="-171450">
              <a:buFont typeface="Arial" panose="020B0604020202020204" pitchFamily="34" charset="0"/>
              <a:buChar char="•"/>
            </a:pPr>
            <a:r>
              <a:rPr lang="en-GB" dirty="0"/>
              <a:t>Smart contracts mediated data disagreements automatically by preconceived logic (e.g., preferring airlines to provide schedules rather than airports to provide gates) to make sure that the ledger at all times showed the most trustworthy source. </a:t>
            </a:r>
          </a:p>
          <a:p>
            <a:pPr marL="171450" indent="-171450">
              <a:buFont typeface="Arial" panose="020B0604020202020204" pitchFamily="34" charset="0"/>
              <a:buChar char="•"/>
            </a:pPr>
            <a:r>
              <a:rPr lang="en-GB" dirty="0"/>
              <a:t>According to the Lead engineer of SITA Lab, Kevin O Sullivan, the data had been successfully synchronized in the Proof of Concept (PoC) environment but was yet to be transferred over to operational tasks. It was considered as a viable technology, but in its early years, and additional development on industry standards was necessary before it could be adopted on a large scale.</a:t>
            </a:r>
          </a:p>
          <a:p>
            <a:pPr marL="171450" indent="-171450">
              <a:buFont typeface="Arial" panose="020B0604020202020204" pitchFamily="34" charset="0"/>
              <a:buChar char="•"/>
            </a:pPr>
            <a:r>
              <a:rPr lang="en-GB" dirty="0"/>
              <a:t>A PoC was developed based on smart contracts (software code) to arbitrage data. As an illustration, when two parties provided conflicting data, the smart contract made a decision by enforcing an established business rule to decide what piece of data counted as legal, which served as an unbiased arbitrator with no human involvement. </a:t>
            </a:r>
          </a:p>
          <a:p>
            <a:pPr marL="171450" indent="-171450">
              <a:buFont typeface="Arial" panose="020B0604020202020204" pitchFamily="34" charset="0"/>
              <a:buChar char="•"/>
            </a:pPr>
            <a:r>
              <a:rPr lang="en-GB" dirty="0"/>
              <a:t>One of the key conclusions was that, although the technology was effective, the issue of governance was a major challenge. SITA observed that a host-less system is not one that is un-governed. It was still unclear who exactly owns the smart contract, who covers the network maintenance (incentives), and who can legally establish the rules to arbitrate over data in a live and competitor-ridden market.</a:t>
            </a:r>
          </a:p>
          <a:p>
            <a:pPr marL="171450" indent="-171450">
              <a:buFont typeface="Arial" panose="020B0604020202020204" pitchFamily="34" charset="0"/>
              <a:buChar char="•"/>
            </a:pPr>
            <a:r>
              <a:rPr lang="en-GB" b="1" dirty="0"/>
              <a:t>Reference 2:</a:t>
            </a:r>
            <a:r>
              <a:rPr lang="en-GB" dirty="0"/>
              <a:t> SITA, British Airways and Heathrow Conducting Blockchain Trial (APEX, 2017) https://apex.aero/articles/sita-british-airways-heathrow-conducting-blockchain-trial-operational-data-sync/</a:t>
            </a:r>
          </a:p>
          <a:p>
            <a:pPr marL="171450" indent="-171450">
              <a:buFont typeface="Arial" panose="020B0604020202020204" pitchFamily="34" charset="0"/>
              <a:buChar char="•"/>
            </a:pPr>
            <a:r>
              <a:rPr lang="en-GB" b="1" dirty="0"/>
              <a:t>Reference 3: </a:t>
            </a:r>
            <a:r>
              <a:rPr lang="en-GB" dirty="0"/>
              <a:t>Blockchain: The Future of Flight Data Management? (Airport Technology, 2018). https://www.airport-technology.com/features/blockchain-future-flight-data-management/ </a:t>
            </a:r>
          </a:p>
          <a:p>
            <a:pPr marL="171450" indent="-171450">
              <a:buFont typeface="Arial" panose="020B0604020202020204" pitchFamily="34" charset="0"/>
              <a:buChar char="•"/>
            </a:pPr>
            <a:r>
              <a:rPr lang="en-GB" b="1" dirty="0"/>
              <a:t>Reference 4: </a:t>
            </a:r>
            <a:r>
              <a:rPr lang="en-GB" dirty="0"/>
              <a:t>SITA Partners with Airlines and Airports to Explore Blockchain (</a:t>
            </a:r>
            <a:r>
              <a:rPr lang="en-GB" dirty="0" err="1"/>
              <a:t>PhocusWire</a:t>
            </a:r>
            <a:r>
              <a:rPr lang="en-GB" dirty="0"/>
              <a:t>, 2017). https://www.phocuswire.com/SITA-partners-with-airlines-and-airports-to-explore-Blockchain</a:t>
            </a:r>
          </a:p>
          <a:p>
            <a:pPr marL="171450" indent="-171450">
              <a:buFont typeface="Arial" panose="020B0604020202020204" pitchFamily="34" charset="0"/>
              <a:buChar char="•"/>
            </a:pPr>
            <a:r>
              <a:rPr lang="en-GB" b="1" dirty="0"/>
              <a:t>Reference 5:</a:t>
            </a:r>
            <a:r>
              <a:rPr lang="en-GB" dirty="0"/>
              <a:t> Airlines and Airports Can Use 'Smart Contracts' for Shared Control of Data (Saudi Gazette, 2017). https://saudigazette.com.sa/article/521692 </a:t>
            </a:r>
          </a:p>
          <a:p>
            <a:pPr marL="171450" indent="-171450">
              <a:buFont typeface="Arial" panose="020B0604020202020204" pitchFamily="34" charset="0"/>
              <a:buChar char="•"/>
            </a:pPr>
            <a:r>
              <a:rPr lang="en-GB" b="1" dirty="0"/>
              <a:t>Reference 6:</a:t>
            </a:r>
            <a:r>
              <a:rPr lang="en-GB" dirty="0"/>
              <a:t> ACRP Insight Event: Blockchain Technology and Airports (Transportation Research Board, 2019).</a:t>
            </a:r>
          </a:p>
          <a:p>
            <a:pPr marL="171450" indent="-171450">
              <a:buFont typeface="Arial" panose="020B0604020202020204" pitchFamily="34" charset="0"/>
              <a:buChar char="•"/>
            </a:pPr>
            <a:r>
              <a:rPr lang="en-GB" b="1" dirty="0"/>
              <a:t>Reference 7:</a:t>
            </a:r>
            <a:r>
              <a:rPr lang="en-GB" dirty="0"/>
              <a:t> Blockchain in Aviation White Paper (IATA, 2018).</a:t>
            </a:r>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panose="020B0604020202020204" pitchFamily="34" charset="0"/>
              <a:buChar char="•"/>
            </a:pPr>
            <a:r>
              <a:rPr lang="en-US" dirty="0"/>
              <a:t>Context explains why BA is a relevant and high-risk case for blockchain experimentation.</a:t>
            </a:r>
          </a:p>
          <a:p>
            <a:pPr marL="171450" indent="-171450">
              <a:buFont typeface="Arial" panose="020B0604020202020204" pitchFamily="34" charset="0"/>
              <a:buChar char="•"/>
            </a:pPr>
            <a:r>
              <a:rPr lang="en-US" dirty="0"/>
              <a:t>Heathrow (LHR) is referred to as one of the busiest and congested airports in the world with capacity of almost full slots. This subjects BA to enormous stress, where any minor delays (e.g. technical breakdown or bad weather) cause cascading delays, which are difficult to overcome because of the inflexibility of the system. </a:t>
            </a:r>
          </a:p>
          <a:p>
            <a:pPr marL="171450" indent="-171450">
              <a:buFont typeface="Arial" panose="020B0604020202020204" pitchFamily="34" charset="0"/>
              <a:buChar char="•"/>
            </a:pPr>
            <a:r>
              <a:rPr lang="en-US" dirty="0"/>
              <a:t>Under the EU Regulation 261 (and its UK equivalent) BA faces serious financial risks since it must pay damages resulting from delays except on extraordinary circumstances. There are also frequent operational disagreements over the cause of a delay (such as whether it is a knock-on effect or a ground handling issue on the part of the airline), which attract costly claims and administrative issues.</a:t>
            </a:r>
          </a:p>
          <a:p>
            <a:pPr marL="171450" indent="-171450">
              <a:buFont typeface="Arial" panose="020B0604020202020204" pitchFamily="34" charset="0"/>
              <a:buChar char="•"/>
            </a:pPr>
            <a:r>
              <a:rPr lang="en-US" b="1" dirty="0"/>
              <a:t>Reference 8: </a:t>
            </a:r>
            <a:r>
              <a:rPr lang="en-US" dirty="0"/>
              <a:t>British Airways SWOT Analysis (The Strategy Story, 2023). https://thestrategystory.com/blog/british-airways-swot-analysis/ </a:t>
            </a:r>
          </a:p>
          <a:p>
            <a:pPr marL="171450" indent="-171450">
              <a:buFont typeface="Arial" panose="020B0604020202020204" pitchFamily="34" charset="0"/>
              <a:buChar char="•"/>
            </a:pPr>
            <a:r>
              <a:rPr lang="en-US" b="1" dirty="0"/>
              <a:t>Reference 9: </a:t>
            </a:r>
            <a:r>
              <a:rPr lang="en-US" dirty="0"/>
              <a:t>The effect of congestion at Heathrow Airport (RBB Economics/CAA, 2019). https://www.caa.co.uk/media/k3ze0kcu/cap-1722-rbb-report-the-effect-of-congestion-at-heathrow-summary-19-feb-2019.pdf</a:t>
            </a:r>
          </a:p>
          <a:p>
            <a:pPr marL="171450" indent="-171450">
              <a:buFont typeface="Arial" panose="020B0604020202020204" pitchFamily="34" charset="0"/>
              <a:buChar char="•"/>
            </a:pPr>
            <a:r>
              <a:rPr lang="en-US" b="1" dirty="0"/>
              <a:t>Reference 1 and 2 </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panose="020B0604020202020204" pitchFamily="34" charset="0"/>
              <a:buChar char="•"/>
            </a:pPr>
            <a:r>
              <a:rPr lang="en-US" i="0" dirty="0"/>
              <a:t>Traditional databases struggled due to competition, fragmented ownership, and trust issues.</a:t>
            </a:r>
          </a:p>
          <a:p>
            <a:pPr marL="171450" lvl="0" indent="-171450">
              <a:buFont typeface="Arial" panose="020B0604020202020204" pitchFamily="34" charset="0"/>
              <a:buChar char="•"/>
            </a:pPr>
            <a:r>
              <a:rPr lang="en-US" sz="1200" i="0" kern="1200" dirty="0">
                <a:solidFill>
                  <a:schemeClr val="tx1"/>
                </a:solidFill>
                <a:effectLst/>
                <a:latin typeface="+mn-lt"/>
                <a:ea typeface="+mn-ea"/>
                <a:cs typeface="+mn-cs"/>
              </a:rPr>
              <a:t>The primary objective of the project was to determine whether the blockchain technology would be able to generate a single source of truth regarding flight data. This would be in lieu of the different disconnected records that are held by the different groups. </a:t>
            </a:r>
          </a:p>
          <a:p>
            <a:pPr marL="171450" lvl="0" indent="-171450">
              <a:buFont typeface="Arial" panose="020B0604020202020204" pitchFamily="34" charset="0"/>
              <a:buChar char="•"/>
            </a:pPr>
            <a:r>
              <a:rPr lang="en-US" sz="1200" i="0" kern="1200" dirty="0">
                <a:solidFill>
                  <a:schemeClr val="tx1"/>
                </a:solidFill>
                <a:effectLst/>
                <a:latin typeface="+mn-lt"/>
                <a:ea typeface="+mn-ea"/>
                <a:cs typeface="+mn-cs"/>
              </a:rPr>
              <a:t>There will always be conflicts as the stakeholders such as airlines and airports have divergent information regarding flight schedules or delays cause. </a:t>
            </a:r>
            <a:r>
              <a:rPr lang="en-US" sz="1200" i="0" kern="1200" dirty="0" err="1">
                <a:solidFill>
                  <a:schemeClr val="tx1"/>
                </a:solidFill>
                <a:effectLst/>
                <a:latin typeface="+mn-lt"/>
                <a:ea typeface="+mn-ea"/>
                <a:cs typeface="+mn-cs"/>
              </a:rPr>
              <a:t>FlightChain</a:t>
            </a:r>
            <a:r>
              <a:rPr lang="en-US" sz="1200" i="0" kern="1200" dirty="0">
                <a:solidFill>
                  <a:schemeClr val="tx1"/>
                </a:solidFill>
                <a:effectLst/>
                <a:latin typeface="+mn-lt"/>
                <a:ea typeface="+mn-ea"/>
                <a:cs typeface="+mn-cs"/>
              </a:rPr>
              <a:t> applied smart contracts to resolve these disputes automatically and according to agreed business rules. This was so that the validated information was received by all involved. </a:t>
            </a:r>
          </a:p>
          <a:p>
            <a:pPr marL="171450" lvl="0" indent="-171450">
              <a:buFont typeface="Arial" panose="020B0604020202020204" pitchFamily="34" charset="0"/>
              <a:buChar char="•"/>
            </a:pPr>
            <a:r>
              <a:rPr lang="en-US" sz="1200" i="0" kern="1200" dirty="0">
                <a:solidFill>
                  <a:schemeClr val="tx1"/>
                </a:solidFill>
                <a:effectLst/>
                <a:latin typeface="+mn-lt"/>
                <a:ea typeface="+mn-ea"/>
                <a:cs typeface="+mn-cs"/>
              </a:rPr>
              <a:t>The project demonstrated that a common ledger was able to deliver flight information to all concerned partners in real-time. This enhances coordination because it ensures that the ground staff, applications and display screens are always updated concurrently and regularly. </a:t>
            </a:r>
          </a:p>
          <a:p>
            <a:pPr marL="171450" lvl="0" indent="-171450">
              <a:buFont typeface="Arial" panose="020B0604020202020204" pitchFamily="34" charset="0"/>
              <a:buChar char="•"/>
            </a:pPr>
            <a:r>
              <a:rPr lang="en-US" sz="1200" i="0" kern="1200" dirty="0">
                <a:solidFill>
                  <a:schemeClr val="tx1"/>
                </a:solidFill>
                <a:effectLst/>
                <a:latin typeface="+mn-lt"/>
                <a:ea typeface="+mn-ea"/>
                <a:cs typeface="+mn-cs"/>
              </a:rPr>
              <a:t>The use of a centralized database was not taken into consideration since none of the organizations whether airlines or airports owns all flight information. The reason why blockchain was selected is because it enables shared control without a central trusted intermediary that permits competitors to operate in a trustless setting.</a:t>
            </a:r>
          </a:p>
          <a:p>
            <a:pPr marL="171450" indent="-171450">
              <a:buFont typeface="Arial" panose="020B0604020202020204" pitchFamily="34" charset="0"/>
              <a:buChar char="•"/>
            </a:pPr>
            <a:r>
              <a:rPr lang="en-US" b="1" i="0" dirty="0"/>
              <a:t>Reference 1, 3, 4 and 7.</a:t>
            </a:r>
          </a:p>
          <a:p>
            <a:pPr marL="171450" indent="-171450">
              <a:buFont typeface="Arial" panose="020B0604020202020204" pitchFamily="34" charset="0"/>
              <a:buChar char="•"/>
            </a:pPr>
            <a:r>
              <a:rPr lang="en-US" b="1" i="0" dirty="0"/>
              <a:t>Reference 10:</a:t>
            </a:r>
            <a:r>
              <a:rPr lang="en-US" i="0" dirty="0"/>
              <a:t> </a:t>
            </a:r>
            <a:r>
              <a:rPr lang="en-US" i="0" dirty="0" err="1"/>
              <a:t>FlightChain</a:t>
            </a:r>
            <a:r>
              <a:rPr lang="en-US" i="0" dirty="0"/>
              <a:t> (A Blockchain for the Air-Transport Industry) (</a:t>
            </a:r>
            <a:r>
              <a:rPr lang="en-US" i="0" dirty="0" err="1"/>
              <a:t>TAdviser</a:t>
            </a:r>
            <a:r>
              <a:rPr lang="en-US" i="0" dirty="0"/>
              <a:t>, 2017). https://tadviser.com/index.php/Product:FlightChain_(A_blockchain_for_the_air-transport_industry)</a:t>
            </a:r>
          </a:p>
          <a:p>
            <a:pPr marL="171450" indent="-171450">
              <a:buFont typeface="Arial" panose="020B0604020202020204" pitchFamily="34" charset="0"/>
              <a:buChar char="•"/>
            </a:pPr>
            <a:r>
              <a:rPr lang="en-US" b="1" i="0" dirty="0"/>
              <a:t>Reference 11:</a:t>
            </a:r>
            <a:r>
              <a:rPr lang="en-US" i="0" dirty="0"/>
              <a:t> Role Of Blockchain In Aviation (IJIRCT, 2025).</a:t>
            </a:r>
          </a:p>
          <a:p>
            <a:pPr marL="171450" indent="-171450">
              <a:buFont typeface="Arial" panose="020B0604020202020204" pitchFamily="34" charset="0"/>
              <a:buChar char="•"/>
            </a:pPr>
            <a:r>
              <a:rPr lang="en-US" b="1" i="0" dirty="0"/>
              <a:t>Reference 12:</a:t>
            </a:r>
            <a:r>
              <a:rPr lang="en-US" i="0" dirty="0"/>
              <a:t> Blockchain: Are We Asking the Wrong Question? (SITA Blog, 2019). https://www.sita.aero/pressroom/blog/blockchain.-are-we-asking-the-wrong-question/</a:t>
            </a:r>
          </a:p>
          <a:p>
            <a:pPr marL="171450" indent="-171450">
              <a:buFont typeface="Arial" panose="020B0604020202020204" pitchFamily="34" charset="0"/>
              <a:buChar char="•"/>
            </a:pPr>
            <a:r>
              <a:rPr lang="en-US" b="1" i="0" dirty="0"/>
              <a:t>Reference 13:</a:t>
            </a:r>
            <a:r>
              <a:rPr lang="en-US" i="0" dirty="0"/>
              <a:t> Blockchain For Aviation Overview (AACO/IATA Technical Forum, 2019). https://www.aaco.org/Library/Assets/Blockchain-for-aviation-overview%20by%20Barry%20Mclaughlin%20-%20SITA.pdf</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dirty="0"/>
              <a:t>Timeline highlights how ambitions narrowed as governance and integration issues emerged.</a:t>
            </a:r>
          </a:p>
          <a:p>
            <a:endParaRPr lang="en-GB" dirty="0"/>
          </a:p>
          <a:p>
            <a:r>
              <a:rPr lang="en-GB" b="1" dirty="0"/>
              <a:t>Phase 1: (2017–2018): Live pilot with BA, Heathrow, Geneva</a:t>
            </a:r>
          </a:p>
          <a:p>
            <a:r>
              <a:rPr lang="en-GB" dirty="0"/>
              <a:t>This phase constituted the initial "live pilot" (Proof of Concept). SITA Lab, British Airways, Heathrow, Geneva, and Miami International Airport successfully processed over 2 million flight changes on a private blockchain to prove the technology could create a "single source of truth".</a:t>
            </a:r>
          </a:p>
          <a:p>
            <a:r>
              <a:rPr lang="en-GB" b="1" dirty="0"/>
              <a:t>Reference 1: (</a:t>
            </a:r>
            <a:r>
              <a:rPr lang="en-GB" dirty="0"/>
              <a:t>SITA (2017) </a:t>
            </a:r>
            <a:r>
              <a:rPr lang="en-GB" i="1" dirty="0" err="1"/>
              <a:t>FlightChain</a:t>
            </a:r>
            <a:r>
              <a:rPr lang="en-GB" i="1" dirty="0"/>
              <a:t>: Shared truth for a frictionless journey</a:t>
            </a:r>
            <a:r>
              <a:rPr lang="en-GB" dirty="0"/>
              <a:t>. .: </a:t>
            </a:r>
            <a:r>
              <a:rPr lang="en-GB" dirty="0">
                <a:hlinkClick r:id="rId3"/>
              </a:rPr>
              <a:t>https://www.sita.aero/resources/white-papers/flightchain-shared-control-of-data/</a:t>
            </a:r>
            <a:endParaRPr lang="en-GB" dirty="0"/>
          </a:p>
          <a:p>
            <a:r>
              <a:rPr lang="en-GB" dirty="0"/>
              <a:t>(SITA, 2017)</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i="1" dirty="0"/>
              <a:t>Reference 3: </a:t>
            </a:r>
            <a:r>
              <a:rPr lang="en-GB" i="1" dirty="0"/>
              <a:t>Blockchain: The Future of Flight Data Management?</a:t>
            </a:r>
            <a:r>
              <a:rPr lang="en-GB" dirty="0"/>
              <a:t> (Airport Technology, 2018). https://www.airport-technology.com/features/blockchain-future-flight-data-management/ </a:t>
            </a:r>
          </a:p>
          <a:p>
            <a:endParaRPr lang="en-GB" dirty="0"/>
          </a:p>
          <a:p>
            <a:r>
              <a:rPr lang="en-GB" dirty="0"/>
              <a:t>This phase constituted the initial "live pilot" (Proof of Concept). SITA Lab, British Airways, Heathrow, Geneva, and Miami International Airport successfully processed over 2 million flight changes on a private blockchain to prove the technology could create a "single source of truth".</a:t>
            </a:r>
          </a:p>
          <a:p>
            <a:endParaRPr lang="en-GB" dirty="0"/>
          </a:p>
          <a:p>
            <a:r>
              <a:rPr lang="en-GB" b="1" dirty="0"/>
              <a:t>Phase 2: Scaling attempts and sandbox initiatives</a:t>
            </a:r>
          </a:p>
          <a:p>
            <a:r>
              <a:rPr lang="en-GB" b="1" dirty="0"/>
              <a:t>Reference 14: </a:t>
            </a:r>
            <a:r>
              <a:rPr lang="en-GB" sz="1200" b="0" i="0" u="none" strike="noStrike" kern="1200" dirty="0">
                <a:solidFill>
                  <a:schemeClr val="tx1"/>
                </a:solidFill>
                <a:effectLst/>
                <a:latin typeface="+mn-lt"/>
                <a:ea typeface="+mn-ea"/>
                <a:cs typeface="+mn-cs"/>
              </a:rPr>
              <a:t>Brett, C. (2018) </a:t>
            </a:r>
            <a:r>
              <a:rPr lang="en-GB" sz="1200" b="0" i="1" u="none" strike="noStrike" kern="1200" dirty="0">
                <a:solidFill>
                  <a:schemeClr val="tx1"/>
                </a:solidFill>
                <a:effectLst/>
                <a:latin typeface="+mn-lt"/>
                <a:ea typeface="+mn-ea"/>
                <a:cs typeface="+mn-cs"/>
              </a:rPr>
              <a:t>SITA extends airline blockchain research</a:t>
            </a:r>
            <a:r>
              <a:rPr lang="en-GB" sz="1200" b="0" i="0" u="none" strike="noStrike" kern="1200" dirty="0">
                <a:solidFill>
                  <a:schemeClr val="tx1"/>
                </a:solidFill>
                <a:effectLst/>
                <a:latin typeface="+mn-lt"/>
                <a:ea typeface="+mn-ea"/>
                <a:cs typeface="+mn-cs"/>
              </a:rPr>
              <a:t>. https://www.enterprisetimes.co.uk/2018/06/29/sita-extends-airline-blockchain-research/ Accessed 11 December 2025.</a:t>
            </a:r>
            <a:endParaRPr lang="en-GB" b="1" dirty="0"/>
          </a:p>
          <a:p>
            <a:r>
              <a:rPr lang="en-GB" b="1" dirty="0"/>
              <a:t>Reference 15: </a:t>
            </a:r>
            <a:r>
              <a:rPr lang="en-GB" sz="1200" b="0" i="0" u="none" strike="noStrike" kern="1200" dirty="0">
                <a:solidFill>
                  <a:schemeClr val="tx1"/>
                </a:solidFill>
                <a:effectLst/>
                <a:latin typeface="+mn-lt"/>
                <a:ea typeface="+mn-ea"/>
                <a:cs typeface="+mn-cs"/>
              </a:rPr>
              <a:t>McLaughlin, B. (2025) </a:t>
            </a:r>
            <a:r>
              <a:rPr lang="en-GB" sz="1200" b="0" i="1" u="none" strike="noStrike" kern="1200" dirty="0">
                <a:solidFill>
                  <a:schemeClr val="tx1"/>
                </a:solidFill>
                <a:effectLst/>
                <a:latin typeface="+mn-lt"/>
                <a:ea typeface="+mn-ea"/>
                <a:cs typeface="+mn-cs"/>
              </a:rPr>
              <a:t>- BW Businessworld</a:t>
            </a:r>
            <a:r>
              <a:rPr lang="en-GB" sz="1200" b="0" i="0" u="none" strike="noStrike" kern="1200" dirty="0">
                <a:solidFill>
                  <a:schemeClr val="tx1"/>
                </a:solidFill>
                <a:effectLst/>
                <a:latin typeface="+mn-lt"/>
                <a:ea typeface="+mn-ea"/>
                <a:cs typeface="+mn-cs"/>
              </a:rPr>
              <a:t>. https://www.businessworld.in/article/are-we-heading-into-the-teenage-years-of-blockchain-177096 Accessed 11 December 2025.</a:t>
            </a:r>
          </a:p>
          <a:p>
            <a:endParaRPr lang="en-GB" sz="1200" b="0" i="0" u="none" strike="noStrike" kern="1200" dirty="0">
              <a:solidFill>
                <a:schemeClr val="tx1"/>
              </a:solidFill>
              <a:effectLst/>
              <a:latin typeface="+mn-lt"/>
              <a:ea typeface="+mn-ea"/>
              <a:cs typeface="+mn-cs"/>
            </a:endParaRPr>
          </a:p>
          <a:p>
            <a:r>
              <a:rPr lang="en-GB" b="0" dirty="0"/>
              <a:t>In June 2018, SITA launched the "Aviation Blockchain Sandbox" as a direct effort to scale </a:t>
            </a:r>
            <a:r>
              <a:rPr lang="en-GB" b="0" dirty="0" err="1"/>
              <a:t>FlightChain</a:t>
            </a:r>
            <a:r>
              <a:rPr lang="en-GB" b="0" dirty="0"/>
              <a:t>. The goal was to move beyond the initial four partners and onboard "more than 50 airlines &amp; airports" to test the network effects of a larger consortium. This phase focused on "scaling up" to prove business value beyond the technical feasibility established in Phase 1.</a:t>
            </a:r>
          </a:p>
          <a:p>
            <a:endParaRPr lang="en-GB" b="0" dirty="0"/>
          </a:p>
          <a:p>
            <a:r>
              <a:rPr lang="en-GB" b="1" dirty="0"/>
              <a:t>Phase 3: (2020–) COVID-19 shift and project repositioning</a:t>
            </a:r>
          </a:p>
          <a:p>
            <a:r>
              <a:rPr lang="en-GB" b="1" dirty="0"/>
              <a:t>Reference 16: </a:t>
            </a:r>
            <a:r>
              <a:rPr lang="en-GB" sz="1200" b="0" i="0" u="none" strike="noStrike" kern="1200" dirty="0">
                <a:solidFill>
                  <a:schemeClr val="tx1"/>
                </a:solidFill>
                <a:effectLst/>
                <a:latin typeface="+mn-lt"/>
                <a:ea typeface="+mn-ea"/>
                <a:cs typeface="+mn-cs"/>
              </a:rPr>
              <a:t>unknown (2021) </a:t>
            </a:r>
            <a:r>
              <a:rPr lang="en-GB" sz="1200" b="0" i="1" u="none" strike="noStrike" kern="1200" dirty="0">
                <a:solidFill>
                  <a:schemeClr val="tx1"/>
                </a:solidFill>
                <a:effectLst/>
                <a:latin typeface="+mn-lt"/>
                <a:ea typeface="+mn-ea"/>
                <a:cs typeface="+mn-cs"/>
              </a:rPr>
              <a:t>COVID-19 has changed the IT spending priorities for airports and airlines in 2020</a:t>
            </a:r>
            <a:r>
              <a:rPr lang="en-GB" sz="1200" b="0" i="0" u="none" strike="noStrike" kern="1200" dirty="0">
                <a:solidFill>
                  <a:schemeClr val="tx1"/>
                </a:solidFill>
                <a:effectLst/>
                <a:latin typeface="+mn-lt"/>
                <a:ea typeface="+mn-ea"/>
                <a:cs typeface="+mn-cs"/>
              </a:rPr>
              <a:t>. https://www.sita.aero/pressroom/news-releases/covid-19-has-sharply-changed-the-it-spending-priorities-for-airports-and-airlines-in-2020/ Accessed.</a:t>
            </a:r>
          </a:p>
          <a:p>
            <a:r>
              <a:rPr lang="en-GB" b="1" dirty="0"/>
              <a:t>Reference 17: </a:t>
            </a:r>
            <a:r>
              <a:rPr lang="en-GB" sz="1200" b="0" i="0" u="none" strike="noStrike" kern="1200" dirty="0">
                <a:solidFill>
                  <a:schemeClr val="tx1"/>
                </a:solidFill>
                <a:effectLst/>
                <a:latin typeface="+mn-lt"/>
                <a:ea typeface="+mn-ea"/>
                <a:cs typeface="+mn-cs"/>
              </a:rPr>
              <a:t>Davies, R. (2020) </a:t>
            </a:r>
            <a:r>
              <a:rPr lang="en-GB" sz="1200" b="0" i="1" u="none" strike="noStrike" kern="1200" dirty="0">
                <a:solidFill>
                  <a:schemeClr val="tx1"/>
                </a:solidFill>
                <a:effectLst/>
                <a:latin typeface="+mn-lt"/>
                <a:ea typeface="+mn-ea"/>
                <a:cs typeface="+mn-cs"/>
              </a:rPr>
              <a:t>Will blockchain boost air cargo efficiency after Covid-19?</a:t>
            </a:r>
            <a:r>
              <a:rPr lang="en-GB" sz="1200" b="0" i="0" u="none" strike="noStrike" kern="1200" dirty="0">
                <a:solidFill>
                  <a:schemeClr val="tx1"/>
                </a:solidFill>
                <a:effectLst/>
                <a:latin typeface="+mn-lt"/>
                <a:ea typeface="+mn-ea"/>
                <a:cs typeface="+mn-cs"/>
              </a:rPr>
              <a:t> https://www.airport-technology.com/features/blockchain-air-cargo/ Accessed.</a:t>
            </a:r>
          </a:p>
          <a:p>
            <a:endParaRPr lang="en-GB" b="1" dirty="0"/>
          </a:p>
          <a:p>
            <a:r>
              <a:rPr lang="en-GB" dirty="0"/>
              <a:t>The pandemic forced a sharp pivot in 2020. Investment priorities shifted toward "health credentials" (e.g., the Aruba Health App pilot using blockchain for covid testing) and "cost efficiency" (e.g., the MRO Blockchain Alliance for aircraft parts). The original </a:t>
            </a:r>
            <a:r>
              <a:rPr lang="en-GB" dirty="0" err="1"/>
              <a:t>FlightChain</a:t>
            </a:r>
            <a:r>
              <a:rPr lang="en-GB" dirty="0"/>
              <a:t> flight-data use case was deprioritized in </a:t>
            </a:r>
            <a:r>
              <a:rPr lang="en-GB" dirty="0" err="1"/>
              <a:t>favor</a:t>
            </a:r>
            <a:r>
              <a:rPr lang="en-GB" dirty="0"/>
              <a:t> of these more urgent, recovery-focused applications.</a:t>
            </a:r>
          </a:p>
          <a:p>
            <a:endParaRPr lang="en-GB" dirty="0"/>
          </a:p>
          <a:p>
            <a:r>
              <a:rPr lang="en-GB" b="1" dirty="0"/>
              <a:t>4. Project shifted from scaling to learning-focused experimentation</a:t>
            </a:r>
          </a:p>
          <a:p>
            <a:r>
              <a:rPr lang="en-GB" b="0" dirty="0"/>
              <a:t>SITA explicitly framed the sandbox and subsequent phases as a "means for supporting continued industry research" and "collective learning" rather than a commercial product rollout. SITA Lab acknowledged that while the tech worked, the industry lacked the governance structures for a global scale-up, so the project's value became its role as a "reference project" for education and experimental validation of smart contracts.</a:t>
            </a:r>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panose="020B0604020202020204" pitchFamily="34" charset="0"/>
              <a:buChar char="•"/>
            </a:pPr>
            <a:r>
              <a:rPr lang="en-US" dirty="0"/>
              <a:t>Triangulation compares agreement and contradiction across diverse source types.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Trends and Strains Overview is also given to move to the larger context and is the result of triangulating the described types of data.</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universal agreement (high reliability) can be employed in order to ensure that the findings of this study become more consistent and reliable across contexts in order to support comparability of results.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Technical Viability: The 2 million transaction standard and operating with the industrial loads is given in all the technical and academic sources.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Solution to Data Silo: They have all come to the agreement that the Single Source of Truth is a possible solution to the existing data differences.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Identified Tensions &amp; Gaps: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Governance Paradox: There is inherent inconsistency in the theoretical sources, which view pure </a:t>
            </a:r>
            <a:r>
              <a:rPr lang="en-US" sz="1200" kern="1200" dirty="0" err="1">
                <a:solidFill>
                  <a:schemeClr val="tx1"/>
                </a:solidFill>
                <a:effectLst/>
                <a:latin typeface="+mn-lt"/>
                <a:ea typeface="+mn-ea"/>
                <a:cs typeface="+mn-cs"/>
              </a:rPr>
              <a:t>decentralisation</a:t>
            </a:r>
            <a:r>
              <a:rPr lang="en-US" sz="1200" kern="1200" dirty="0">
                <a:solidFill>
                  <a:schemeClr val="tx1"/>
                </a:solidFill>
                <a:effectLst/>
                <a:latin typeface="+mn-lt"/>
                <a:ea typeface="+mn-ea"/>
                <a:cs typeface="+mn-cs"/>
              </a:rPr>
              <a:t>, and the industry/regulatory sources, which view them as having to be controlled by IATA/ACI.</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Legal Uncertainty: Smart contact code is certified by engineers, but according to the legal and regulatory institutions (TRB, DAC Beachcroft), legal frameworks and liability models are concerning.</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References and sources </a:t>
            </a:r>
          </a:p>
          <a:p>
            <a:pPr marL="0" lvl="0" indent="0">
              <a:buFont typeface="Arial" panose="020B0604020202020204" pitchFamily="34" charset="0"/>
              <a:buNone/>
            </a:pPr>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Category 1: Company Documents.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SITA Lab White Paper (2017) | Type: Internal Reporting Reliability: High (Primary Data) Findings: More than 2 million transactions have been reported; smart contracts are in practice. (Baseline Claim)</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SITA Blog (2019) Type: Corporate Comms Reliability: Medium (Bias check) Findings: Discussion Now Governance barriers. This is in congruence with the regulatory perspectives.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Classification of SITA GitHub Repository: Technical Codebase Reliability: High (Verifiable) Finding: Hyperledger Fabric is already implemented. ACI security requirements are met with approval.</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SITA Press Release (2018) | Type PR| Reliance: Medium| Publicity: Extension to Aviation Sandbox announced. This supports scalability.</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Category 2: Industry and Regulatory Authorities.</a:t>
            </a:r>
          </a:p>
          <a:p>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White Paper, IATA (2018) | Industry Standard, Reliability: High (Global Standard) Finding: Should have Trusted Framework Oversight. Two tension dimensions ( Tension: </a:t>
            </a:r>
            <a:r>
              <a:rPr lang="en-US" sz="1200" kern="1200" dirty="0" err="1">
                <a:solidFill>
                  <a:schemeClr val="tx1"/>
                </a:solidFill>
                <a:effectLst/>
                <a:latin typeface="+mn-lt"/>
                <a:ea typeface="+mn-ea"/>
                <a:cs typeface="+mn-cs"/>
              </a:rPr>
              <a:t>Centralisation</a:t>
            </a:r>
            <a:r>
              <a:rPr lang="en-US" sz="1200" kern="1200" dirty="0">
                <a:solidFill>
                  <a:schemeClr val="tx1"/>
                </a:solidFill>
                <a:effectLst/>
                <a:latin typeface="+mn-lt"/>
                <a:ea typeface="+mn-ea"/>
                <a:cs typeface="+mn-cs"/>
              </a:rPr>
              <a:t> vs. </a:t>
            </a:r>
            <a:r>
              <a:rPr lang="en-US" sz="1200" kern="1200" dirty="0" err="1">
                <a:solidFill>
                  <a:schemeClr val="tx1"/>
                </a:solidFill>
                <a:effectLst/>
                <a:latin typeface="+mn-lt"/>
                <a:ea typeface="+mn-ea"/>
                <a:cs typeface="+mn-cs"/>
              </a:rPr>
              <a:t>Decentralisation</a:t>
            </a:r>
            <a:r>
              <a:rPr lang="en-US" sz="120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ACI World (2019) | Category: Industry Guidance/ Reliability: High/ Discovery: Airport data (AODB) is to be either permissioned or private. Concurs with SITA architecture.</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TRB / ACRP Report (2019) Category: Gov Research Reliability: High Result: Smart contracts are not regulated in the law. It is the disparity between real and technical preparedness.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IATA White Paper AIR Type: Strategic Doc Reliability: high Finding: The retailing/distribution may be improved through the application of blockchain in case it is controlled. (Agrees with potential value)</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a:t>Category 3: Trade and Media Sources</a:t>
            </a:r>
          </a:p>
          <a:p>
            <a:endParaRPr lang="en-US" dirty="0"/>
          </a:p>
          <a:p>
            <a:r>
              <a:rPr lang="en-US" dirty="0"/>
              <a:t>Future Travel Experience (2017) | Rating: Industry News/Reliability: Medium (Interview-based) Result: Governance is the challenge and not the technology (Agree with SITA/IATA)Airport Industry Review (2018) Type: Trade Journal Reliability: Medium Finding: The Single Source of Truth is possible. This espouses technical </a:t>
            </a:r>
            <a:r>
              <a:rPr lang="en-US" dirty="0" err="1"/>
              <a:t>assertions.Its</a:t>
            </a:r>
            <a:r>
              <a:rPr lang="en-US" dirty="0"/>
              <a:t> source is </a:t>
            </a:r>
            <a:r>
              <a:rPr lang="en-US" dirty="0" err="1"/>
              <a:t>PhocusWire</a:t>
            </a:r>
            <a:r>
              <a:rPr lang="en-US" dirty="0"/>
              <a:t> (2017): Category: Tech News, Trustworthiness: Medium, Discovery: Live trial. This is in favor of primary data </a:t>
            </a:r>
            <a:r>
              <a:rPr lang="en-US" dirty="0" err="1"/>
              <a:t>results.TAdvisor</a:t>
            </a:r>
            <a:r>
              <a:rPr lang="en-US" dirty="0"/>
              <a:t> Type: Tech Database Reliability: High (Fact-based) Finding: Provides system specifications and throughput, which facilitates technical </a:t>
            </a:r>
            <a:r>
              <a:rPr lang="en-US" dirty="0" err="1"/>
              <a:t>viability.Ledger</a:t>
            </a:r>
            <a:r>
              <a:rPr lang="en-US" dirty="0"/>
              <a:t> Insights (2019) Type: Fintech News | Reliability: Medium| Finding: Contemplates the discussion of the two approaches, public and </a:t>
            </a:r>
            <a:r>
              <a:rPr lang="en-US" dirty="0" err="1"/>
              <a:t>private.DQIndia</a:t>
            </a:r>
            <a:r>
              <a:rPr lang="en-US" dirty="0"/>
              <a:t> (2017) | Type: Tech News and Reliability: Low/Medium: Quoted BA on the IATA/ACI membership. The stakeholders in the airline industry are expected to engage in their transactions in a manner that enables them to </a:t>
            </a:r>
            <a:r>
              <a:rPr lang="en-US" dirty="0" err="1"/>
              <a:t>maximise</a:t>
            </a:r>
            <a:r>
              <a:rPr lang="en-US" dirty="0"/>
              <a:t> </a:t>
            </a:r>
            <a:r>
              <a:rPr lang="en-US" dirty="0" err="1"/>
              <a:t>profits.The</a:t>
            </a:r>
            <a:r>
              <a:rPr lang="en-US" dirty="0"/>
              <a:t> Type of the article Enterprise Times (2018) Reliability: medium Finding: Learn the difficulties of entering the economic sphere. (Gap: ROI model)</a:t>
            </a:r>
          </a:p>
          <a:p>
            <a:endParaRPr lang="en-US" dirty="0"/>
          </a:p>
          <a:p>
            <a:r>
              <a:rPr lang="en-US" b="1" dirty="0"/>
              <a:t>Category 4: Technical and Academic Source</a:t>
            </a:r>
          </a:p>
          <a:p>
            <a:endParaRPr lang="en-US" dirty="0"/>
          </a:p>
          <a:p>
            <a:r>
              <a:rPr lang="en-US" dirty="0"/>
              <a:t>J. Air Transp. Manag. (2021) | Type: Peer-Reviewed Journal </a:t>
            </a:r>
            <a:r>
              <a:rPr lang="en-US" dirty="0" err="1"/>
              <a:t>Reliability:Very</a:t>
            </a:r>
            <a:r>
              <a:rPr lang="en-US" dirty="0"/>
              <a:t> High Finding: Privacy and security are the determinant of adoption the most. There is also the </a:t>
            </a:r>
            <a:r>
              <a:rPr lang="en-US" dirty="0" err="1"/>
              <a:t>privatisation</a:t>
            </a:r>
            <a:r>
              <a:rPr lang="en-US" dirty="0"/>
              <a:t> of </a:t>
            </a:r>
            <a:r>
              <a:rPr lang="en-US" dirty="0" err="1"/>
              <a:t>architecture.Univ</a:t>
            </a:r>
            <a:r>
              <a:rPr lang="en-US" dirty="0"/>
              <a:t>. Catolica Portuguesa (2020). Type: Dissertation. Disclosure: Regulatory governance is the greatest obstacle. (Triangulates with IATA/SITA)IJIRCT (2025) | Reliability: Higher Type: Technical Journal Finding: </a:t>
            </a:r>
            <a:r>
              <a:rPr lang="en-US" dirty="0" err="1"/>
              <a:t>FlightChain</a:t>
            </a:r>
            <a:r>
              <a:rPr lang="en-US" dirty="0"/>
              <a:t> is able to conform to the capability criterion of IJIRCT (2025). Agrees with primary </a:t>
            </a:r>
            <a:r>
              <a:rPr lang="en-US" dirty="0" err="1"/>
              <a:t>data.ResearchGate</a:t>
            </a:r>
            <a:r>
              <a:rPr lang="en-US" dirty="0"/>
              <a:t> Review (2024) Type: Lit Review Reliability: Medium Finding: The simplification of the consensus protocols was utilized to assure that the processes were fast. (Tech detail confirmation)Hyperledger Case Study| Fact: Permissioned ledger is needed in B2B trust. This is congruent with industry </a:t>
            </a:r>
            <a:r>
              <a:rPr lang="en-US" dirty="0" err="1"/>
              <a:t>sources.DAC</a:t>
            </a:r>
            <a:r>
              <a:rPr lang="en-US" dirty="0"/>
              <a:t> Beachcroft (2024). (Agrees with TRB)Connected Places Catapult (2020). (Contextual support)</a:t>
            </a:r>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200" b="0" i="0" u="none" dirty="0">
                <a:latin typeface="+mn-lt"/>
              </a:rPr>
              <a:t>Consensus strengthens confidence in core findings.</a:t>
            </a:r>
          </a:p>
          <a:p>
            <a:endParaRPr lang="en-US" sz="1200" b="0" i="0" u="none" dirty="0">
              <a:latin typeface="+mn-lt"/>
            </a:endParaRPr>
          </a:p>
          <a:p>
            <a:r>
              <a:rPr lang="en-US" sz="1200" b="0" i="0" u="none" dirty="0">
                <a:latin typeface="+mn-lt"/>
              </a:rPr>
              <a:t>Agreements:</a:t>
            </a:r>
          </a:p>
          <a:p>
            <a:r>
              <a:rPr lang="en-US" sz="1200" b="0" i="0" u="none" dirty="0">
                <a:latin typeface="+mn-lt"/>
              </a:rPr>
              <a:t>Across multiple sources, there is strong consensus that blockchain is technically effective at resolving inconsistencies in flight data. Industry articles (Future Travel Experience, Airport Technology) show that the primary issue in aviation is data divergence—airlines, airports, and ground systems often hold conflicting versions of flight information. The </a:t>
            </a:r>
            <a:r>
              <a:rPr lang="en-US" sz="1200" b="0" i="0" u="none" dirty="0" err="1">
                <a:latin typeface="+mn-lt"/>
              </a:rPr>
              <a:t>FlightChain</a:t>
            </a:r>
            <a:r>
              <a:rPr lang="en-US" sz="1200" b="0" i="0" u="none" dirty="0">
                <a:latin typeface="+mn-lt"/>
              </a:rPr>
              <a:t> whitepaper confirms blockchain’s ability to merge these separate data sources through smart contracts and create a single source of truth accessed by all stakeholders.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Reference 18 </a:t>
            </a:r>
            <a:r>
              <a:rPr lang="en-US" sz="1200" kern="1200" dirty="0">
                <a:solidFill>
                  <a:schemeClr val="tx1"/>
                </a:solidFill>
                <a:effectLst/>
                <a:latin typeface="+mn-lt"/>
                <a:ea typeface="+mn-ea"/>
                <a:cs typeface="+mn-cs"/>
              </a:rPr>
              <a:t>Ghee, R. (2017) </a:t>
            </a:r>
            <a:r>
              <a:rPr lang="en-US" sz="1200" i="1" kern="1200" dirty="0" err="1">
                <a:solidFill>
                  <a:schemeClr val="tx1"/>
                </a:solidFill>
                <a:effectLst/>
                <a:latin typeface="+mn-lt"/>
                <a:ea typeface="+mn-ea"/>
                <a:cs typeface="+mn-cs"/>
              </a:rPr>
              <a:t>FlightChain</a:t>
            </a:r>
            <a:r>
              <a:rPr lang="en-US" sz="1200" i="1" kern="1200" dirty="0">
                <a:solidFill>
                  <a:schemeClr val="tx1"/>
                </a:solidFill>
                <a:effectLst/>
                <a:latin typeface="+mn-lt"/>
                <a:ea typeface="+mn-ea"/>
                <a:cs typeface="+mn-cs"/>
              </a:rPr>
              <a:t> project sheds light on real-world potential of blockchain for airlines and airports</a:t>
            </a:r>
            <a:r>
              <a:rPr lang="en-US" sz="1200" kern="1200" dirty="0">
                <a:solidFill>
                  <a:schemeClr val="tx1"/>
                </a:solidFill>
                <a:effectLst/>
                <a:latin typeface="+mn-lt"/>
                <a:ea typeface="+mn-ea"/>
                <a:cs typeface="+mn-cs"/>
              </a:rPr>
              <a:t>. https://www.futuretravelexperience.com/2017/12/flightchain-project-sheds-light-on-real-world-potential-of-blockchain-for-airlines-and-airports/ Accessed 11 December 2025.</a:t>
            </a:r>
          </a:p>
          <a:p>
            <a:endParaRPr lang="en-US" sz="1200" b="0" i="0" u="none" dirty="0">
              <a:latin typeface="+mn-lt"/>
            </a:endParaRPr>
          </a:p>
          <a:p>
            <a:r>
              <a:rPr lang="en-US" sz="1200" b="0" i="0" u="none" dirty="0">
                <a:latin typeface="+mn-lt"/>
              </a:rPr>
              <a:t>All technical and industry sources consistently highlight governance—not technology—as the main barrier to full-scale deployment. The SITA whitepaper stresses that even private blockchains require a governing body to define permissions, update smart contracts, and manage onboarding, yet aviation lacks a universally accepted authority to take on this role.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Reference 19 </a:t>
            </a:r>
            <a:r>
              <a:rPr lang="en-US" sz="1200" kern="1200" dirty="0">
                <a:solidFill>
                  <a:schemeClr val="tx1"/>
                </a:solidFill>
                <a:effectLst/>
                <a:latin typeface="+mn-lt"/>
                <a:ea typeface="+mn-ea"/>
                <a:cs typeface="+mn-cs"/>
              </a:rPr>
              <a:t>Skinner, C. (2017) </a:t>
            </a:r>
            <a:r>
              <a:rPr lang="en-US" sz="1200" i="1" kern="1200" dirty="0">
                <a:solidFill>
                  <a:schemeClr val="tx1"/>
                </a:solidFill>
                <a:effectLst/>
                <a:latin typeface="+mn-lt"/>
                <a:ea typeface="+mn-ea"/>
                <a:cs typeface="+mn-cs"/>
              </a:rPr>
              <a:t>Even British Airways gets blockchain now - Chris Skinner’s blog</a:t>
            </a:r>
            <a:r>
              <a:rPr lang="en-US" sz="1200" kern="1200" dirty="0">
                <a:solidFill>
                  <a:schemeClr val="tx1"/>
                </a:solidFill>
                <a:effectLst/>
                <a:latin typeface="+mn-lt"/>
                <a:ea typeface="+mn-ea"/>
                <a:cs typeface="+mn-cs"/>
              </a:rPr>
              <a:t>. https://thefinanser.com/2017/09/24216 Accessed 11 December 2025.</a:t>
            </a:r>
          </a:p>
          <a:p>
            <a:endParaRPr lang="en-US" sz="1200" b="0" i="0" u="none"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dirty="0">
                <a:latin typeface="+mn-lt"/>
              </a:rPr>
              <a:t>Sources agree that smart contracts provide major value by automating data validation and reconciliation—evidenced by </a:t>
            </a:r>
            <a:r>
              <a:rPr lang="en-US" sz="1200" b="0" i="0" u="none" dirty="0" err="1">
                <a:latin typeface="+mn-lt"/>
              </a:rPr>
              <a:t>FlightChain’s</a:t>
            </a:r>
            <a:r>
              <a:rPr lang="en-US" sz="1200" b="0" i="0" u="none" dirty="0">
                <a:latin typeface="+mn-lt"/>
              </a:rPr>
              <a:t> ability to process over two million updates with minimal manual intervention. However, the SITA whitepaper notes that smart contracts can be difficult to design, audit, and update across multiple </a:t>
            </a:r>
            <a:r>
              <a:rPr lang="en-US" sz="1200" b="0" i="0" u="none" dirty="0" err="1">
                <a:latin typeface="+mn-lt"/>
              </a:rPr>
              <a:t>organisations</a:t>
            </a:r>
            <a:r>
              <a:rPr lang="en-US" sz="1200" b="0" i="0" u="none" dirty="0">
                <a:latin typeface="+mn-lt"/>
              </a:rPr>
              <a:t>, especially when rules must be agreed collectively.</a:t>
            </a:r>
            <a:br>
              <a:rPr lang="en-US" sz="1200" b="0" i="0" u="none" dirty="0">
                <a:latin typeface="+mn-lt"/>
              </a:rPr>
            </a:br>
            <a:r>
              <a:rPr lang="en-US" sz="1200" b="1" i="0" u="none" dirty="0">
                <a:latin typeface="+mn-lt"/>
              </a:rPr>
              <a:t>Reference 20 </a:t>
            </a:r>
            <a:r>
              <a:rPr lang="en-US" sz="1200" kern="1200" dirty="0">
                <a:solidFill>
                  <a:schemeClr val="tx1"/>
                </a:solidFill>
                <a:effectLst/>
                <a:latin typeface="+mn-lt"/>
                <a:ea typeface="+mn-ea"/>
                <a:cs typeface="+mn-cs"/>
              </a:rPr>
              <a:t>Simson, M. (2020) </a:t>
            </a:r>
            <a:r>
              <a:rPr lang="en-US" sz="1200" i="1" kern="1200" dirty="0">
                <a:solidFill>
                  <a:schemeClr val="tx1"/>
                </a:solidFill>
                <a:effectLst/>
                <a:latin typeface="+mn-lt"/>
                <a:ea typeface="+mn-ea"/>
                <a:cs typeface="+mn-cs"/>
              </a:rPr>
              <a:t>SITA, British Airways and Heathrow Conducting Blockchain Trial for Operational Data Sync - APEX</a:t>
            </a:r>
            <a:r>
              <a:rPr lang="en-US" sz="1200" kern="1200" dirty="0">
                <a:solidFill>
                  <a:schemeClr val="tx1"/>
                </a:solidFill>
                <a:effectLst/>
                <a:latin typeface="+mn-lt"/>
                <a:ea typeface="+mn-ea"/>
                <a:cs typeface="+mn-cs"/>
              </a:rPr>
              <a:t>. https://apex.aero/articles/sita-british-airways-heathrow-conducting-blockchain-trial-operational-data-sync/ Accessed 11 December 2025.</a:t>
            </a:r>
          </a:p>
          <a:p>
            <a:endParaRPr lang="en-US" sz="1200" b="0" i="0" u="none"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dirty="0">
                <a:latin typeface="+mn-lt"/>
              </a:rPr>
              <a:t>There is broad agreement that small-scale </a:t>
            </a:r>
            <a:r>
              <a:rPr lang="en-US" sz="1200" b="0" i="0" u="none" dirty="0" err="1">
                <a:latin typeface="+mn-lt"/>
              </a:rPr>
              <a:t>PoCs</a:t>
            </a:r>
            <a:r>
              <a:rPr lang="en-US" sz="1200" b="0" i="0" u="none" dirty="0">
                <a:latin typeface="+mn-lt"/>
              </a:rPr>
              <a:t> like </a:t>
            </a:r>
            <a:r>
              <a:rPr lang="en-US" sz="1200" b="0" i="0" u="none" dirty="0" err="1">
                <a:latin typeface="+mn-lt"/>
              </a:rPr>
              <a:t>FlightChain</a:t>
            </a:r>
            <a:r>
              <a:rPr lang="en-US" sz="1200" b="0" i="0" u="none" dirty="0">
                <a:latin typeface="+mn-lt"/>
              </a:rPr>
              <a:t> are useful for proving feasibility but cannot demonstrate the viability of global, industry-wide deployment. All sources note concerns about scalability, interoperability with legacy systems, and regulatory approval. The SITA documentation highlights storage growth, consensus latency, and onboarding complexity as major scalability issues.</a:t>
            </a:r>
            <a:br>
              <a:rPr lang="en-US" sz="1200" b="0" i="0" u="none" dirty="0">
                <a:latin typeface="+mn-lt"/>
              </a:rPr>
            </a:br>
            <a:r>
              <a:rPr lang="en-US" sz="1200" b="1" i="0" u="none" dirty="0">
                <a:latin typeface="+mn-lt"/>
              </a:rPr>
              <a:t>Reference 21 </a:t>
            </a:r>
            <a:r>
              <a:rPr lang="en-US" sz="1200" kern="1200" dirty="0">
                <a:solidFill>
                  <a:schemeClr val="tx1"/>
                </a:solidFill>
                <a:effectLst/>
                <a:latin typeface="+mn-lt"/>
                <a:ea typeface="+mn-ea"/>
                <a:cs typeface="+mn-cs"/>
              </a:rPr>
              <a:t>Baker, J. (2018) </a:t>
            </a:r>
            <a:r>
              <a:rPr lang="en-US" sz="1200" i="1" kern="1200" dirty="0">
                <a:solidFill>
                  <a:schemeClr val="tx1"/>
                </a:solidFill>
                <a:effectLst/>
                <a:latin typeface="+mn-lt"/>
                <a:ea typeface="+mn-ea"/>
                <a:cs typeface="+mn-cs"/>
              </a:rPr>
              <a:t>Blockchain: the future of flight data management?</a:t>
            </a:r>
            <a:r>
              <a:rPr lang="en-US" sz="1200" kern="1200" dirty="0">
                <a:solidFill>
                  <a:schemeClr val="tx1"/>
                </a:solidFill>
                <a:effectLst/>
                <a:latin typeface="+mn-lt"/>
                <a:ea typeface="+mn-ea"/>
                <a:cs typeface="+mn-cs"/>
              </a:rPr>
              <a:t> https://www.airport-technology.com/features/blockchain-future-flight-data-management/ Accessed 11 December 2025.</a:t>
            </a:r>
          </a:p>
          <a:p>
            <a:endParaRPr lang="en-US" sz="1200" b="0" i="0" u="none" dirty="0">
              <a:latin typeface="+mn-lt"/>
            </a:endParaRPr>
          </a:p>
          <a:p>
            <a:r>
              <a:rPr lang="en-US" sz="1200" b="0" i="0" u="none" dirty="0">
                <a:latin typeface="+mn-lt"/>
              </a:rPr>
              <a:t>Disagreements</a:t>
            </a:r>
          </a:p>
          <a:p>
            <a:endParaRPr lang="en-US" sz="1200" b="0" i="0" u="none"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dirty="0">
                <a:latin typeface="+mn-lt"/>
              </a:rPr>
              <a:t>Some sources argue that blockchain is uniquely suited to multi-party data environments with low trust (e.g., SITA’s rationale for </a:t>
            </a:r>
            <a:r>
              <a:rPr lang="en-US" sz="1200" b="0" i="0" u="none" dirty="0" err="1">
                <a:latin typeface="+mn-lt"/>
              </a:rPr>
              <a:t>FlightChain</a:t>
            </a:r>
            <a:r>
              <a:rPr lang="en-US" sz="1200" b="0" i="0" u="none" dirty="0">
                <a:latin typeface="+mn-lt"/>
              </a:rPr>
              <a:t>), while others question whether a traditional distributed database could achieve similar outcomes with fewer costs and governance complications. Critics </a:t>
            </a:r>
            <a:r>
              <a:rPr lang="en-US" sz="1200" b="0" i="0" u="none" dirty="0" err="1">
                <a:latin typeface="+mn-lt"/>
              </a:rPr>
              <a:t>emphasise</a:t>
            </a:r>
            <a:r>
              <a:rPr lang="en-US" sz="1200" b="0" i="0" u="none" dirty="0">
                <a:latin typeface="+mn-lt"/>
              </a:rPr>
              <a:t> that blockchain introduces overhead—consensus, immutability, smart contract management—without always delivering proportional benefits if trust between participants can be contractually enforced.</a:t>
            </a:r>
            <a:br>
              <a:rPr lang="en-US" sz="1200" b="0" i="0" u="none" dirty="0">
                <a:latin typeface="+mn-lt"/>
              </a:rPr>
            </a:br>
            <a:r>
              <a:rPr lang="en-US" sz="1200" b="1" i="0" u="none" dirty="0">
                <a:latin typeface="+mn-lt"/>
              </a:rPr>
              <a:t>Reference (already done) </a:t>
            </a:r>
            <a:r>
              <a:rPr lang="en-US" sz="1200" kern="1200" dirty="0">
                <a:solidFill>
                  <a:schemeClr val="tx1"/>
                </a:solidFill>
                <a:effectLst/>
                <a:latin typeface="+mn-lt"/>
                <a:ea typeface="+mn-ea"/>
                <a:cs typeface="+mn-cs"/>
              </a:rPr>
              <a:t>Baker, J. (2018) </a:t>
            </a:r>
            <a:r>
              <a:rPr lang="en-US" sz="1200" i="1" kern="1200" dirty="0">
                <a:solidFill>
                  <a:schemeClr val="tx1"/>
                </a:solidFill>
                <a:effectLst/>
                <a:latin typeface="+mn-lt"/>
                <a:ea typeface="+mn-ea"/>
                <a:cs typeface="+mn-cs"/>
              </a:rPr>
              <a:t>Blockchain: the future of flight data management?</a:t>
            </a:r>
            <a:r>
              <a:rPr lang="en-US" sz="1200" kern="1200" dirty="0">
                <a:solidFill>
                  <a:schemeClr val="tx1"/>
                </a:solidFill>
                <a:effectLst/>
                <a:latin typeface="+mn-lt"/>
                <a:ea typeface="+mn-ea"/>
                <a:cs typeface="+mn-cs"/>
              </a:rPr>
              <a:t> https://www.airport-technology.com/features/blockchain-future-flight-data-management/ Accessed 11 December 2025.</a:t>
            </a:r>
          </a:p>
          <a:p>
            <a:endParaRPr lang="en-US" sz="1200" b="0" i="0" u="none" dirty="0">
              <a:latin typeface="+mn-lt"/>
            </a:endParaRPr>
          </a:p>
          <a:p>
            <a:r>
              <a:rPr lang="en-US" sz="1200" b="0" i="0" u="none" dirty="0">
                <a:latin typeface="+mn-lt"/>
              </a:rPr>
              <a:t>The </a:t>
            </a:r>
            <a:r>
              <a:rPr lang="en-US" sz="1200" b="0" i="0" u="none" dirty="0" err="1">
                <a:latin typeface="+mn-lt"/>
              </a:rPr>
              <a:t>FlightChain</a:t>
            </a:r>
            <a:r>
              <a:rPr lang="en-US" sz="1200" b="0" i="0" u="none" dirty="0">
                <a:latin typeface="+mn-lt"/>
              </a:rPr>
              <a:t> pilot used a private permissioned blockchain, but sources disagree on whether this is the right model. Some argue private networks offer the necessary control and privacy for aviation, while others suggest that public or hybrid models could improve scalability, transparency, and stakeholder neutrality.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Reference (already done) </a:t>
            </a:r>
            <a:r>
              <a:rPr lang="en-US" sz="1200" kern="1200" dirty="0">
                <a:solidFill>
                  <a:schemeClr val="tx1"/>
                </a:solidFill>
                <a:effectLst/>
                <a:latin typeface="+mn-lt"/>
                <a:ea typeface="+mn-ea"/>
                <a:cs typeface="+mn-cs"/>
              </a:rPr>
              <a:t>Skinner, C. (2017) </a:t>
            </a:r>
            <a:r>
              <a:rPr lang="en-US" sz="1200" i="1" kern="1200" dirty="0">
                <a:solidFill>
                  <a:schemeClr val="tx1"/>
                </a:solidFill>
                <a:effectLst/>
                <a:latin typeface="+mn-lt"/>
                <a:ea typeface="+mn-ea"/>
                <a:cs typeface="+mn-cs"/>
              </a:rPr>
              <a:t>Even British Airways gets blockchain now - Chris Skinner’s blog</a:t>
            </a:r>
            <a:r>
              <a:rPr lang="en-US" sz="1200" kern="1200" dirty="0">
                <a:solidFill>
                  <a:schemeClr val="tx1"/>
                </a:solidFill>
                <a:effectLst/>
                <a:latin typeface="+mn-lt"/>
                <a:ea typeface="+mn-ea"/>
                <a:cs typeface="+mn-cs"/>
              </a:rPr>
              <a:t>. https://thefinanser.com/2017/09/24216 Accessed 11 December 2025.</a:t>
            </a:r>
          </a:p>
          <a:p>
            <a:endParaRPr lang="en-US" sz="1200" b="0" i="0" u="none"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dirty="0">
                <a:latin typeface="+mn-lt"/>
              </a:rPr>
              <a:t>Sources diverge on whether smart contracts are legally binding in aviation contexts. While technically reliable, their legal standing varies across jurisdictions, and regulatory agencies have not yet defined frameworks for aviation-specific automated rules. Industry analysts point out that until smart contracts are legally </a:t>
            </a:r>
            <a:r>
              <a:rPr lang="en-US" sz="1200" b="0" i="0" u="none" dirty="0" err="1">
                <a:latin typeface="+mn-lt"/>
              </a:rPr>
              <a:t>recognised</a:t>
            </a:r>
            <a:r>
              <a:rPr lang="en-US" sz="1200" b="0" i="0" u="none" dirty="0">
                <a:latin typeface="+mn-lt"/>
              </a:rPr>
              <a:t>, they remain operational tools rather than enforceable agreements.</a:t>
            </a:r>
            <a:br>
              <a:rPr lang="en-US" sz="1200" b="0" i="0" u="none" dirty="0">
                <a:latin typeface="+mn-lt"/>
              </a:rPr>
            </a:br>
            <a:r>
              <a:rPr lang="en-US" sz="1200" b="1" i="0" u="none" dirty="0">
                <a:latin typeface="+mn-lt"/>
              </a:rPr>
              <a:t>Reference (already done) </a:t>
            </a:r>
            <a:r>
              <a:rPr lang="en-US" sz="1200" kern="1200" dirty="0">
                <a:solidFill>
                  <a:schemeClr val="tx1"/>
                </a:solidFill>
                <a:effectLst/>
                <a:latin typeface="+mn-lt"/>
                <a:ea typeface="+mn-ea"/>
                <a:cs typeface="+mn-cs"/>
              </a:rPr>
              <a:t>Skinner, C. (2017) </a:t>
            </a:r>
            <a:r>
              <a:rPr lang="en-US" sz="1200" i="1" kern="1200" dirty="0">
                <a:solidFill>
                  <a:schemeClr val="tx1"/>
                </a:solidFill>
                <a:effectLst/>
                <a:latin typeface="+mn-lt"/>
                <a:ea typeface="+mn-ea"/>
                <a:cs typeface="+mn-cs"/>
              </a:rPr>
              <a:t>Even British Airways gets blockchain now - Chris Skinner’s blog</a:t>
            </a:r>
            <a:r>
              <a:rPr lang="en-US" sz="1200" kern="1200" dirty="0">
                <a:solidFill>
                  <a:schemeClr val="tx1"/>
                </a:solidFill>
                <a:effectLst/>
                <a:latin typeface="+mn-lt"/>
                <a:ea typeface="+mn-ea"/>
                <a:cs typeface="+mn-cs"/>
              </a:rPr>
              <a:t>. https://thefinanser.com/2017/09/24216 Accessed 11 December 2025.</a:t>
            </a:r>
          </a:p>
          <a:p>
            <a:endParaRPr lang="en-US" sz="1200" b="0" i="0" u="none" dirty="0">
              <a:latin typeface="+mn-lt"/>
            </a:endParaRPr>
          </a:p>
          <a:p>
            <a:r>
              <a:rPr lang="en-US" sz="1200" b="0" i="0" u="none" dirty="0">
                <a:latin typeface="+mn-lt"/>
              </a:rPr>
              <a:t>Sources widely agree that governance is necessary but disagree on who should take responsibility. Some argue for IATA or ACI; others suggest SITA or a new neutral consortium. There are differing viewpoints about how to balance neutrality, authority, and stakeholder representation.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Reference (already done) </a:t>
            </a:r>
            <a:r>
              <a:rPr lang="en-US" sz="1200" kern="1200" dirty="0">
                <a:solidFill>
                  <a:schemeClr val="tx1"/>
                </a:solidFill>
                <a:effectLst/>
                <a:latin typeface="+mn-lt"/>
                <a:ea typeface="+mn-ea"/>
                <a:cs typeface="+mn-cs"/>
              </a:rPr>
              <a:t>Baker, J. (2018) </a:t>
            </a:r>
            <a:r>
              <a:rPr lang="en-US" sz="1200" i="1" kern="1200" dirty="0">
                <a:solidFill>
                  <a:schemeClr val="tx1"/>
                </a:solidFill>
                <a:effectLst/>
                <a:latin typeface="+mn-lt"/>
                <a:ea typeface="+mn-ea"/>
                <a:cs typeface="+mn-cs"/>
              </a:rPr>
              <a:t>Blockchain: the future of flight data management?</a:t>
            </a:r>
            <a:r>
              <a:rPr lang="en-US" sz="1200" kern="1200" dirty="0">
                <a:solidFill>
                  <a:schemeClr val="tx1"/>
                </a:solidFill>
                <a:effectLst/>
                <a:latin typeface="+mn-lt"/>
                <a:ea typeface="+mn-ea"/>
                <a:cs typeface="+mn-cs"/>
              </a:rPr>
              <a:t> https://www.airport-technology.com/features/blockchain-future-flight-data-management/ Accessed 11 December 2025.</a:t>
            </a:r>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barriers associated with governance have a high rate of agreement.</a:t>
            </a:r>
          </a:p>
          <a:p>
            <a:r>
              <a:rPr lang="en-US" dirty="0"/>
              <a:t> </a:t>
            </a:r>
          </a:p>
          <a:p>
            <a:r>
              <a:rPr lang="en-US" dirty="0"/>
              <a:t>Note: Despite the fact that the technology proved that it could handle the data load, all major stakeholder groups such as the project leaders (SITA) to industry regulators (IATA) came to the same result: the lack of a governance framework is the primary obstacle. This industry has the technical expertise to exchange the information, but there is no understanding of who creates the regulations on the sharing.</a:t>
            </a:r>
          </a:p>
          <a:p>
            <a:r>
              <a:rPr lang="en-US" dirty="0"/>
              <a:t> </a:t>
            </a:r>
          </a:p>
          <a:p>
            <a:r>
              <a:rPr lang="en-US" dirty="0"/>
              <a:t>SITA publicly confessed that they shifted all their research focus to governance instead of technical aspect because the technical problem was resolved.</a:t>
            </a:r>
          </a:p>
          <a:p>
            <a:r>
              <a:rPr lang="en-US" dirty="0"/>
              <a:t>The white paper by IATA identified that an implementation framework that is trusted and has a central point of control is important to be used globally.</a:t>
            </a:r>
          </a:p>
          <a:p>
            <a:pPr marL="171450" indent="-171450">
              <a:buFont typeface="Arial"/>
              <a:buChar char="•"/>
            </a:pPr>
            <a:r>
              <a:rPr lang="en-US" dirty="0"/>
              <a:t> </a:t>
            </a:r>
            <a:r>
              <a:rPr lang="en-US" b="1" dirty="0"/>
              <a:t>SITA Lab (2019).</a:t>
            </a:r>
            <a:r>
              <a:rPr lang="en-US" dirty="0"/>
              <a:t> Why Aviation Needs to Get the Measure of Blockchain.</a:t>
            </a:r>
          </a:p>
          <a:p>
            <a:pPr marL="171450" indent="-171450">
              <a:buFont typeface="Arial"/>
              <a:buChar char="•"/>
            </a:pPr>
            <a:r>
              <a:rPr lang="en-US" b="1" dirty="0"/>
              <a:t> IATA (2018).</a:t>
            </a:r>
            <a:r>
              <a:rPr lang="en-US" dirty="0"/>
              <a:t> Blockchain in Aviation White Paper.</a:t>
            </a:r>
          </a:p>
          <a:p>
            <a:r>
              <a:rPr lang="en-US" dirty="0"/>
              <a:t>According to interviews carried out by FTE, the most difficult part is to impose a common approach among competitors.</a:t>
            </a:r>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spcBef>
                <a:spcPct val="20000"/>
              </a:spcBef>
              <a:buFont typeface="Arial"/>
              <a:buChar char="•"/>
            </a:pPr>
            <a:r>
              <a:rPr lang="en-US" dirty="0"/>
              <a:t>Airlines: improved data but increased governance burden.</a:t>
            </a:r>
          </a:p>
          <a:p>
            <a:pPr>
              <a:spcBef>
                <a:spcPct val="20000"/>
              </a:spcBef>
            </a:pPr>
            <a:r>
              <a:rPr lang="en-US" dirty="0"/>
              <a:t>Due to the shared ledger’s ability to offer a single, credible source of flight status information, </a:t>
            </a:r>
            <a:r>
              <a:rPr lang="en-US" dirty="0" err="1"/>
              <a:t>FlightChain</a:t>
            </a:r>
            <a:r>
              <a:rPr lang="en-US" dirty="0"/>
              <a:t> can facilitate communication between airlines while decreasing discrepancies. However, unlike private internal databases, they need to function under joint supervision of smart contract rules and access controls and will consequently create additional workload for airlines, in terms of governance, compliance, and integration. [22][23][24]</a:t>
            </a:r>
          </a:p>
          <a:p>
            <a:pPr marL="171450" indent="-171450">
              <a:spcBef>
                <a:spcPct val="20000"/>
              </a:spcBef>
              <a:buFont typeface="Arial"/>
              <a:buChar char="•"/>
            </a:pPr>
            <a:r>
              <a:rPr lang="en-US" dirty="0"/>
              <a:t>Airports: better planning but high integration costs.</a:t>
            </a:r>
          </a:p>
          <a:p>
            <a:pPr>
              <a:spcBef>
                <a:spcPct val="20000"/>
              </a:spcBef>
            </a:pPr>
            <a:r>
              <a:rPr lang="en-US" dirty="0"/>
              <a:t>Airports receive more precise real-time information on flights from shared ledgers and must also make a considerable effort to integrate and maintain their existing AODB/FIDS systems and operational processes with a blockchain backend.[25]</a:t>
            </a:r>
          </a:p>
          <a:p>
            <a:pPr>
              <a:spcBef>
                <a:spcPct val="20000"/>
              </a:spcBef>
            </a:pPr>
            <a:endParaRPr lang="en-US" dirty="0"/>
          </a:p>
          <a:p>
            <a:pPr marL="171450" indent="-171450">
              <a:spcBef>
                <a:spcPct val="20000"/>
              </a:spcBef>
              <a:buFont typeface="Arial"/>
              <a:buChar char="•"/>
            </a:pPr>
            <a:r>
              <a:rPr lang="en-US" dirty="0"/>
              <a:t>SITA: expanded neutral-operator responsibility.</a:t>
            </a:r>
          </a:p>
          <a:p>
            <a:pPr>
              <a:spcBef>
                <a:spcPct val="20000"/>
              </a:spcBef>
            </a:pPr>
            <a:r>
              <a:rPr lang="en-US" dirty="0"/>
              <a:t>SITA has assumed a neutral arbiter's role in blockchain operations in the industry, overseeing its platform design, smart contract governance, and performance. This raises SITA's role strategically, enhancing the demands for neutrality, resilience, and support for cross-industry experimentation, such as the Aviation Blockchain Sandbox.[26]</a:t>
            </a:r>
          </a:p>
          <a:p>
            <a:pPr>
              <a:spcBef>
                <a:spcPct val="20000"/>
              </a:spcBef>
            </a:pPr>
            <a:endParaRPr lang="en-US" dirty="0"/>
          </a:p>
          <a:p>
            <a:pPr marL="171450" indent="-171450">
              <a:spcBef>
                <a:spcPct val="20000"/>
              </a:spcBef>
              <a:buFont typeface="Arial"/>
              <a:buChar char="•"/>
            </a:pPr>
            <a:r>
              <a:rPr lang="en-US" dirty="0"/>
              <a:t>Passengers: indirect gains through clearer information.</a:t>
            </a:r>
          </a:p>
          <a:p>
            <a:pPr>
              <a:spcBef>
                <a:spcPct val="20000"/>
              </a:spcBef>
            </a:pPr>
            <a:r>
              <a:rPr lang="en-US" dirty="0"/>
              <a:t>When an airline's, a passenger terminal's and employee terminals' databases all work together to provide the same updated, reliable information about delays and boarding gate assignments, passengers may have a better experience because of fewer inconsistencies between all three systems. This increases their confidence in the airline's ability to get them to their destination on time, and creates less stress when things don't go as expected. It also sets the stage for future service improvements, such as better ability to guarantee connections.</a:t>
            </a:r>
          </a:p>
          <a:p>
            <a:pPr>
              <a:spcBef>
                <a:spcPct val="20000"/>
              </a:spcBef>
            </a:pPr>
            <a:endParaRPr lang="en-US" dirty="0"/>
          </a:p>
          <a:p>
            <a:pPr marL="171450" indent="-171450">
              <a:spcBef>
                <a:spcPct val="20000"/>
              </a:spcBef>
              <a:buFont typeface="Arial"/>
              <a:buChar char="•"/>
            </a:pPr>
            <a:r>
              <a:rPr lang="en-US" dirty="0"/>
              <a:t>Regulators and Trade Associations</a:t>
            </a:r>
          </a:p>
          <a:p>
            <a:pPr>
              <a:spcBef>
                <a:spcPct val="20000"/>
              </a:spcBef>
            </a:pPr>
            <a:r>
              <a:rPr lang="en-US" dirty="0"/>
              <a:t>IATA and ACI can incorporate operational protocols within smart contracts so that there is uniformity among the definitions of events; however, it adds to the governance complexity and the challenges of managing the updates, resolving disputes, and aligning with regulations across the jurisdictions where the smart contracts apply.</a:t>
            </a:r>
          </a:p>
          <a:p>
            <a:pPr>
              <a:spcBef>
                <a:spcPct val="20000"/>
              </a:spcBef>
            </a:pPr>
            <a:endParaRPr lang="en-US" dirty="0"/>
          </a:p>
          <a:p>
            <a:pPr marL="171450" indent="-171450">
              <a:spcBef>
                <a:spcPct val="20000"/>
              </a:spcBef>
              <a:buFont typeface="Arial"/>
              <a:buChar char="•"/>
            </a:pPr>
            <a:r>
              <a:rPr lang="en-US" dirty="0"/>
              <a:t>Partners in technology and integration</a:t>
            </a:r>
          </a:p>
          <a:p>
            <a:pPr>
              <a:spcBef>
                <a:spcPct val="20000"/>
              </a:spcBef>
            </a:pPr>
            <a:r>
              <a:rPr lang="en-US" dirty="0"/>
              <a:t>Technology and integration partners make money by creating, integrating, and running blockchain Networks that connect to legacy (old) airline and airport systems. These companies also have to deal with increased complexity in their architecture due to higher levels of security (Cyber Security), which includes securing nodes, smart contract audits, Coordination of incident responses across multiple organizations.[27][28]</a:t>
            </a:r>
          </a:p>
          <a:p>
            <a:pPr>
              <a:spcBef>
                <a:spcPct val="20000"/>
              </a:spcBef>
            </a:pPr>
            <a:endParaRPr lang="en-US" dirty="0"/>
          </a:p>
          <a:p>
            <a:pPr>
              <a:spcBef>
                <a:spcPct val="20000"/>
              </a:spcBef>
            </a:pPr>
            <a:endParaRPr lang="en-US" dirty="0"/>
          </a:p>
          <a:p>
            <a:r>
              <a:rPr lang="en-US" dirty="0"/>
              <a:t>22.FlightChain project (FTE article):</a:t>
            </a:r>
            <a:br>
              <a:rPr lang="en-US" dirty="0">
                <a:cs typeface="+mn-lt"/>
              </a:rPr>
            </a:br>
            <a:r>
              <a:rPr lang="en-US" dirty="0"/>
              <a:t>O'Sullivan, K. (2017). </a:t>
            </a:r>
            <a:r>
              <a:rPr lang="en-US" dirty="0" err="1"/>
              <a:t>FlightChain</a:t>
            </a:r>
            <a:r>
              <a:rPr lang="en-US" dirty="0"/>
              <a:t> project sheds light on real-world potential of blockchain for airlines and airports. </a:t>
            </a:r>
            <a:r>
              <a:rPr lang="en-US" i="1" dirty="0"/>
              <a:t>Future Travel Experience</a:t>
            </a:r>
            <a:r>
              <a:rPr lang="en-US" dirty="0"/>
              <a:t>. Retrieved from </a:t>
            </a:r>
            <a:r>
              <a:rPr lang="en-US" dirty="0">
                <a:hlinkClick r:id="rId3"/>
              </a:rPr>
              <a:t>https://www.futuretravelexperience.com/2017/12/flightchain-project-sheds-light-on-real-world-potential-of-blockchain-for-airlines-and-airports/</a:t>
            </a:r>
            <a:endParaRPr lang="en-US" dirty="0"/>
          </a:p>
          <a:p>
            <a:r>
              <a:rPr lang="en-US" dirty="0"/>
              <a:t>23. SITA White Paper:</a:t>
            </a:r>
            <a:br>
              <a:rPr lang="en-US" dirty="0">
                <a:cs typeface="+mn-lt"/>
              </a:rPr>
            </a:br>
            <a:r>
              <a:rPr lang="en-US" dirty="0"/>
              <a:t>SITA Lab. (n.d.). </a:t>
            </a:r>
            <a:r>
              <a:rPr lang="en-US" i="1" dirty="0" err="1"/>
              <a:t>FlightChain</a:t>
            </a:r>
            <a:r>
              <a:rPr lang="en-US" i="1" dirty="0"/>
              <a:t>: 'Smart contracts' for shared control of data?</a:t>
            </a:r>
            <a:r>
              <a:rPr lang="en-US" dirty="0"/>
              <a:t> SITA. Retrieved from </a:t>
            </a:r>
            <a:r>
              <a:rPr lang="en-US" dirty="0">
                <a:hlinkClick r:id="rId4"/>
              </a:rPr>
              <a:t>https://www.sita.aero/resources/White-papers/flightchain-shared-control-of-data/</a:t>
            </a:r>
            <a:endParaRPr lang="en-US" dirty="0"/>
          </a:p>
          <a:p>
            <a:r>
              <a:rPr lang="en-US" dirty="0"/>
              <a:t>24. IATA White Paper:</a:t>
            </a:r>
            <a:br>
              <a:rPr lang="en-US" dirty="0">
                <a:cs typeface="+mn-lt"/>
              </a:rPr>
            </a:br>
            <a:r>
              <a:rPr lang="en-US" dirty="0"/>
              <a:t>International Air Transport Association (IATA). (2018). </a:t>
            </a:r>
            <a:r>
              <a:rPr lang="en-US" i="1" dirty="0"/>
              <a:t>Blockchain in aviation: Exploring the fundamentals, use cases, and industry initiatives</a:t>
            </a:r>
            <a:r>
              <a:rPr lang="en-US" dirty="0"/>
              <a:t> (White Paper). IATA. Retrieved from </a:t>
            </a:r>
            <a:r>
              <a:rPr lang="en-US" dirty="0">
                <a:hlinkClick r:id="rId5"/>
              </a:rPr>
              <a:t>https://www.iata.org/contentassets/2d997082f3c84c7cba001f506edd2c2e/blockchain-in-aviation-white-paper.pdf</a:t>
            </a:r>
            <a:endParaRPr lang="en-US" dirty="0"/>
          </a:p>
          <a:p>
            <a:r>
              <a:rPr lang="en-US" dirty="0"/>
              <a:t>25. Copenhagen Airport Research:</a:t>
            </a:r>
            <a:br>
              <a:rPr lang="en-US" dirty="0">
                <a:cs typeface="+mn-lt"/>
              </a:rPr>
            </a:br>
            <a:r>
              <a:rPr lang="en-US" dirty="0"/>
              <a:t>Friis-Hansen, F., &amp; Jeppesen, F. R. (2020). </a:t>
            </a:r>
            <a:r>
              <a:rPr lang="en-US" i="1" dirty="0"/>
              <a:t>Blockchain in Copenhagen Airport: The journey towards increased data sharing and interoperability</a:t>
            </a:r>
            <a:r>
              <a:rPr lang="en-US" dirty="0"/>
              <a:t> [Master's thesis, Copenhagen Business School]. Retrieved from </a:t>
            </a:r>
            <a:r>
              <a:rPr lang="en-US" dirty="0">
                <a:hlinkClick r:id="rId6"/>
              </a:rPr>
              <a:t>https://research-api.cbs.dk/ws/portalfiles/portal/62174647/878879_Blockchain_in_Copenhagen_Airport_The_Journey_Towards_Increased_Data_Sharing_and_Interoperability.pdf</a:t>
            </a:r>
            <a:endParaRPr lang="en-US" dirty="0"/>
          </a:p>
          <a:p>
            <a:r>
              <a:rPr lang="en-US" dirty="0"/>
              <a:t>26. IET Research Article:</a:t>
            </a:r>
            <a:br>
              <a:rPr lang="en-US" dirty="0">
                <a:cs typeface="+mn-lt"/>
              </a:rPr>
            </a:br>
            <a:r>
              <a:rPr lang="en-US" dirty="0"/>
              <a:t>Zorlu, O., &amp; </a:t>
            </a:r>
            <a:r>
              <a:rPr lang="en-US" dirty="0" err="1"/>
              <a:t>Ozsoy</a:t>
            </a:r>
            <a:r>
              <a:rPr lang="en-US" dirty="0"/>
              <a:t>, A. (2024). A blockchain-based secure framework for data management. </a:t>
            </a:r>
            <a:r>
              <a:rPr lang="en-US" i="1" dirty="0"/>
              <a:t>IET Communications, 18</a:t>
            </a:r>
            <a:r>
              <a:rPr lang="en-US" dirty="0"/>
              <a:t>(10), 628–653. </a:t>
            </a:r>
            <a:r>
              <a:rPr lang="en-US" dirty="0">
                <a:hlinkClick r:id="rId7"/>
              </a:rPr>
              <a:t>https://doi.org/10.1049/cmu2.12781</a:t>
            </a:r>
            <a:r>
              <a:rPr lang="en-US" dirty="0"/>
              <a:t> </a:t>
            </a:r>
          </a:p>
          <a:p>
            <a:r>
              <a:rPr lang="en-US" dirty="0"/>
              <a:t>27. Growth Market Reports:</a:t>
            </a:r>
            <a:br>
              <a:rPr lang="en-US" dirty="0">
                <a:cs typeface="+mn-lt"/>
              </a:rPr>
            </a:br>
            <a:r>
              <a:rPr lang="en-US" dirty="0"/>
              <a:t>Growth Market Reports. (n.d.). </a:t>
            </a:r>
            <a:r>
              <a:rPr lang="en-US" i="1" dirty="0"/>
              <a:t>Blockchain in aviation market</a:t>
            </a:r>
            <a:r>
              <a:rPr lang="en-US" dirty="0"/>
              <a:t> [Market report]. Retrieved from </a:t>
            </a:r>
            <a:r>
              <a:rPr lang="en-US" dirty="0">
                <a:hlinkClick r:id="rId8"/>
              </a:rPr>
              <a:t>https://growthmarketreports.com/report/blockchain-in-aviation-market</a:t>
            </a:r>
            <a:endParaRPr lang="en-US" dirty="0"/>
          </a:p>
          <a:p>
            <a:r>
              <a:rPr lang="en-US" dirty="0"/>
              <a:t>28. </a:t>
            </a:r>
            <a:r>
              <a:rPr lang="en-US" dirty="0" err="1"/>
              <a:t>Hacettepe</a:t>
            </a:r>
            <a:r>
              <a:rPr lang="en-US" dirty="0"/>
              <a:t> University Doctoral Thesis:</a:t>
            </a:r>
            <a:br>
              <a:rPr lang="en-US" dirty="0">
                <a:cs typeface="+mn-lt"/>
              </a:rPr>
            </a:br>
            <a:r>
              <a:rPr lang="en-US" dirty="0"/>
              <a:t>Zorlu, O. (2024). </a:t>
            </a:r>
            <a:r>
              <a:rPr lang="en-US" i="1" dirty="0"/>
              <a:t>Blockchain-based secure management framework for unmanned vehicles, Internet of Things and aviation</a:t>
            </a:r>
            <a:r>
              <a:rPr lang="en-US" dirty="0"/>
              <a:t> [Doctoral dissertation, </a:t>
            </a:r>
            <a:r>
              <a:rPr lang="en-US" dirty="0" err="1"/>
              <a:t>Hacettepe</a:t>
            </a:r>
            <a:r>
              <a:rPr lang="en-US" dirty="0"/>
              <a:t> University]. </a:t>
            </a:r>
            <a:r>
              <a:rPr lang="en-US" dirty="0" err="1"/>
              <a:t>Hacettepe</a:t>
            </a:r>
            <a:r>
              <a:rPr lang="en-US" dirty="0"/>
              <a:t> University Graduate School of Science and Engineering. Retrieved from </a:t>
            </a:r>
            <a:r>
              <a:rPr lang="en-US" dirty="0">
                <a:hlinkClick r:id="rId9"/>
              </a:rPr>
              <a:t>https://openaccess.hacettepe.edu.tr/server/api/core/bitstreams/30554ec0-b233-47c6-8587-617928f27057/content</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Challenges were structural rather than purely technical.</a:t>
            </a:r>
          </a:p>
          <a:p>
            <a:pPr marL="171450" indent="-171450">
              <a:buFont typeface="Arial"/>
              <a:buChar char="•"/>
            </a:pPr>
            <a:r>
              <a:rPr lang="en-US" dirty="0"/>
              <a:t>Unclear governance ownership.</a:t>
            </a:r>
          </a:p>
          <a:p>
            <a:r>
              <a:rPr lang="en-US" dirty="0"/>
              <a:t>Questions arise about who will manage a multi Stakeholder Aviation Blockchain. How will it be operated by the network and who is able to change rules. How do we go about conflict resolution? Lack of clarity in these areas decreases trust and impairs timely decision-making.[29][30]</a:t>
            </a:r>
          </a:p>
          <a:p>
            <a:endParaRPr lang="en-US" dirty="0"/>
          </a:p>
          <a:p>
            <a:pPr marL="171450" indent="-171450">
              <a:buFont typeface="Arial"/>
              <a:buChar char="•"/>
            </a:pPr>
            <a:r>
              <a:rPr lang="en-US" dirty="0"/>
              <a:t>Legacy system integration complexity.</a:t>
            </a:r>
          </a:p>
          <a:p>
            <a:r>
              <a:rPr lang="en-US" dirty="0"/>
              <a:t>Many airlines and airports have an extensive array of outdated IT systems (such as AODB, MRO, DCS, and ATC) that complicate and increase costs for integrating blockchains into their operations. Additionally, these partner organizations create the potential for operational risk if migration and interfacing efforts do not go smoothly.[31]</a:t>
            </a:r>
          </a:p>
          <a:p>
            <a:endParaRPr lang="en-US" dirty="0"/>
          </a:p>
          <a:p>
            <a:pPr marL="171450" indent="-171450">
              <a:buFont typeface="Arial"/>
              <a:buChar char="•"/>
            </a:pPr>
            <a:r>
              <a:rPr lang="en-US" dirty="0"/>
              <a:t>Smart contract upgrade difficulty.</a:t>
            </a:r>
          </a:p>
          <a:p>
            <a:r>
              <a:rPr lang="en-US" dirty="0"/>
              <a:t>To have operational logic exist in the smart contracts, every node must work together and upgrade to the newest version of the software. Upgrading without coordination creates the potential for disruptions in network behaviour, while not upgrading successfully would result in network outages. Additionally, if upgrades are not well-managed, increases the risk of impacting safety-critical processes and continuity of service.[32]</a:t>
            </a:r>
          </a:p>
          <a:p>
            <a:endParaRPr lang="en-US" dirty="0"/>
          </a:p>
          <a:p>
            <a:pPr marL="171450" indent="-171450">
              <a:spcBef>
                <a:spcPct val="20000"/>
              </a:spcBef>
              <a:buFont typeface="Arial"/>
              <a:buChar char="•"/>
            </a:pPr>
            <a:r>
              <a:rPr lang="en-US" dirty="0"/>
              <a:t>Privacy and regulatory constraints.</a:t>
            </a:r>
          </a:p>
          <a:p>
            <a:pPr>
              <a:spcBef>
                <a:spcPct val="20000"/>
              </a:spcBef>
            </a:pPr>
            <a:r>
              <a:rPr lang="en-US" dirty="0"/>
              <a:t>Immutable, shared ledgers may create contradictions with data protection laws and regulations that govern confidentiality per sector. To address this issue, it is recommended that Blockchain designers create permissioned blockchains, allow selective disclosure of information, and utilize off-chain solutions as methods for ensuring compliance with the relevant regulations.</a:t>
            </a:r>
          </a:p>
          <a:p>
            <a:pPr>
              <a:spcBef>
                <a:spcPct val="20000"/>
              </a:spcBef>
            </a:pPr>
            <a:endParaRPr lang="en-US" dirty="0"/>
          </a:p>
          <a:p>
            <a:pPr marL="171450" indent="-171450">
              <a:spcBef>
                <a:spcPct val="20000"/>
              </a:spcBef>
              <a:buFont typeface="Arial"/>
              <a:buChar char="•"/>
            </a:pPr>
            <a:r>
              <a:rPr lang="en-US" dirty="0"/>
              <a:t>Scalability limitations.</a:t>
            </a:r>
          </a:p>
          <a:p>
            <a:r>
              <a:rPr lang="en-US" dirty="0"/>
              <a:t>High volumes of events and low latency are common in aviation scenarios.</a:t>
            </a:r>
          </a:p>
          <a:p>
            <a:pPr>
              <a:spcBef>
                <a:spcPct val="20000"/>
              </a:spcBef>
            </a:pPr>
            <a:r>
              <a:rPr lang="en-US" dirty="0"/>
              <a:t>Currently, most blockchain platforms still have challenges associated with throughput, latency, and cost at high volumes and this issue becomes more apparent when moving away from small-scale pilot implementations.[31]</a:t>
            </a:r>
          </a:p>
          <a:p>
            <a:pPr>
              <a:spcBef>
                <a:spcPct val="20000"/>
              </a:spcBef>
            </a:pPr>
            <a:endParaRPr lang="en-US" dirty="0"/>
          </a:p>
          <a:p>
            <a:pPr marL="171450" indent="-171450">
              <a:spcBef>
                <a:spcPct val="20000"/>
              </a:spcBef>
              <a:buFont typeface="Arial"/>
              <a:buChar char="•"/>
            </a:pPr>
            <a:r>
              <a:rPr lang="en-US" dirty="0"/>
              <a:t>Gaps in </a:t>
            </a:r>
            <a:r>
              <a:rPr lang="en-US" dirty="0" err="1"/>
              <a:t>standardisation</a:t>
            </a:r>
            <a:r>
              <a:rPr lang="en-US" dirty="0"/>
              <a:t> and interoperability</a:t>
            </a:r>
          </a:p>
          <a:p>
            <a:pPr>
              <a:spcBef>
                <a:spcPct val="20000"/>
              </a:spcBef>
            </a:pPr>
            <a:r>
              <a:rPr lang="en-US" dirty="0"/>
              <a:t>Diverse Pilot Programs creating separate solutions using multiple data models and platforms fragment data solutions. Current limitations in interoperability caused by lack of cooperative standards and guidelines (such as IATA/ICAO) make data exchange across different industries and businesses very complicated due to the fact there is no standardization.[33]</a:t>
            </a:r>
          </a:p>
          <a:p>
            <a:pPr>
              <a:spcBef>
                <a:spcPct val="20000"/>
              </a:spcBef>
            </a:pPr>
            <a:endParaRPr lang="en-US" dirty="0"/>
          </a:p>
          <a:p>
            <a:pPr marL="171450" indent="-171450">
              <a:spcBef>
                <a:spcPct val="20000"/>
              </a:spcBef>
              <a:buFont typeface="Arial"/>
              <a:buChar char="•"/>
            </a:pPr>
            <a:r>
              <a:rPr lang="en-US" dirty="0"/>
              <a:t>Uncertain business case and cost-benefit analysis</a:t>
            </a:r>
          </a:p>
          <a:p>
            <a:pPr>
              <a:spcBef>
                <a:spcPct val="20000"/>
              </a:spcBef>
            </a:pPr>
            <a:r>
              <a:rPr lang="en-US" dirty="0"/>
              <a:t>Organizations have a difficult time justifying investments because implementation and change costs are high with uncertain or long-term associated tangible benefits – thus many projects end at pilot phase.[33][34]</a:t>
            </a:r>
          </a:p>
          <a:p>
            <a:pPr>
              <a:spcBef>
                <a:spcPct val="20000"/>
              </a:spcBef>
            </a:pPr>
            <a:endParaRPr lang="en-US" dirty="0"/>
          </a:p>
          <a:p>
            <a:r>
              <a:rPr lang="en-US" dirty="0"/>
              <a:t>Governance and Structural Challenges</a:t>
            </a:r>
          </a:p>
          <a:p>
            <a:r>
              <a:rPr lang="en-US" dirty="0"/>
              <a:t>29.  Budimir et al. - Blockchain Adoption in Aviation:</a:t>
            </a:r>
            <a:br>
              <a:rPr lang="en-US" dirty="0">
                <a:cs typeface="+mn-lt"/>
              </a:rPr>
            </a:br>
            <a:r>
              <a:rPr lang="en-US" dirty="0"/>
              <a:t>Budimir, M., et al. (2019). Blockchain adoption in aviation: Opportunities and challenges. </a:t>
            </a:r>
            <a:r>
              <a:rPr lang="en-US" i="1" dirty="0"/>
              <a:t>International Journal of Transport Development and Integration</a:t>
            </a:r>
            <a:r>
              <a:rPr lang="en-US" dirty="0"/>
              <a:t>, 6(1), 92–97.</a:t>
            </a:r>
          </a:p>
          <a:p>
            <a:r>
              <a:rPr lang="en-US" dirty="0">
                <a:hlinkClick r:id="rId3"/>
              </a:rPr>
              <a:t>file:///C:/Users/Uzair%20Patel/Downloads/budimir,+Production+editor,+6_92-97_148-Blockchain+Adoption+in+Aviation+Opportunities+and+Challenges%20(2).pdf</a:t>
            </a:r>
            <a:endParaRPr lang="en-US" dirty="0"/>
          </a:p>
          <a:p>
            <a:r>
              <a:rPr lang="en-US" dirty="0"/>
              <a:t>30. IATA White Paper:</a:t>
            </a:r>
            <a:br>
              <a:rPr lang="en-US" dirty="0">
                <a:cs typeface="+mn-lt"/>
              </a:rPr>
            </a:br>
            <a:r>
              <a:rPr lang="en-US" dirty="0"/>
              <a:t>International Air Transport Association (IATA). (2018). </a:t>
            </a:r>
            <a:r>
              <a:rPr lang="en-US" i="1" dirty="0"/>
              <a:t>Blockchain in aviation: Exploring the fundamentals, use cases, and industry initiatives</a:t>
            </a:r>
            <a:r>
              <a:rPr lang="en-US" dirty="0"/>
              <a:t> (White Paper). IATA. Retrieved from </a:t>
            </a:r>
            <a:r>
              <a:rPr lang="en-US" dirty="0">
                <a:hlinkClick r:id="rId4"/>
              </a:rPr>
              <a:t>https://www.iata.org/contentassets/2d997082f3c84c7cba001f506edd2c2e/blockchain-in-aviation-white-paper.pdf</a:t>
            </a:r>
            <a:endParaRPr lang="en-US" dirty="0"/>
          </a:p>
          <a:p>
            <a:r>
              <a:rPr lang="en-US" dirty="0"/>
              <a:t>31.  Lopes, D. P., Rita, P., &amp; </a:t>
            </a:r>
            <a:r>
              <a:rPr lang="en-US" dirty="0" err="1"/>
              <a:t>Treiblmaier</a:t>
            </a:r>
            <a:r>
              <a:rPr lang="en-US" dirty="0"/>
              <a:t>, H. (2021). The impact of blockchain on the aviation industry: Findings from a qualitative study. </a:t>
            </a:r>
            <a:r>
              <a:rPr lang="en-US" i="1" dirty="0"/>
              <a:t>Journal of Air Transport Management</a:t>
            </a:r>
            <a:r>
              <a:rPr lang="en-US" dirty="0"/>
              <a:t>, 91, 101986.</a:t>
            </a:r>
          </a:p>
          <a:p>
            <a:r>
              <a:rPr lang="en-US" dirty="0">
                <a:solidFill>
                  <a:srgbClr val="444444"/>
                </a:solidFill>
                <a:hlinkClick r:id="rId5"/>
              </a:rPr>
              <a:t>https://www.sciencedirect.com/science/article/abs/pii/S2210539521000523</a:t>
            </a:r>
            <a:endParaRPr lang="en-US" dirty="0">
              <a:solidFill>
                <a:srgbClr val="444444"/>
              </a:solidFill>
            </a:endParaRPr>
          </a:p>
          <a:p>
            <a:endParaRPr lang="en-US" dirty="0">
              <a:solidFill>
                <a:srgbClr val="444444"/>
              </a:solidFill>
            </a:endParaRPr>
          </a:p>
          <a:p>
            <a:r>
              <a:rPr lang="en-US" dirty="0"/>
              <a:t>Legacy System Integration</a:t>
            </a:r>
          </a:p>
          <a:p>
            <a:r>
              <a:rPr lang="en-US" dirty="0"/>
              <a:t>32. Aviation Cybersecurity Research Paper (SSRN):</a:t>
            </a:r>
            <a:br>
              <a:rPr lang="en-US" dirty="0">
                <a:cs typeface="+mn-lt"/>
              </a:rPr>
            </a:br>
            <a:r>
              <a:rPr lang="en-US" dirty="0"/>
              <a:t>Author(s). (2025). Aviation cybersecurity through blockchain: A technology-driven framework for secure information systems. </a:t>
            </a:r>
            <a:r>
              <a:rPr lang="en-US" i="1" dirty="0"/>
              <a:t>SSRN Electronic Journal</a:t>
            </a:r>
            <a:r>
              <a:rPr lang="en-US" dirty="0"/>
              <a:t>. Posted June 16, 2025. Retrieved from </a:t>
            </a:r>
            <a:r>
              <a:rPr lang="en-US" dirty="0">
                <a:hlinkClick r:id="rId6"/>
              </a:rPr>
              <a:t>https://papers.ssrn.com/sol3/papers.cfm?abstract_id=5294484</a:t>
            </a:r>
            <a:endParaRPr lang="en-US" dirty="0"/>
          </a:p>
          <a:p>
            <a:endParaRPr lang="en-US" dirty="0"/>
          </a:p>
          <a:p>
            <a:r>
              <a:rPr lang="en-US" dirty="0"/>
              <a:t>Privacy, Regulatory, and Standardization Challenges</a:t>
            </a:r>
          </a:p>
          <a:p>
            <a:r>
              <a:rPr lang="en-US" dirty="0"/>
              <a:t>33.  </a:t>
            </a:r>
            <a:r>
              <a:rPr lang="en-US" dirty="0" err="1"/>
              <a:t>Appinventiv</a:t>
            </a:r>
            <a:r>
              <a:rPr lang="en-US" dirty="0"/>
              <a:t> Blog Article:</a:t>
            </a:r>
            <a:br>
              <a:rPr lang="en-US" dirty="0">
                <a:cs typeface="+mn-lt"/>
              </a:rPr>
            </a:br>
            <a:r>
              <a:rPr lang="en-US" dirty="0" err="1"/>
              <a:t>Appinventiv</a:t>
            </a:r>
            <a:r>
              <a:rPr lang="en-US" dirty="0"/>
              <a:t>. (2025). How blockchain in aviation is revolutionizing the industry. </a:t>
            </a:r>
            <a:r>
              <a:rPr lang="en-US" i="1" dirty="0" err="1"/>
              <a:t>Appinventiv</a:t>
            </a:r>
            <a:r>
              <a:rPr lang="en-US" i="1" dirty="0"/>
              <a:t> Blog</a:t>
            </a:r>
            <a:r>
              <a:rPr lang="en-US" dirty="0"/>
              <a:t>. Retrieved from </a:t>
            </a:r>
            <a:r>
              <a:rPr lang="en-US" dirty="0">
                <a:hlinkClick r:id="rId7"/>
              </a:rPr>
              <a:t>https://appinventiv.com/blog/blockchain-in-aviation/</a:t>
            </a:r>
            <a:endParaRPr lang="en-US" dirty="0"/>
          </a:p>
          <a:p>
            <a:r>
              <a:rPr lang="en-US" dirty="0">
                <a:cs typeface="+mn-lt"/>
              </a:rPr>
              <a:t>34.  </a:t>
            </a:r>
            <a:r>
              <a:rPr lang="en-US" dirty="0"/>
              <a:t>Efthymiou, M., McCarthy, K., Markou, C., &amp; O'Connell, J. F. (2022). An exploratory research on blockchain in aviation: The case of maintenance, repair and overhaul (MRO) organizations. </a:t>
            </a:r>
            <a:r>
              <a:rPr lang="en-US" i="1" dirty="0"/>
              <a:t>Sustainability</a:t>
            </a:r>
            <a:r>
              <a:rPr lang="en-US" dirty="0"/>
              <a:t>, 14(5), 2643. </a:t>
            </a:r>
            <a:r>
              <a:rPr lang="en-US" dirty="0">
                <a:hlinkClick r:id="rId8"/>
              </a:rPr>
              <a:t>https://doras.dcu.ie/26831/1/sustainability-14-02643.pdf</a:t>
            </a:r>
            <a:r>
              <a:rPr lang="en-US" dirty="0"/>
              <a:t> </a:t>
            </a:r>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Industry context explains resistance beyond technology.</a:t>
            </a:r>
          </a:p>
          <a:p>
            <a:endParaRPr lang="en-US" dirty="0"/>
          </a:p>
          <a:p>
            <a:r>
              <a:rPr lang="en-US" dirty="0"/>
              <a:t>There are a number of reasons that Flight Chain has not been able to outgrow its current pilot program due to structural challenges within a highly fragmented, risk-averse global aviation industry. As IATA noted in May 2020, the aviation industry prefers to implement established safety-intensive processes rather than adopting experimental technologies (such as Blockchain) which are less proven.[35][36][37]</a:t>
            </a:r>
          </a:p>
          <a:p>
            <a:endParaRPr lang="en-US" dirty="0"/>
          </a:p>
          <a:p>
            <a:r>
              <a:rPr lang="en-US" dirty="0"/>
              <a:t>These issues are further exacerbated by a multitude of cross-border legal liability and data retention requirements; while the flight data itself crosses multiple countries, each regulatory authority has its own definition of what constitutes privileged data and therefore the necessary level of access and security required for that data.[38]</a:t>
            </a:r>
          </a:p>
          <a:p>
            <a:r>
              <a:rPr lang="en-US" dirty="0"/>
              <a:t> </a:t>
            </a:r>
          </a:p>
          <a:p>
            <a:r>
              <a:rPr lang="en-US" dirty="0"/>
              <a:t>ICAO’s Data Governance Report from 2019 highlights this growing concern; as the rules governing how immutable records will be managed continue to evolve, compliance with the requirements of GDPR’s erasure provisions will be very difficult.[38][39][40]</a:t>
            </a:r>
          </a:p>
          <a:p>
            <a:r>
              <a:rPr lang="en-US" dirty="0"/>
              <a:t> </a:t>
            </a:r>
          </a:p>
          <a:p>
            <a:r>
              <a:rPr lang="en-US" dirty="0"/>
              <a:t>The pilot program was also limited by an ongoing lack of financial incentives to encourage data </a:t>
            </a:r>
            <a:r>
              <a:rPr lang="en-US" dirty="0" err="1"/>
              <a:t>sharing.There</a:t>
            </a:r>
            <a:r>
              <a:rPr lang="en-US" dirty="0"/>
              <a:t> is a growing body of evidence (Deloitte, 2018) that most airlines continue to view their operational data as being "strategically sensitive" in nature; while the benefit of participatory / collaborative data-sharing is </a:t>
            </a:r>
            <a:r>
              <a:rPr lang="en-US" dirty="0" err="1"/>
              <a:t>realised</a:t>
            </a:r>
            <a:r>
              <a:rPr lang="en-US" dirty="0"/>
              <a:t> collectively, the burden of integrating that shared data will be borne individually, thus creating a classic coordination challenge between different airlines. To further complicate matters, there has also been no regulatory body (e.g. IATA/ICAO) that has formally mandated that aircraft operators use blockchain technology as a standard model of electronic data exchange; according to SITA’s 2021 IT Insights report, the only way for the industry to begin to move toward this model is for regulatory entities to drive towards that goal through regulation.[41][42][43]</a:t>
            </a:r>
          </a:p>
          <a:p>
            <a:r>
              <a:rPr lang="en-US" dirty="0"/>
              <a:t> </a:t>
            </a:r>
          </a:p>
          <a:p>
            <a:r>
              <a:rPr lang="en-US" dirty="0"/>
              <a:t>Airline culture has also placed limits on large-scale efforts. Eurocontrol (2020) has provided evidence that the majority of airlines continue to operate under continuous or frequent periods of disruption in their operations.[44]</a:t>
            </a:r>
          </a:p>
          <a:p>
            <a:endParaRPr lang="en-US" dirty="0"/>
          </a:p>
          <a:p>
            <a:endParaRPr lang="en-US" dirty="0"/>
          </a:p>
          <a:p>
            <a:r>
              <a:rPr lang="en-US" dirty="0">
                <a:solidFill>
                  <a:srgbClr val="000000"/>
                </a:solidFill>
              </a:rPr>
              <a:t>35. SITA. (2017). </a:t>
            </a:r>
            <a:r>
              <a:rPr lang="en-US" i="1" dirty="0" err="1">
                <a:solidFill>
                  <a:srgbClr val="000000"/>
                </a:solidFill>
              </a:rPr>
              <a:t>FlightChain</a:t>
            </a:r>
            <a:r>
              <a:rPr lang="en-US" i="1" dirty="0">
                <a:solidFill>
                  <a:srgbClr val="000000"/>
                </a:solidFill>
              </a:rPr>
              <a:t>: “Smart contracts” for shared control of data?</a:t>
            </a:r>
            <a:r>
              <a:rPr lang="en-US" dirty="0">
                <a:solidFill>
                  <a:srgbClr val="000000"/>
                </a:solidFill>
              </a:rPr>
              <a:t> SITA White Paper. </a:t>
            </a:r>
            <a:r>
              <a:rPr lang="en-US" dirty="0">
                <a:solidFill>
                  <a:srgbClr val="000000"/>
                </a:solidFill>
                <a:hlinkClick r:id="rId3"/>
              </a:rPr>
              <a:t>https://www.sita.aero/resources/White-papers/flightchain-shared-control-of-data/</a:t>
            </a:r>
            <a:r>
              <a:rPr lang="en-US" dirty="0">
                <a:solidFill>
                  <a:srgbClr val="000000"/>
                </a:solidFill>
              </a:rPr>
              <a:t> </a:t>
            </a:r>
            <a:endParaRPr lang="en-US" dirty="0"/>
          </a:p>
          <a:p>
            <a:r>
              <a:rPr lang="en-US" dirty="0">
                <a:solidFill>
                  <a:srgbClr val="000000"/>
                </a:solidFill>
              </a:rPr>
              <a:t>36. Baker, J. (2018). Blockchain: The future of flight data management? </a:t>
            </a:r>
            <a:r>
              <a:rPr lang="en-US" i="1" dirty="0">
                <a:solidFill>
                  <a:srgbClr val="000000"/>
                </a:solidFill>
              </a:rPr>
              <a:t>Airport Industry Review</a:t>
            </a:r>
            <a:r>
              <a:rPr lang="en-US" dirty="0">
                <a:solidFill>
                  <a:srgbClr val="000000"/>
                </a:solidFill>
              </a:rPr>
              <a:t>. </a:t>
            </a:r>
            <a:r>
              <a:rPr lang="en-US" dirty="0">
                <a:solidFill>
                  <a:srgbClr val="000000"/>
                </a:solidFill>
                <a:hlinkClick r:id="rId4"/>
              </a:rPr>
              <a:t>https://airport.nridigital.com/air_yearbook_2018/blockchain_the_future_of_flight_data_management</a:t>
            </a:r>
            <a:r>
              <a:rPr lang="en-US" dirty="0">
                <a:solidFill>
                  <a:srgbClr val="000000"/>
                </a:solidFill>
              </a:rPr>
              <a:t> </a:t>
            </a:r>
          </a:p>
          <a:p>
            <a:r>
              <a:rPr lang="en-US" dirty="0">
                <a:solidFill>
                  <a:srgbClr val="000000"/>
                </a:solidFill>
              </a:rPr>
              <a:t>37. International Air Transport Association (IATA). (2020). </a:t>
            </a:r>
            <a:r>
              <a:rPr lang="en-US" i="1" dirty="0">
                <a:solidFill>
                  <a:srgbClr val="000000"/>
                </a:solidFill>
              </a:rPr>
              <a:t>Annual Review 2020.</a:t>
            </a:r>
            <a:r>
              <a:rPr lang="en-US" dirty="0">
                <a:solidFill>
                  <a:srgbClr val="000000"/>
                </a:solidFill>
              </a:rPr>
              <a:t> IATA. </a:t>
            </a:r>
            <a:r>
              <a:rPr lang="en-US" dirty="0">
                <a:solidFill>
                  <a:srgbClr val="000000"/>
                </a:solidFill>
                <a:hlinkClick r:id="rId5"/>
              </a:rPr>
              <a:t>https://www.iata.org/contentassets/c81222d96c9a4e0bb4ff6ced0126f0bb/iata-annual-review-2020.pdf</a:t>
            </a:r>
            <a:r>
              <a:rPr lang="en-US" dirty="0">
                <a:solidFill>
                  <a:srgbClr val="000000"/>
                </a:solidFill>
              </a:rPr>
              <a:t> </a:t>
            </a:r>
          </a:p>
          <a:p>
            <a:r>
              <a:rPr lang="en-US" dirty="0">
                <a:solidFill>
                  <a:srgbClr val="000000"/>
                </a:solidFill>
              </a:rPr>
              <a:t>38. International Civil Aviation Organization (ICAO). (2019). </a:t>
            </a:r>
            <a:r>
              <a:rPr lang="en-US" i="1" dirty="0">
                <a:solidFill>
                  <a:srgbClr val="000000"/>
                </a:solidFill>
              </a:rPr>
              <a:t>Performance Audit Report on Data Management.</a:t>
            </a:r>
            <a:r>
              <a:rPr lang="en-US" dirty="0">
                <a:solidFill>
                  <a:srgbClr val="000000"/>
                </a:solidFill>
              </a:rPr>
              <a:t> ICAO. </a:t>
            </a:r>
            <a:r>
              <a:rPr lang="en-US" dirty="0">
                <a:solidFill>
                  <a:srgbClr val="000000"/>
                </a:solidFill>
                <a:hlinkClick r:id="rId6"/>
              </a:rPr>
              <a:t>https://www.icao.int/sites/default/files/secretariat/OfficeOfInternalOversight/Final-Oversight-Reports/Performance-Audit-Report-on-Data-Management-Public-Disclosure.pdf</a:t>
            </a:r>
            <a:r>
              <a:rPr lang="en-US" dirty="0">
                <a:solidFill>
                  <a:srgbClr val="000000"/>
                </a:solidFill>
              </a:rPr>
              <a:t> </a:t>
            </a:r>
          </a:p>
          <a:p>
            <a:r>
              <a:rPr lang="en-US" dirty="0">
                <a:solidFill>
                  <a:srgbClr val="000000"/>
                </a:solidFill>
              </a:rPr>
              <a:t>39. Information Commissioner’s Office (ICO). (2025). </a:t>
            </a:r>
            <a:r>
              <a:rPr lang="en-US" i="1" dirty="0">
                <a:solidFill>
                  <a:srgbClr val="000000"/>
                </a:solidFill>
              </a:rPr>
              <a:t>Right to erasure.</a:t>
            </a:r>
            <a:r>
              <a:rPr lang="en-US" dirty="0">
                <a:solidFill>
                  <a:srgbClr val="000000"/>
                </a:solidFill>
              </a:rPr>
              <a:t> UK Information Commissioner’s Office. </a:t>
            </a:r>
            <a:r>
              <a:rPr lang="en-US" dirty="0">
                <a:solidFill>
                  <a:srgbClr val="000000"/>
                </a:solidFill>
                <a:hlinkClick r:id="rId7"/>
              </a:rPr>
              <a:t>https://ico.org.uk/for-organisations/uk-gdpr-guidance-and-resources/individual-rights/individual-rights/right-to-erasure/</a:t>
            </a:r>
            <a:r>
              <a:rPr lang="en-US" dirty="0">
                <a:solidFill>
                  <a:srgbClr val="000000"/>
                </a:solidFill>
              </a:rPr>
              <a:t> </a:t>
            </a:r>
          </a:p>
          <a:p>
            <a:r>
              <a:rPr lang="en-US" dirty="0">
                <a:solidFill>
                  <a:srgbClr val="000000"/>
                </a:solidFill>
              </a:rPr>
              <a:t>40. European Data Protection Board (EDPB). (2019). </a:t>
            </a:r>
            <a:r>
              <a:rPr lang="en-US" i="1" dirty="0">
                <a:solidFill>
                  <a:srgbClr val="000000"/>
                </a:solidFill>
              </a:rPr>
              <a:t>Guidelines 5/2019 on the criteria of the Right to be Forgotten in the search engines cases under the GDPR.</a:t>
            </a:r>
            <a:r>
              <a:rPr lang="en-US" dirty="0">
                <a:solidFill>
                  <a:srgbClr val="000000"/>
                </a:solidFill>
              </a:rPr>
              <a:t> EDPB.</a:t>
            </a:r>
          </a:p>
          <a:p>
            <a:r>
              <a:rPr lang="en-US" dirty="0">
                <a:solidFill>
                  <a:srgbClr val="000000"/>
                </a:solidFill>
                <a:hlinkClick r:id="rId8"/>
              </a:rPr>
              <a:t>https://www.edpb.europa.eu/sites/default/files/files/file1/edpb_guidelines_201905_rtbfsearchengines_afterpublicconsultation_en.pdf</a:t>
            </a:r>
            <a:r>
              <a:rPr lang="en-US" dirty="0">
                <a:solidFill>
                  <a:srgbClr val="000000"/>
                </a:solidFill>
              </a:rPr>
              <a:t> </a:t>
            </a:r>
            <a:endParaRPr lang="en-US" dirty="0"/>
          </a:p>
          <a:p>
            <a:r>
              <a:rPr lang="en-US" dirty="0">
                <a:solidFill>
                  <a:srgbClr val="000000"/>
                </a:solidFill>
              </a:rPr>
              <a:t>41. Deloitte. (2018). </a:t>
            </a:r>
            <a:r>
              <a:rPr lang="en-US" i="1" dirty="0">
                <a:solidFill>
                  <a:srgbClr val="000000"/>
                </a:solidFill>
              </a:rPr>
              <a:t>Data‑driven process </a:t>
            </a:r>
            <a:r>
              <a:rPr lang="en-US" i="1" dirty="0" err="1">
                <a:solidFill>
                  <a:srgbClr val="000000"/>
                </a:solidFill>
              </a:rPr>
              <a:t>optimisation</a:t>
            </a:r>
            <a:r>
              <a:rPr lang="en-US" i="1" dirty="0">
                <a:solidFill>
                  <a:srgbClr val="000000"/>
                </a:solidFill>
              </a:rPr>
              <a:t> in the aviation industry</a:t>
            </a:r>
            <a:r>
              <a:rPr lang="en-US" dirty="0">
                <a:solidFill>
                  <a:srgbClr val="000000"/>
                </a:solidFill>
              </a:rPr>
              <a:t> (White paper).  </a:t>
            </a:r>
            <a:r>
              <a:rPr lang="en-US" dirty="0">
                <a:solidFill>
                  <a:srgbClr val="000000"/>
                </a:solidFill>
                <a:hlinkClick r:id="rId9"/>
              </a:rPr>
              <a:t>https://www.deloitte.com/global/en/Industries/transportation/perspectives/data-driven-process-optimization-in-the-aviation-industry.html</a:t>
            </a:r>
            <a:r>
              <a:rPr lang="en-US" dirty="0">
                <a:solidFill>
                  <a:srgbClr val="000000"/>
                </a:solidFill>
              </a:rPr>
              <a:t>  </a:t>
            </a:r>
          </a:p>
          <a:p>
            <a:r>
              <a:rPr lang="en-US" dirty="0">
                <a:solidFill>
                  <a:srgbClr val="000000"/>
                </a:solidFill>
              </a:rPr>
              <a:t>42. SITA. (2018). </a:t>
            </a:r>
            <a:r>
              <a:rPr lang="en-US" i="1" dirty="0">
                <a:solidFill>
                  <a:srgbClr val="000000"/>
                </a:solidFill>
              </a:rPr>
              <a:t>Blockchain going up the priority list for airlines and airports.</a:t>
            </a:r>
            <a:r>
              <a:rPr lang="en-US" dirty="0">
                <a:solidFill>
                  <a:srgbClr val="000000"/>
                </a:solidFill>
              </a:rPr>
              <a:t> SITA / </a:t>
            </a:r>
            <a:r>
              <a:rPr lang="en-US" i="1" dirty="0">
                <a:solidFill>
                  <a:srgbClr val="000000"/>
                </a:solidFill>
              </a:rPr>
              <a:t>Aerospace Global News</a:t>
            </a:r>
            <a:r>
              <a:rPr lang="en-US" dirty="0">
                <a:solidFill>
                  <a:srgbClr val="000000"/>
                </a:solidFill>
              </a:rPr>
              <a:t> report on the Aviation Blockchain Sandbox. </a:t>
            </a:r>
            <a:r>
              <a:rPr lang="en-US" dirty="0">
                <a:solidFill>
                  <a:srgbClr val="000000"/>
                </a:solidFill>
                <a:hlinkClick r:id="rId10"/>
              </a:rPr>
              <a:t>https://aerospaceglobalnews.com/news/blockchain-going-up-the-priority-list-for-airlines-and-airports/</a:t>
            </a:r>
            <a:r>
              <a:rPr lang="en-US" dirty="0">
                <a:solidFill>
                  <a:srgbClr val="000000"/>
                </a:solidFill>
              </a:rPr>
              <a:t> </a:t>
            </a:r>
          </a:p>
          <a:p>
            <a:r>
              <a:rPr lang="en-US" dirty="0">
                <a:solidFill>
                  <a:srgbClr val="000000"/>
                </a:solidFill>
              </a:rPr>
              <a:t>43. SITA. (2022). </a:t>
            </a:r>
            <a:r>
              <a:rPr lang="en-US" i="1" dirty="0">
                <a:solidFill>
                  <a:srgbClr val="000000"/>
                </a:solidFill>
              </a:rPr>
              <a:t>Chair’s statement 2021.</a:t>
            </a:r>
            <a:r>
              <a:rPr lang="en-US" dirty="0">
                <a:solidFill>
                  <a:srgbClr val="000000"/>
                </a:solidFill>
              </a:rPr>
              <a:t> SITA Activity Report 2021. </a:t>
            </a:r>
          </a:p>
          <a:p>
            <a:r>
              <a:rPr lang="en-US" dirty="0">
                <a:solidFill>
                  <a:srgbClr val="000000"/>
                </a:solidFill>
                <a:hlinkClick r:id="rId11"/>
              </a:rPr>
              <a:t>https://www.sita.aero/sita-activity-report-2021/executive-statements/chair-statement/</a:t>
            </a:r>
            <a:r>
              <a:rPr lang="en-US" dirty="0">
                <a:solidFill>
                  <a:srgbClr val="000000"/>
                </a:solidFill>
              </a:rPr>
              <a:t> </a:t>
            </a:r>
            <a:endParaRPr lang="en-US" dirty="0"/>
          </a:p>
          <a:p>
            <a:r>
              <a:rPr lang="en-US" dirty="0">
                <a:solidFill>
                  <a:srgbClr val="000000"/>
                </a:solidFill>
              </a:rPr>
              <a:t>44. EUROCONTROL. (2021). </a:t>
            </a:r>
            <a:r>
              <a:rPr lang="en-US" i="1" dirty="0">
                <a:solidFill>
                  <a:srgbClr val="000000"/>
                </a:solidFill>
              </a:rPr>
              <a:t>Network Operations Report 2020.</a:t>
            </a:r>
            <a:r>
              <a:rPr lang="en-US" dirty="0">
                <a:solidFill>
                  <a:srgbClr val="000000"/>
                </a:solidFill>
              </a:rPr>
              <a:t> EUROCONTROL Network Manager. </a:t>
            </a:r>
            <a:r>
              <a:rPr lang="en-US" dirty="0">
                <a:solidFill>
                  <a:srgbClr val="000000"/>
                </a:solidFill>
                <a:hlinkClick r:id="rId12"/>
              </a:rPr>
              <a:t>https://www.eurocontrol.int/sites/default/files/2021-04/eurocontrol-annual-nor-2020-main-report.pdf</a:t>
            </a:r>
            <a:r>
              <a:rPr lang="en-US" dirty="0">
                <a:solidFill>
                  <a:srgbClr val="000000"/>
                </a:solidFill>
              </a:rPr>
              <a:t> </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a:buChar char="•"/>
            </a:pPr>
            <a:r>
              <a:rPr lang="en-US" dirty="0"/>
              <a:t>Deeper Technical Comparison:-</a:t>
            </a:r>
          </a:p>
          <a:p>
            <a:endParaRPr lang="en-US" dirty="0"/>
          </a:p>
          <a:p>
            <a:r>
              <a:rPr lang="en-US" dirty="0"/>
              <a:t>The differences in the scalability of </a:t>
            </a:r>
            <a:r>
              <a:rPr lang="en-US" dirty="0" err="1"/>
              <a:t>FlightChain</a:t>
            </a:r>
            <a:r>
              <a:rPr lang="en-US" dirty="0"/>
              <a:t> and Lufthansa's Blockchain projects can be tied back to the differences in architecture driving the projects . </a:t>
            </a:r>
            <a:r>
              <a:rPr lang="en-US" dirty="0" err="1"/>
              <a:t>FlightChain</a:t>
            </a:r>
            <a:r>
              <a:rPr lang="en-US" dirty="0"/>
              <a:t> is based on a permissioned consortium ledger which facilitates the sharing of operational data ( high-volume ) in real-time among all participating airlines and airports. The need for such a system has created technical limitations due to the requirement of delay , timing , and consistency of data .As an example , one significant component of aviation operations is Flight Operations Data , which contain constantly updating information on flight scheduling and aircraft routing between airports . Because this operational information this involves movement of and between multiple stakeholders, these updates must occur in a near real-time format . Thus each update within a Permissioned Blockchain must be validated by multiple parties across nodes that may (and often do) not have the same level of availability and/or performance. As a result, the approval process is often delayed resulting in bottlenecks that prevent consensus from being achieved in a reasonable time-frame.[46]</a:t>
            </a:r>
          </a:p>
          <a:p>
            <a:endParaRPr lang="en-US" dirty="0"/>
          </a:p>
          <a:p>
            <a:r>
              <a:rPr lang="en-US" dirty="0"/>
              <a:t>Lufthansa’s blockchain trials focused, for the most part, on public and enterprise blockchains that rely upon tokens or contracts for ticketing as well as identity flow; given that high-frequency (e.g., ticketing) and immediate </a:t>
            </a:r>
            <a:r>
              <a:rPr lang="en-US" dirty="0" err="1"/>
              <a:t>synchronisation</a:t>
            </a:r>
            <a:r>
              <a:rPr lang="en-US" dirty="0"/>
              <a:t> are unnecessary in these types of transactions, real-time consensus pressure was alleviated. However, other issues arose from the volatility of transaction costs and the potential uncompensated partitioning of on- vs. off-chain data, as well as trust anchors used to verify traveler identities. For additional information about Lufthansa's distribution of flight content through the Camino Blockchain.[47] [48]</a:t>
            </a:r>
          </a:p>
          <a:p>
            <a:r>
              <a:rPr lang="en-US" b="1" dirty="0"/>
              <a:t>“Lufthansa Group PoC: Flight Content Distribution on the Camino Blockchain” (YouTube video). 2024.</a:t>
            </a:r>
          </a:p>
          <a:p>
            <a:r>
              <a:rPr lang="en-US" dirty="0">
                <a:hlinkClick r:id="rId3"/>
              </a:rPr>
              <a:t>https://youtu.be/PTAQ6azDSRM</a:t>
            </a:r>
            <a:r>
              <a:rPr lang="en-US" dirty="0"/>
              <a:t> </a:t>
            </a:r>
          </a:p>
          <a:p>
            <a:endParaRPr lang="en-US" dirty="0">
              <a:solidFill>
                <a:srgbClr val="000000"/>
              </a:solidFill>
            </a:endParaRPr>
          </a:p>
          <a:p>
            <a:r>
              <a:rPr lang="en-US" dirty="0">
                <a:solidFill>
                  <a:srgbClr val="000000"/>
                </a:solidFill>
              </a:rPr>
              <a:t>Data standards create issues for </a:t>
            </a:r>
            <a:r>
              <a:rPr lang="en-US" dirty="0" err="1">
                <a:solidFill>
                  <a:srgbClr val="000000"/>
                </a:solidFill>
              </a:rPr>
              <a:t>FlightChain</a:t>
            </a:r>
            <a:r>
              <a:rPr lang="en-US" dirty="0">
                <a:solidFill>
                  <a:srgbClr val="000000"/>
                </a:solidFill>
              </a:rPr>
              <a:t> because of the inconsistent formats airlines use to communicate with each other. Airlines use messages like SSM, ASM, etc. However, these formats are not compatible with the way </a:t>
            </a:r>
            <a:r>
              <a:rPr lang="en-US" dirty="0" err="1">
                <a:solidFill>
                  <a:srgbClr val="000000"/>
                </a:solidFill>
              </a:rPr>
              <a:t>FlightChain</a:t>
            </a:r>
            <a:r>
              <a:rPr lang="en-US" dirty="0">
                <a:solidFill>
                  <a:srgbClr val="000000"/>
                </a:solidFill>
              </a:rPr>
              <a:t> uses data. So </a:t>
            </a:r>
            <a:r>
              <a:rPr lang="en-US" dirty="0" err="1">
                <a:solidFill>
                  <a:srgbClr val="000000"/>
                </a:solidFill>
              </a:rPr>
              <a:t>FlightChain</a:t>
            </a:r>
            <a:r>
              <a:rPr lang="en-US" dirty="0">
                <a:solidFill>
                  <a:srgbClr val="000000"/>
                </a:solidFill>
              </a:rPr>
              <a:t> needed to translate from one format to another every time an airline wanted to send a message to </a:t>
            </a:r>
            <a:r>
              <a:rPr lang="en-US" dirty="0" err="1">
                <a:solidFill>
                  <a:srgbClr val="000000"/>
                </a:solidFill>
              </a:rPr>
              <a:t>FlightChain</a:t>
            </a:r>
            <a:r>
              <a:rPr lang="en-US" dirty="0">
                <a:solidFill>
                  <a:srgbClr val="000000"/>
                </a:solidFill>
              </a:rPr>
              <a:t>. Because of this process, there is a risk of schema drift and state conflicts if multiple airlines attempt to report different versions of the same event at the same time.[49]</a:t>
            </a:r>
            <a:endParaRPr lang="en-US" dirty="0"/>
          </a:p>
          <a:p>
            <a:endParaRPr lang="en-US" dirty="0">
              <a:solidFill>
                <a:srgbClr val="000000"/>
              </a:solidFill>
            </a:endParaRPr>
          </a:p>
          <a:p>
            <a:r>
              <a:rPr lang="en-US" dirty="0">
                <a:solidFill>
                  <a:srgbClr val="000000"/>
                </a:solidFill>
              </a:rPr>
              <a:t> </a:t>
            </a:r>
            <a:endParaRPr lang="en-US" dirty="0"/>
          </a:p>
          <a:p>
            <a:r>
              <a:rPr lang="en-US" dirty="0">
                <a:solidFill>
                  <a:srgbClr val="000000"/>
                </a:solidFill>
              </a:rPr>
              <a:t>In contrast, Lufthansa's system stores a transaction's details in one location (like ticket tokens and loyalty points, etc.), making it much simpler to encode in smart contracts because it has very clear rules about what states are possible for each transaction. Thus, while Lufthansa's blockchain had less complexity, but better technical stability, it suffered from network effects, such as receiving the work done by external agencies. Meanwhile, </a:t>
            </a:r>
            <a:r>
              <a:rPr lang="en-US" dirty="0" err="1">
                <a:solidFill>
                  <a:srgbClr val="000000"/>
                </a:solidFill>
              </a:rPr>
              <a:t>FlightChain</a:t>
            </a:r>
            <a:r>
              <a:rPr lang="en-US" dirty="0">
                <a:solidFill>
                  <a:srgbClr val="000000"/>
                </a:solidFill>
              </a:rPr>
              <a:t> was more complicated at the beginning stages of its development because of the nature of its data model and due to the fact that each airline had different ways of representing their transactions. For additional information, see our video covering the </a:t>
            </a:r>
          </a:p>
          <a:p>
            <a:r>
              <a:rPr lang="en-US" dirty="0">
                <a:solidFill>
                  <a:srgbClr val="000000"/>
                </a:solidFill>
              </a:rPr>
              <a:t>Lufthansa Systems blockchain hackathon. [52] </a:t>
            </a:r>
            <a:endParaRPr lang="en-US" dirty="0"/>
          </a:p>
          <a:p>
            <a:r>
              <a:rPr lang="en-US" b="1" dirty="0">
                <a:solidFill>
                  <a:srgbClr val="000000"/>
                </a:solidFill>
              </a:rPr>
              <a:t>The Lufthansa Systems blockchain hackathon.</a:t>
            </a:r>
            <a:endParaRPr lang="en-US" b="1" dirty="0"/>
          </a:p>
          <a:p>
            <a:r>
              <a:rPr lang="en-US" dirty="0">
                <a:solidFill>
                  <a:srgbClr val="000000"/>
                </a:solidFill>
                <a:hlinkClick r:id="rId4"/>
              </a:rPr>
              <a:t>https://www.youtube.com/watch?v=n3D9-WJcgis</a:t>
            </a:r>
            <a:r>
              <a:rPr lang="en-US" dirty="0">
                <a:solidFill>
                  <a:srgbClr val="000000"/>
                </a:solidFill>
              </a:rPr>
              <a:t>.</a:t>
            </a:r>
            <a:endParaRPr lang="en-US" dirty="0"/>
          </a:p>
          <a:p>
            <a:endParaRPr lang="en-US" dirty="0">
              <a:solidFill>
                <a:srgbClr val="000000"/>
              </a:solidFill>
            </a:endParaRPr>
          </a:p>
          <a:p>
            <a:r>
              <a:rPr lang="en-US" dirty="0"/>
              <a:t>Core Technical Paradox</a:t>
            </a:r>
          </a:p>
          <a:p>
            <a:endParaRPr lang="en-US" dirty="0">
              <a:solidFill>
                <a:srgbClr val="000000"/>
              </a:solidFill>
            </a:endParaRPr>
          </a:p>
          <a:p>
            <a:r>
              <a:rPr lang="en-US" dirty="0">
                <a:solidFill>
                  <a:srgbClr val="000000"/>
                </a:solidFill>
              </a:rPr>
              <a:t>The tension surrounding blockchain technology in aviation is not an isolated issue, but rather is a byproduct of inherent incompatibility between the static consensus model of blockchain and the fluidity of the industry and its operational realities (e.g., constant updates to ticketing rules, changes in passenger identification) that necessitate the need for dynamic mutability as well as immutability (i.e., traceability). Lufthansa is facing similar technical issues as those highlighted by the British Airways example. These examples demonstrate that the technical challenges of integrating blockchain into aviation are representative of a much larger architectural problem within the entire aviation industry (due to the multiple authorities involved with maintaining aviation's rapidly changing multi-source/multi-system environment).[53][54]</a:t>
            </a:r>
          </a:p>
          <a:p>
            <a:r>
              <a:rPr lang="en-US" b="1" dirty="0">
                <a:solidFill>
                  <a:srgbClr val="000000"/>
                </a:solidFill>
              </a:rPr>
              <a:t>"Lufthansa’s Steffen Boller shares the airlines’ blockchain loyalty strategy”</a:t>
            </a:r>
            <a:r>
              <a:rPr lang="en-US" dirty="0">
                <a:solidFill>
                  <a:srgbClr val="000000"/>
                </a:solidFill>
              </a:rPr>
              <a:t> – 51 Insights podcast episode on Lufthansa’s </a:t>
            </a:r>
            <a:r>
              <a:rPr lang="en-US" dirty="0" err="1">
                <a:solidFill>
                  <a:srgbClr val="000000"/>
                </a:solidFill>
              </a:rPr>
              <a:t>Uptrip</a:t>
            </a:r>
            <a:r>
              <a:rPr lang="en-US" dirty="0">
                <a:solidFill>
                  <a:srgbClr val="000000"/>
                </a:solidFill>
              </a:rPr>
              <a:t> Web3 loyalty program.  </a:t>
            </a:r>
            <a:r>
              <a:rPr lang="en-US" dirty="0">
                <a:solidFill>
                  <a:srgbClr val="000000"/>
                </a:solidFill>
                <a:hlinkClick r:id="rId5"/>
              </a:rPr>
              <a:t>https://www.youtube.com/watch?v=Zn96NDdIFps</a:t>
            </a:r>
            <a:r>
              <a:rPr lang="en-US" dirty="0">
                <a:solidFill>
                  <a:srgbClr val="000000"/>
                </a:solidFill>
              </a:rPr>
              <a:t> </a:t>
            </a:r>
            <a:endParaRPr lang="en-US" dirty="0"/>
          </a:p>
          <a:p>
            <a:endParaRPr lang="en-US" dirty="0">
              <a:solidFill>
                <a:srgbClr val="000000"/>
              </a:solidFill>
            </a:endParaRPr>
          </a:p>
          <a:p>
            <a:r>
              <a:rPr lang="en-US" dirty="0">
                <a:solidFill>
                  <a:srgbClr val="212529"/>
                </a:solidFill>
                <a:highlight>
                  <a:srgbClr val="FFFFFF"/>
                </a:highlight>
              </a:rPr>
              <a:t>45. </a:t>
            </a:r>
            <a:r>
              <a:rPr lang="en-US" b="1" dirty="0">
                <a:solidFill>
                  <a:srgbClr val="000000"/>
                </a:solidFill>
                <a:highlight>
                  <a:srgbClr val="FFFFFF"/>
                </a:highlight>
              </a:rPr>
              <a:t>“Lufthansa Group PoC: Flight Content Distribution on the Camino Blockchain” (YouTube video). 2024.</a:t>
            </a:r>
            <a:endParaRPr lang="en-US" dirty="0">
              <a:solidFill>
                <a:srgbClr val="444444"/>
              </a:solidFill>
              <a:highlight>
                <a:srgbClr val="FFFFFF"/>
              </a:highlight>
            </a:endParaRPr>
          </a:p>
          <a:p>
            <a:r>
              <a:rPr lang="en-US" dirty="0">
                <a:solidFill>
                  <a:srgbClr val="444444"/>
                </a:solidFill>
                <a:highlight>
                  <a:srgbClr val="FFFFFF"/>
                </a:highlight>
                <a:hlinkClick r:id="rId3"/>
              </a:rPr>
              <a:t>https://youtu.be/PTAQ6azDSRM</a:t>
            </a:r>
            <a:r>
              <a:rPr lang="en-US" dirty="0">
                <a:solidFill>
                  <a:srgbClr val="000000"/>
                </a:solidFill>
                <a:highlight>
                  <a:srgbClr val="FFFFFF"/>
                </a:highlight>
              </a:rPr>
              <a:t> </a:t>
            </a:r>
            <a:endParaRPr lang="en-US" dirty="0">
              <a:solidFill>
                <a:srgbClr val="444444"/>
              </a:solidFill>
              <a:highlight>
                <a:srgbClr val="FFFFFF"/>
              </a:highlight>
            </a:endParaRPr>
          </a:p>
          <a:p>
            <a:r>
              <a:rPr lang="en-US" dirty="0">
                <a:solidFill>
                  <a:srgbClr val="212529"/>
                </a:solidFill>
                <a:highlight>
                  <a:srgbClr val="FFFFFF"/>
                </a:highlight>
              </a:rPr>
              <a:t>46. Bajaj, K., &amp; Bala, M. </a:t>
            </a:r>
            <a:r>
              <a:rPr lang="en-US" i="1" dirty="0">
                <a:solidFill>
                  <a:srgbClr val="212529"/>
                </a:solidFill>
                <a:highlight>
                  <a:srgbClr val="FFFFFF"/>
                </a:highlight>
              </a:rPr>
              <a:t>Blockchain in the Tourism Industry: A New Era of Secure and Transparent Travel Solutions</a:t>
            </a:r>
            <a:r>
              <a:rPr lang="en-US" dirty="0">
                <a:solidFill>
                  <a:srgbClr val="212529"/>
                </a:solidFill>
                <a:highlight>
                  <a:srgbClr val="FFFFFF"/>
                </a:highlight>
              </a:rPr>
              <a:t>. Springer.</a:t>
            </a:r>
          </a:p>
          <a:p>
            <a:r>
              <a:rPr lang="en-US" dirty="0">
                <a:solidFill>
                  <a:srgbClr val="212529"/>
                </a:solidFill>
                <a:highlight>
                  <a:srgbClr val="FFFFFF"/>
                </a:highlight>
              </a:rPr>
              <a:t> </a:t>
            </a:r>
            <a:r>
              <a:rPr lang="en-US" dirty="0">
                <a:solidFill>
                  <a:srgbClr val="212529"/>
                </a:solidFill>
                <a:highlight>
                  <a:srgbClr val="FFFFFF"/>
                </a:highlight>
                <a:hlinkClick r:id="rId6"/>
              </a:rPr>
              <a:t>https://www.springerprofessional.de/en/blockchain-in-the-tourism-industry-a-new-era-of-secure-and-trans/51283202</a:t>
            </a:r>
            <a:r>
              <a:rPr lang="en-US" dirty="0">
                <a:solidFill>
                  <a:srgbClr val="212529"/>
                </a:solidFill>
                <a:highlight>
                  <a:srgbClr val="FFFFFF"/>
                </a:highlight>
              </a:rPr>
              <a:t> </a:t>
            </a:r>
            <a:endParaRPr lang="en-US" dirty="0"/>
          </a:p>
          <a:p>
            <a:r>
              <a:rPr lang="en-US" dirty="0">
                <a:solidFill>
                  <a:srgbClr val="212529"/>
                </a:solidFill>
                <a:highlight>
                  <a:srgbClr val="FFFFFF"/>
                </a:highlight>
              </a:rPr>
              <a:t>47. Lufthansa Industry Solutions. “Generating More Transparency in Aviation with Blockchain Technology (BC4A Initiative)."</a:t>
            </a:r>
          </a:p>
          <a:p>
            <a:r>
              <a:rPr lang="en-US" dirty="0">
                <a:solidFill>
                  <a:srgbClr val="212529"/>
                </a:solidFill>
                <a:highlight>
                  <a:srgbClr val="FFFFFF"/>
                </a:highlight>
                <a:hlinkClick r:id="rId7"/>
              </a:rPr>
              <a:t>https://www.lufthansa-industry-solutions.com/de-en/solutions-products/aviation/generating-more-transparency-in-aviation-with-blockchain-technology</a:t>
            </a:r>
            <a:endParaRPr lang="en-US" dirty="0"/>
          </a:p>
          <a:p>
            <a:r>
              <a:rPr lang="en-US" dirty="0">
                <a:solidFill>
                  <a:srgbClr val="212529"/>
                </a:solidFill>
                <a:highlight>
                  <a:srgbClr val="FFFFFF"/>
                </a:highlight>
              </a:rPr>
              <a:t> 48. </a:t>
            </a:r>
            <a:r>
              <a:rPr lang="en-US" dirty="0" err="1">
                <a:solidFill>
                  <a:srgbClr val="212529"/>
                </a:solidFill>
                <a:highlight>
                  <a:srgbClr val="FFFFFF"/>
                </a:highlight>
              </a:rPr>
              <a:t>Universidade</a:t>
            </a:r>
            <a:r>
              <a:rPr lang="en-US" dirty="0">
                <a:solidFill>
                  <a:srgbClr val="212529"/>
                </a:solidFill>
                <a:highlight>
                  <a:srgbClr val="FFFFFF"/>
                </a:highlight>
              </a:rPr>
              <a:t> Católica Portuguesa Repository.</a:t>
            </a:r>
            <a:br>
              <a:rPr lang="en-US" dirty="0">
                <a:highlight>
                  <a:srgbClr val="FFFFFF"/>
                </a:highlight>
                <a:cs typeface="+mn-lt"/>
              </a:rPr>
            </a:br>
            <a:r>
              <a:rPr lang="en-US" dirty="0">
                <a:solidFill>
                  <a:srgbClr val="212529"/>
                </a:solidFill>
                <a:highlight>
                  <a:srgbClr val="FFFFFF"/>
                </a:highlight>
              </a:rPr>
              <a:t>Link: </a:t>
            </a:r>
            <a:r>
              <a:rPr lang="en-US" u="sng" dirty="0">
                <a:solidFill>
                  <a:srgbClr val="212529"/>
                </a:solidFill>
                <a:highlight>
                  <a:srgbClr val="FFFFFF"/>
                </a:highlight>
                <a:hlinkClick r:id="rId8"/>
              </a:rPr>
              <a:t>https://repositorio.ucp.pt/server/api/core/bitstreams/8c5018b5-8c6e-49e3-b06d-385358806946/content</a:t>
            </a:r>
            <a:endParaRPr lang="en-US" dirty="0"/>
          </a:p>
          <a:p>
            <a:r>
              <a:rPr lang="en-US" dirty="0">
                <a:solidFill>
                  <a:srgbClr val="212529"/>
                </a:solidFill>
                <a:highlight>
                  <a:srgbClr val="FFFFFF"/>
                </a:highlight>
              </a:rPr>
              <a:t>49. Yahoo Finance. “Lufthansa Announces Global Blockchain Challenge for the Aviation Industry.”</a:t>
            </a:r>
            <a:br>
              <a:rPr lang="en-US" dirty="0">
                <a:highlight>
                  <a:srgbClr val="FFFFFF"/>
                </a:highlight>
                <a:cs typeface="+mn-lt"/>
              </a:rPr>
            </a:br>
            <a:r>
              <a:rPr lang="en-US" dirty="0">
                <a:solidFill>
                  <a:srgbClr val="212529"/>
                </a:solidFill>
                <a:highlight>
                  <a:srgbClr val="FFFFFF"/>
                </a:highlight>
              </a:rPr>
              <a:t>Link: </a:t>
            </a:r>
            <a:r>
              <a:rPr lang="en-US" u="sng" dirty="0">
                <a:solidFill>
                  <a:srgbClr val="212529"/>
                </a:solidFill>
                <a:highlight>
                  <a:srgbClr val="FFFFFF"/>
                </a:highlight>
                <a:hlinkClick r:id="rId9"/>
              </a:rPr>
              <a:t>https://au.finance.yahoo.com/news/lufthansa-announces-global-blockchain-challenge-113420763.html</a:t>
            </a:r>
            <a:endParaRPr lang="en-US" dirty="0"/>
          </a:p>
          <a:p>
            <a:r>
              <a:rPr lang="en-US" b="1" dirty="0">
                <a:solidFill>
                  <a:srgbClr val="000000"/>
                </a:solidFill>
                <a:highlight>
                  <a:srgbClr val="FFFFFF"/>
                </a:highlight>
              </a:rPr>
              <a:t>50. The Lufthansa Systems blockchain hackathon.</a:t>
            </a:r>
            <a:endParaRPr lang="en-US" dirty="0">
              <a:solidFill>
                <a:srgbClr val="444444"/>
              </a:solidFill>
              <a:highlight>
                <a:srgbClr val="FFFFFF"/>
              </a:highlight>
            </a:endParaRPr>
          </a:p>
          <a:p>
            <a:r>
              <a:rPr lang="en-US" dirty="0">
                <a:solidFill>
                  <a:srgbClr val="444444"/>
                </a:solidFill>
                <a:highlight>
                  <a:srgbClr val="FFFFFF"/>
                </a:highlight>
                <a:hlinkClick r:id="rId4"/>
              </a:rPr>
              <a:t>https://www.youtube.com/watch?v=n3D9-WJcgis</a:t>
            </a:r>
            <a:r>
              <a:rPr lang="en-US" dirty="0">
                <a:solidFill>
                  <a:srgbClr val="000000"/>
                </a:solidFill>
                <a:highlight>
                  <a:srgbClr val="FFFFFF"/>
                </a:highlight>
              </a:rPr>
              <a:t>.</a:t>
            </a:r>
            <a:endParaRPr lang="en-US" dirty="0">
              <a:solidFill>
                <a:srgbClr val="444444"/>
              </a:solidFill>
              <a:highlight>
                <a:srgbClr val="FFFFFF"/>
              </a:highlight>
            </a:endParaRPr>
          </a:p>
          <a:p>
            <a:r>
              <a:rPr lang="en-US" u="sng" dirty="0">
                <a:solidFill>
                  <a:srgbClr val="212529"/>
                </a:solidFill>
                <a:highlight>
                  <a:srgbClr val="FFFFFF"/>
                </a:highlight>
              </a:rPr>
              <a:t>51. </a:t>
            </a:r>
            <a:r>
              <a:rPr lang="en-US" b="1" dirty="0">
                <a:solidFill>
                  <a:srgbClr val="000000"/>
                </a:solidFill>
                <a:highlight>
                  <a:srgbClr val="FFFFFF"/>
                </a:highlight>
              </a:rPr>
              <a:t>Lufthansa’s Steffen Boller shares the airlines’ blockchain loyalty strategy”</a:t>
            </a:r>
            <a:r>
              <a:rPr lang="en-US" dirty="0">
                <a:solidFill>
                  <a:srgbClr val="000000"/>
                </a:solidFill>
                <a:highlight>
                  <a:srgbClr val="FFFFFF"/>
                </a:highlight>
              </a:rPr>
              <a:t> – 51 Insights podcast episode on Lufthansa’s </a:t>
            </a:r>
            <a:r>
              <a:rPr lang="en-US" dirty="0" err="1">
                <a:solidFill>
                  <a:srgbClr val="000000"/>
                </a:solidFill>
                <a:highlight>
                  <a:srgbClr val="FFFFFF"/>
                </a:highlight>
              </a:rPr>
              <a:t>Uptrip</a:t>
            </a:r>
            <a:r>
              <a:rPr lang="en-US" dirty="0">
                <a:solidFill>
                  <a:srgbClr val="000000"/>
                </a:solidFill>
                <a:highlight>
                  <a:srgbClr val="FFFFFF"/>
                </a:highlight>
              </a:rPr>
              <a:t> Web3 loyalty program.  </a:t>
            </a:r>
            <a:r>
              <a:rPr lang="en-US" dirty="0">
                <a:solidFill>
                  <a:srgbClr val="212529"/>
                </a:solidFill>
                <a:highlight>
                  <a:srgbClr val="FFFFFF"/>
                </a:highlight>
                <a:hlinkClick r:id="rId5"/>
              </a:rPr>
              <a:t>https://www.youtube.com/watch?v=Zn96NDdIFps</a:t>
            </a:r>
            <a:r>
              <a:rPr lang="en-US" dirty="0">
                <a:solidFill>
                  <a:srgbClr val="000000"/>
                </a:solidFill>
                <a:highlight>
                  <a:srgbClr val="FFFFFF"/>
                </a:highlight>
              </a:rPr>
              <a:t> </a:t>
            </a:r>
          </a:p>
          <a:p>
            <a:r>
              <a:rPr lang="en-US" dirty="0">
                <a:solidFill>
                  <a:srgbClr val="212529"/>
                </a:solidFill>
                <a:highlight>
                  <a:srgbClr val="FFFFFF"/>
                </a:highlight>
              </a:rPr>
              <a:t>52. Hesselbarth, C., et al. “The impact of blockchain on the aviation industry: Findings from a qualitative study.” </a:t>
            </a:r>
            <a:r>
              <a:rPr lang="en-US" i="1" dirty="0">
                <a:solidFill>
                  <a:srgbClr val="212529"/>
                </a:solidFill>
                <a:highlight>
                  <a:srgbClr val="FFFFFF"/>
                </a:highlight>
              </a:rPr>
              <a:t>Journal of Air Transport Management</a:t>
            </a:r>
            <a:r>
              <a:rPr lang="en-US" dirty="0">
                <a:solidFill>
                  <a:srgbClr val="212529"/>
                </a:solidFill>
                <a:highlight>
                  <a:srgbClr val="FFFFFF"/>
                </a:highlight>
              </a:rPr>
              <a:t> (2021).</a:t>
            </a:r>
            <a:br>
              <a:rPr lang="en-US" dirty="0">
                <a:highlight>
                  <a:srgbClr val="FFFFFF"/>
                </a:highlight>
                <a:cs typeface="+mn-lt"/>
              </a:rPr>
            </a:br>
            <a:r>
              <a:rPr lang="en-US" dirty="0">
                <a:solidFill>
                  <a:srgbClr val="212529"/>
                </a:solidFill>
                <a:highlight>
                  <a:srgbClr val="FFFFFF"/>
                </a:highlight>
              </a:rPr>
              <a:t>Link: </a:t>
            </a:r>
            <a:r>
              <a:rPr lang="en-US" dirty="0">
                <a:solidFill>
                  <a:srgbClr val="212529"/>
                </a:solidFill>
                <a:highlight>
                  <a:srgbClr val="FFFFFF"/>
                </a:highlight>
                <a:hlinkClick r:id="rId10"/>
              </a:rPr>
              <a:t>https://www.sciencedirect.com/science/article/abs/pii/S2210539521000523</a:t>
            </a:r>
            <a:endParaRPr lang="en-US" dirty="0"/>
          </a:p>
          <a:p>
            <a:r>
              <a:rPr lang="en-US" dirty="0">
                <a:solidFill>
                  <a:srgbClr val="212529"/>
                </a:solidFill>
                <a:highlight>
                  <a:srgbClr val="FFFFFF"/>
                </a:highlight>
              </a:rPr>
              <a:t>53. Amadeus. “Amadeus to support EU Digital ID Wallet, simplifying travel in Europe” (Lufthansa and EU Digital Identity Wallet pilot).</a:t>
            </a:r>
            <a:br>
              <a:rPr lang="en-US" dirty="0">
                <a:highlight>
                  <a:srgbClr val="FFFFFF"/>
                </a:highlight>
                <a:cs typeface="+mn-lt"/>
              </a:rPr>
            </a:br>
            <a:r>
              <a:rPr lang="en-US" dirty="0">
                <a:solidFill>
                  <a:srgbClr val="212529"/>
                </a:solidFill>
                <a:highlight>
                  <a:srgbClr val="FFFFFF"/>
                </a:highlight>
              </a:rPr>
              <a:t>Link: </a:t>
            </a:r>
            <a:r>
              <a:rPr lang="en-US" dirty="0">
                <a:solidFill>
                  <a:srgbClr val="212529"/>
                </a:solidFill>
                <a:highlight>
                  <a:srgbClr val="FFFFFF"/>
                </a:highlight>
                <a:hlinkClick r:id="rId11"/>
              </a:rPr>
              <a:t>https://amadeus.com/en/newsroom/press-releases/amadeus-lufthansa-eu-digital-identity-wallet</a:t>
            </a:r>
            <a:endParaRPr lang="en-US" dirty="0"/>
          </a:p>
          <a:p>
            <a:r>
              <a:rPr lang="en-US" dirty="0">
                <a:solidFill>
                  <a:srgbClr val="212529"/>
                </a:solidFill>
                <a:highlight>
                  <a:srgbClr val="FFFFFF"/>
                </a:highlight>
              </a:rPr>
              <a:t>54. </a:t>
            </a:r>
            <a:r>
              <a:rPr lang="en-US" dirty="0" err="1">
                <a:solidFill>
                  <a:srgbClr val="212529"/>
                </a:solidFill>
                <a:highlight>
                  <a:srgbClr val="FFFFFF"/>
                </a:highlight>
              </a:rPr>
              <a:t>rXiv</a:t>
            </a:r>
            <a:r>
              <a:rPr lang="en-US" dirty="0">
                <a:solidFill>
                  <a:srgbClr val="212529"/>
                </a:solidFill>
                <a:highlight>
                  <a:srgbClr val="FFFFFF"/>
                </a:highlight>
              </a:rPr>
              <a:t>. </a:t>
            </a:r>
            <a:r>
              <a:rPr lang="en-US" i="1" dirty="0">
                <a:solidFill>
                  <a:srgbClr val="212529"/>
                </a:solidFill>
                <a:highlight>
                  <a:srgbClr val="FFFFFF"/>
                </a:highlight>
              </a:rPr>
              <a:t>[Technical paper on blockchain / aviation, arXiv:2410.14518]</a:t>
            </a:r>
            <a:r>
              <a:rPr lang="en-US" dirty="0">
                <a:solidFill>
                  <a:srgbClr val="212529"/>
                </a:solidFill>
                <a:highlight>
                  <a:srgbClr val="FFFFFF"/>
                </a:highlight>
              </a:rPr>
              <a:t> (exact title visible on PDF page).</a:t>
            </a:r>
            <a:br>
              <a:rPr lang="en-US" dirty="0">
                <a:highlight>
                  <a:srgbClr val="FFFFFF"/>
                </a:highlight>
                <a:cs typeface="+mn-lt"/>
              </a:rPr>
            </a:br>
            <a:r>
              <a:rPr lang="en-US" dirty="0">
                <a:solidFill>
                  <a:srgbClr val="212529"/>
                </a:solidFill>
                <a:highlight>
                  <a:srgbClr val="FFFFFF"/>
                </a:highlight>
              </a:rPr>
              <a:t>Link: </a:t>
            </a:r>
            <a:r>
              <a:rPr lang="en-US" dirty="0">
                <a:solidFill>
                  <a:srgbClr val="212529"/>
                </a:solidFill>
                <a:highlight>
                  <a:srgbClr val="FFFFFF"/>
                </a:highlight>
                <a:hlinkClick r:id="rId12"/>
              </a:rPr>
              <a:t>https://arxiv.org/pdf/2410.14518.pdf</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b="1" dirty="0" err="1"/>
              <a:t>FlightChain</a:t>
            </a:r>
            <a:r>
              <a:rPr lang="en-US" b="1" dirty="0"/>
              <a:t> vs. IATA ONE Record</a:t>
            </a:r>
          </a:p>
          <a:p>
            <a:endParaRPr lang="en-US" b="1" dirty="0"/>
          </a:p>
          <a:p>
            <a:r>
              <a:rPr lang="en-US" dirty="0" err="1"/>
              <a:t>FlightChain</a:t>
            </a:r>
            <a:r>
              <a:rPr lang="en-US" dirty="0"/>
              <a:t> and IATA's ONE Record have very different strategies regarding the evolution of aviation data exchange. </a:t>
            </a:r>
            <a:r>
              <a:rPr lang="en-US" dirty="0" err="1"/>
              <a:t>FlightChain</a:t>
            </a:r>
            <a:r>
              <a:rPr lang="en-US" dirty="0"/>
              <a:t> took a technology-first approach to building an operating data ecosystem via a distributed ledger based on a permissioned blockchain. The challenges of operating a </a:t>
            </a:r>
            <a:r>
              <a:rPr lang="en-US" dirty="0" err="1"/>
              <a:t>decentralised</a:t>
            </a:r>
            <a:r>
              <a:rPr lang="en-US" dirty="0"/>
              <a:t> ecosystem were primarily due to the need for coordination across numerous stakeholders, the different types of data many stakeholders have been using, and the time it takes to agree on a given state as to which parties have contributed to a record created on the blockchain. [55][56]</a:t>
            </a:r>
          </a:p>
          <a:p>
            <a:r>
              <a:rPr lang="en-US" dirty="0"/>
              <a:t>In contrast, ONE Record used a standards-first approach to define what information was needed for aviation data exchange, and how to </a:t>
            </a:r>
            <a:r>
              <a:rPr lang="en-US" dirty="0" err="1"/>
              <a:t>standardise</a:t>
            </a:r>
            <a:r>
              <a:rPr lang="en-US" dirty="0"/>
              <a:t> each piece of information in order for it to be used with any other piece of information, and how to build an API for that requirement. By taking this approach, IATA has enabled a much less disruptive transition to a standards-based approach and provided a clear governance model to the industry under IATA's authority, and has taken a more measured approach for introducing blockchain technology to the industry than </a:t>
            </a:r>
            <a:r>
              <a:rPr lang="en-US" dirty="0" err="1"/>
              <a:t>FlightChain</a:t>
            </a:r>
            <a:r>
              <a:rPr lang="en-US" dirty="0"/>
              <a:t> has taken. [55] [57]</a:t>
            </a:r>
          </a:p>
          <a:p>
            <a:r>
              <a:rPr lang="en-US" dirty="0"/>
              <a:t>As such, the adoption rate of ONE Record indicates that in order to be successful in the aviation industry, there is a preference for a </a:t>
            </a:r>
            <a:r>
              <a:rPr lang="en-US" dirty="0" err="1"/>
              <a:t>modularised</a:t>
            </a:r>
            <a:r>
              <a:rPr lang="en-US" dirty="0"/>
              <a:t> </a:t>
            </a:r>
            <a:r>
              <a:rPr lang="en-US" dirty="0" err="1"/>
              <a:t>standardised</a:t>
            </a:r>
            <a:r>
              <a:rPr lang="en-US" dirty="0"/>
              <a:t> framework that correlates well with both operational realities in the aviation industry and the regulatory culture of the industry.[58]</a:t>
            </a:r>
          </a:p>
          <a:p>
            <a:endParaRPr lang="en-US" dirty="0">
              <a:solidFill>
                <a:srgbClr val="000000"/>
              </a:solidFill>
            </a:endParaRPr>
          </a:p>
          <a:p>
            <a:r>
              <a:rPr lang="en-US" dirty="0">
                <a:solidFill>
                  <a:srgbClr val="000000"/>
                </a:solidFill>
              </a:rPr>
              <a:t>55. Baker, J. (2018). </a:t>
            </a:r>
            <a:r>
              <a:rPr lang="en-US" i="1" dirty="0">
                <a:solidFill>
                  <a:srgbClr val="000000"/>
                </a:solidFill>
              </a:rPr>
              <a:t>Blockchain: the future of flight data management?</a:t>
            </a:r>
            <a:r>
              <a:rPr lang="en-US" dirty="0">
                <a:solidFill>
                  <a:srgbClr val="000000"/>
                </a:solidFill>
              </a:rPr>
              <a:t> Airport Industry Review, Yearbook 2018. .: </a:t>
            </a:r>
            <a:r>
              <a:rPr lang="en-US" dirty="0">
                <a:solidFill>
                  <a:srgbClr val="000000"/>
                </a:solidFill>
                <a:hlinkClick r:id="rId3"/>
              </a:rPr>
              <a:t>https://airport.nridigital.com/air_yearbook_2018/blockchain_the_future_of_flight_data_management</a:t>
            </a:r>
            <a:endParaRPr lang="en-US" dirty="0"/>
          </a:p>
          <a:p>
            <a:r>
              <a:rPr lang="en-US" dirty="0">
                <a:solidFill>
                  <a:srgbClr val="000000"/>
                </a:solidFill>
              </a:rPr>
              <a:t>56. </a:t>
            </a:r>
            <a:r>
              <a:rPr lang="en-US" dirty="0" err="1">
                <a:solidFill>
                  <a:srgbClr val="000000"/>
                </a:solidFill>
              </a:rPr>
              <a:t>FinanceFeeds</a:t>
            </a:r>
            <a:r>
              <a:rPr lang="en-US" dirty="0">
                <a:solidFill>
                  <a:srgbClr val="000000"/>
                </a:solidFill>
              </a:rPr>
              <a:t>. (n.d.). </a:t>
            </a:r>
            <a:r>
              <a:rPr lang="en-US" i="1" dirty="0">
                <a:solidFill>
                  <a:srgbClr val="000000"/>
                </a:solidFill>
              </a:rPr>
              <a:t>Blockchain flight records: the future of aircraft data management.</a:t>
            </a:r>
            <a:r>
              <a:rPr lang="en-US" dirty="0">
                <a:solidFill>
                  <a:srgbClr val="000000"/>
                </a:solidFill>
              </a:rPr>
              <a:t> .: </a:t>
            </a:r>
            <a:r>
              <a:rPr lang="en-US" dirty="0">
                <a:solidFill>
                  <a:srgbClr val="000000"/>
                </a:solidFill>
                <a:hlinkClick r:id="rId4"/>
              </a:rPr>
              <a:t>https://financefeeds.com/blockchain-flight-records-future-of-aircraft-data/</a:t>
            </a:r>
            <a:endParaRPr lang="en-US" dirty="0">
              <a:solidFill>
                <a:srgbClr val="000000"/>
              </a:solidFill>
            </a:endParaRPr>
          </a:p>
          <a:p>
            <a:r>
              <a:rPr lang="en-US" dirty="0">
                <a:solidFill>
                  <a:srgbClr val="000000"/>
                </a:solidFill>
              </a:rPr>
              <a:t>57. Airport Benchmarking. (2018). </a:t>
            </a:r>
            <a:r>
              <a:rPr lang="en-US" i="1" dirty="0">
                <a:solidFill>
                  <a:srgbClr val="000000"/>
                </a:solidFill>
              </a:rPr>
              <a:t>Blockchain flight data experiment results revealed by SITA.</a:t>
            </a:r>
            <a:r>
              <a:rPr lang="en-US" dirty="0">
                <a:solidFill>
                  <a:srgbClr val="000000"/>
                </a:solidFill>
              </a:rPr>
              <a:t> .: </a:t>
            </a:r>
            <a:r>
              <a:rPr lang="en-US" dirty="0">
                <a:solidFill>
                  <a:srgbClr val="000000"/>
                </a:solidFill>
                <a:hlinkClick r:id="rId5"/>
              </a:rPr>
              <a:t>https://www.airportbenchmarking.com/blockchain-flight-data-experiment-results-revealed-by-sita/</a:t>
            </a:r>
            <a:endParaRPr lang="en-US" dirty="0">
              <a:solidFill>
                <a:srgbClr val="000000"/>
              </a:solidFill>
            </a:endParaRPr>
          </a:p>
          <a:p>
            <a:r>
              <a:rPr lang="en-US" dirty="0">
                <a:solidFill>
                  <a:srgbClr val="000000"/>
                </a:solidFill>
              </a:rPr>
              <a:t>58. DAC Beachcroft. (2018). </a:t>
            </a:r>
            <a:r>
              <a:rPr lang="en-US" i="1" dirty="0">
                <a:solidFill>
                  <a:srgbClr val="000000"/>
                </a:solidFill>
              </a:rPr>
              <a:t>Cleared for take-off: blockchain in aviation.</a:t>
            </a:r>
            <a:r>
              <a:rPr lang="en-US" dirty="0">
                <a:solidFill>
                  <a:srgbClr val="000000"/>
                </a:solidFill>
              </a:rPr>
              <a:t> .: </a:t>
            </a:r>
            <a:r>
              <a:rPr lang="en-US" dirty="0">
                <a:solidFill>
                  <a:srgbClr val="000000"/>
                </a:solidFill>
                <a:hlinkClick r:id="rId6"/>
              </a:rPr>
              <a:t>https://www.dacbeachcroft.com/en/What-we-think/Cleared-for-take-off-blockchain-in-aviation</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a:buChar char="•"/>
            </a:pPr>
            <a:r>
              <a:rPr lang="en-US" b="1" dirty="0"/>
              <a:t>What Makes </a:t>
            </a:r>
            <a:r>
              <a:rPr lang="en-US" b="1" dirty="0" err="1"/>
              <a:t>FlightChain</a:t>
            </a:r>
            <a:r>
              <a:rPr lang="en-US" b="1" dirty="0"/>
              <a:t> Distinctive</a:t>
            </a:r>
          </a:p>
          <a:p>
            <a:endParaRPr lang="en-US" b="1" dirty="0"/>
          </a:p>
          <a:p>
            <a:r>
              <a:rPr lang="en-US" dirty="0" err="1"/>
              <a:t>FlightChain</a:t>
            </a:r>
            <a:r>
              <a:rPr lang="en-US" dirty="0"/>
              <a:t> as a Real-Time Arbitration Engine:-</a:t>
            </a:r>
          </a:p>
          <a:p>
            <a:r>
              <a:rPr lang="en-US" dirty="0"/>
              <a:t>  </a:t>
            </a:r>
            <a:r>
              <a:rPr lang="en-US" dirty="0" err="1"/>
              <a:t>FlightChain</a:t>
            </a:r>
            <a:r>
              <a:rPr lang="en-US" dirty="0"/>
              <a:t> </a:t>
            </a:r>
            <a:r>
              <a:rPr lang="en-US" dirty="0" err="1"/>
              <a:t>distinguishess</a:t>
            </a:r>
            <a:r>
              <a:rPr lang="en-US" dirty="0"/>
              <a:t> itself by utilizing the blockchain as a real-time arbitration engine, allowing for the use of smart contracts that independently evaluated and resolved conflicting operational data input sources. This has been important in the flight industry where there are frequently unresolved conflicts, for instance, with gate assignments, estimated delays and arrival information. Unlike other systems which simply overwrite previous data with the latest version, </a:t>
            </a:r>
            <a:r>
              <a:rPr lang="en-US" dirty="0" err="1"/>
              <a:t>FlightChain</a:t>
            </a:r>
            <a:r>
              <a:rPr lang="en-US" dirty="0"/>
              <a:t> retained historical records of all conflicting data and provided a logical framework for structured reconciliation and transparent decision making. While testing this system with British Airways, Heathrow, Geneva Airport and Miami International Airport, </a:t>
            </a:r>
            <a:r>
              <a:rPr lang="en-US" dirty="0" err="1"/>
              <a:t>FlightChain</a:t>
            </a:r>
            <a:r>
              <a:rPr lang="en-US" dirty="0"/>
              <a:t> successfully processed over two million changes that were authoritatively validated against previously established business rules.</a:t>
            </a:r>
          </a:p>
          <a:p>
            <a:endParaRPr lang="en-US" dirty="0">
              <a:solidFill>
                <a:srgbClr val="000000"/>
              </a:solidFill>
            </a:endParaRPr>
          </a:p>
          <a:p>
            <a:r>
              <a:rPr lang="en-US" b="1" dirty="0">
                <a:solidFill>
                  <a:srgbClr val="000000"/>
                </a:solidFill>
              </a:rPr>
              <a:t>Reference: </a:t>
            </a:r>
            <a:r>
              <a:rPr lang="en-US" dirty="0">
                <a:solidFill>
                  <a:srgbClr val="000000"/>
                </a:solidFill>
              </a:rPr>
              <a:t>Future Travel Experience – “</a:t>
            </a:r>
            <a:r>
              <a:rPr lang="en-US" dirty="0" err="1">
                <a:solidFill>
                  <a:srgbClr val="000000"/>
                </a:solidFill>
              </a:rPr>
              <a:t>FlightChain</a:t>
            </a:r>
            <a:r>
              <a:rPr lang="en-US" dirty="0">
                <a:solidFill>
                  <a:srgbClr val="000000"/>
                </a:solidFill>
              </a:rPr>
              <a:t> project sheds light on real-world potential of blockchain for airlines and airports” (core description of </a:t>
            </a:r>
            <a:r>
              <a:rPr lang="en-US" dirty="0" err="1">
                <a:solidFill>
                  <a:srgbClr val="000000"/>
                </a:solidFill>
              </a:rPr>
              <a:t>FlightChain</a:t>
            </a:r>
            <a:r>
              <a:rPr lang="en-US" dirty="0">
                <a:solidFill>
                  <a:srgbClr val="000000"/>
                </a:solidFill>
              </a:rPr>
              <a:t> use case, partners, and smart-contract arbitration of 2M+ flight changes). </a:t>
            </a:r>
            <a:r>
              <a:rPr lang="en-US" dirty="0">
                <a:solidFill>
                  <a:srgbClr val="000000"/>
                </a:solidFill>
                <a:hlinkClick r:id="rId3"/>
              </a:rPr>
              <a:t>https://www.futuretravelexperience.com/2017/12/flightchain-project-sheds-light-on-real-world-potential-of-blockchain-for-airlines-and-airports/</a:t>
            </a:r>
            <a:r>
              <a:rPr lang="en-US" dirty="0">
                <a:solidFill>
                  <a:srgbClr val="000000"/>
                </a:solidFill>
              </a:rPr>
              <a:t> </a:t>
            </a:r>
            <a:endParaRPr lang="en-US" dirty="0"/>
          </a:p>
          <a:p>
            <a:endParaRPr lang="en-US" dirty="0">
              <a:solidFill>
                <a:srgbClr val="000000"/>
              </a:solidFill>
            </a:endParaRPr>
          </a:p>
          <a:p>
            <a:r>
              <a:rPr lang="en-US" b="1" dirty="0">
                <a:solidFill>
                  <a:srgbClr val="000000"/>
                </a:solidFill>
              </a:rPr>
              <a:t>Reference : </a:t>
            </a:r>
            <a:r>
              <a:rPr lang="en-US" dirty="0">
                <a:solidFill>
                  <a:srgbClr val="000000"/>
                </a:solidFill>
              </a:rPr>
              <a:t>SITA – “</a:t>
            </a:r>
            <a:r>
              <a:rPr lang="en-US" dirty="0" err="1">
                <a:solidFill>
                  <a:srgbClr val="000000"/>
                </a:solidFill>
              </a:rPr>
              <a:t>FlightChain</a:t>
            </a:r>
            <a:r>
              <a:rPr lang="en-US" dirty="0">
                <a:solidFill>
                  <a:srgbClr val="000000"/>
                </a:solidFill>
              </a:rPr>
              <a:t>: ‘smart contracts’ for shared control of data?” (primary technical and architectural white paper on </a:t>
            </a:r>
            <a:r>
              <a:rPr lang="en-US" dirty="0" err="1">
                <a:solidFill>
                  <a:srgbClr val="000000"/>
                </a:solidFill>
              </a:rPr>
              <a:t>FlightChain</a:t>
            </a:r>
            <a:r>
              <a:rPr lang="en-US" dirty="0">
                <a:solidFill>
                  <a:srgbClr val="000000"/>
                </a:solidFill>
              </a:rPr>
              <a:t>, including governance and performance insights). </a:t>
            </a:r>
            <a:r>
              <a:rPr lang="en-US" dirty="0">
                <a:solidFill>
                  <a:srgbClr val="000000"/>
                </a:solidFill>
                <a:hlinkClick r:id="rId4"/>
              </a:rPr>
              <a:t>https://www.sita.aero/resources/White-papers/flightchain-shared-control-of-data/</a:t>
            </a:r>
            <a:endParaRPr lang="en-US" dirty="0"/>
          </a:p>
          <a:p>
            <a:endParaRPr lang="en-US" dirty="0">
              <a:solidFill>
                <a:srgbClr val="000000"/>
              </a:solidFill>
            </a:endParaRPr>
          </a:p>
          <a:p>
            <a:r>
              <a:rPr lang="en-US" dirty="0">
                <a:solidFill>
                  <a:srgbClr val="000000"/>
                </a:solidFill>
              </a:rPr>
              <a:t>Legacy System Integration Challenges:-</a:t>
            </a:r>
            <a:endParaRPr lang="en-US" dirty="0"/>
          </a:p>
          <a:p>
            <a:r>
              <a:rPr lang="en-US" dirty="0">
                <a:solidFill>
                  <a:srgbClr val="000000"/>
                </a:solidFill>
              </a:rPr>
              <a:t>The project’s research into blockchain technology’s interaction with older aviation messaging formats (SSM, ASM and AIDX) contained a number of unique contributions from a technical standpoint. By using blockchain to represent these formats, </a:t>
            </a:r>
            <a:r>
              <a:rPr lang="en-US" dirty="0" err="1">
                <a:solidFill>
                  <a:srgbClr val="000000"/>
                </a:solidFill>
              </a:rPr>
              <a:t>FlightChain</a:t>
            </a:r>
            <a:r>
              <a:rPr lang="en-US" dirty="0">
                <a:solidFill>
                  <a:srgbClr val="000000"/>
                </a:solidFill>
              </a:rPr>
              <a:t> identified the areas of incompatibility and problem areas relating to how information models work within legacy aviation messaging formats and the ways in which these formats translate into the blockchain technology architecture. </a:t>
            </a:r>
            <a:r>
              <a:rPr lang="en-US" dirty="0" err="1">
                <a:solidFill>
                  <a:srgbClr val="000000"/>
                </a:solidFill>
              </a:rPr>
              <a:t>FlightChain</a:t>
            </a:r>
            <a:r>
              <a:rPr lang="en-US" dirty="0">
                <a:solidFill>
                  <a:srgbClr val="000000"/>
                </a:solidFill>
              </a:rPr>
              <a:t> also showed how the architecture of these legacy aviation message structures is dependent upon a hierarchy of message structures and as such, how this type of hierarchical structure can be translated when using blockchain. Through the use of the AIDX standard’s XML schemas supporting flight leg requests and responses, it was demonstrated that future systems must develop new standards to provide true </a:t>
            </a:r>
            <a:r>
              <a:rPr lang="en-US" dirty="0" err="1">
                <a:solidFill>
                  <a:srgbClr val="000000"/>
                </a:solidFill>
              </a:rPr>
              <a:t>interoperatbility</a:t>
            </a:r>
            <a:r>
              <a:rPr lang="en-US" dirty="0">
                <a:solidFill>
                  <a:srgbClr val="000000"/>
                </a:solidFill>
              </a:rPr>
              <a:t>.</a:t>
            </a:r>
            <a:endParaRPr lang="en-US" dirty="0"/>
          </a:p>
          <a:p>
            <a:endParaRPr lang="en-US" dirty="0">
              <a:solidFill>
                <a:srgbClr val="000000"/>
              </a:solidFill>
            </a:endParaRPr>
          </a:p>
          <a:p>
            <a:r>
              <a:rPr lang="en-US" b="1" dirty="0">
                <a:solidFill>
                  <a:srgbClr val="000000"/>
                </a:solidFill>
              </a:rPr>
              <a:t>Reference 59: </a:t>
            </a:r>
            <a:r>
              <a:rPr lang="en-US" dirty="0">
                <a:solidFill>
                  <a:srgbClr val="000000"/>
                </a:solidFill>
              </a:rPr>
              <a:t>IATA – “AIDX XML Implementation Guide” (earlier public version of the same guide, outlining schema evolution from FIMS, the flight-leg–centric data model, repeating elements, and governance/change-control process for the XML schemas)</a:t>
            </a:r>
            <a:endParaRPr lang="en-US" dirty="0"/>
          </a:p>
          <a:p>
            <a:r>
              <a:rPr lang="en-US" dirty="0">
                <a:solidFill>
                  <a:srgbClr val="000000"/>
                </a:solidFill>
                <a:hlinkClick r:id="rId5"/>
              </a:rPr>
              <a:t>https://www.iata.org/contentassets/2db667ac37c045dbbb537eeb446dd9b2/aidx-xml-implementation-guide.pdf</a:t>
            </a:r>
            <a:r>
              <a:rPr lang="en-US" dirty="0">
                <a:solidFill>
                  <a:srgbClr val="000000"/>
                </a:solidFill>
              </a:rPr>
              <a:t> </a:t>
            </a:r>
            <a:endParaRPr lang="en-US" dirty="0"/>
          </a:p>
          <a:p>
            <a:r>
              <a:rPr lang="en-US" b="1" dirty="0">
                <a:solidFill>
                  <a:srgbClr val="000000"/>
                </a:solidFill>
              </a:rPr>
              <a:t>Reference 60:</a:t>
            </a:r>
            <a:r>
              <a:rPr lang="en-US" dirty="0">
                <a:solidFill>
                  <a:srgbClr val="000000"/>
                </a:solidFill>
              </a:rPr>
              <a:t>IATA – “Aviation Information Data Exchange (AIDX)” overview page (official description of AIDX as the global XML messaging standard, </a:t>
            </a:r>
            <a:r>
              <a:rPr lang="en-US" dirty="0" err="1">
                <a:solidFill>
                  <a:srgbClr val="000000"/>
                </a:solidFill>
              </a:rPr>
              <a:t>summarising</a:t>
            </a:r>
            <a:r>
              <a:rPr lang="en-US" dirty="0">
                <a:solidFill>
                  <a:srgbClr val="000000"/>
                </a:solidFill>
              </a:rPr>
              <a:t> schema scope across around 180 data elements for operational flight legs, including disruption and resource data)</a:t>
            </a:r>
            <a:endParaRPr lang="en-US" dirty="0"/>
          </a:p>
          <a:p>
            <a:r>
              <a:rPr lang="en-US" dirty="0">
                <a:solidFill>
                  <a:srgbClr val="000000"/>
                </a:solidFill>
                <a:hlinkClick r:id="rId6"/>
              </a:rPr>
              <a:t>https://www.iata.org/en/publications/info-data-exchange/</a:t>
            </a:r>
            <a:endParaRPr lang="en-US" dirty="0"/>
          </a:p>
          <a:p>
            <a:r>
              <a:rPr lang="en-US" b="1" dirty="0">
                <a:solidFill>
                  <a:srgbClr val="000000"/>
                </a:solidFill>
              </a:rPr>
              <a:t>Reference 61:</a:t>
            </a:r>
            <a:r>
              <a:rPr lang="en-US" dirty="0">
                <a:solidFill>
                  <a:srgbClr val="000000"/>
                </a:solidFill>
              </a:rPr>
              <a:t>SITA – “AIDX Overview” (developer-facing documentation showing how the AIDX XML schema is used in APIs, with examples of core elements like flight identification, leg information, and status codes drawn from the AIDX schemas).</a:t>
            </a:r>
            <a:endParaRPr lang="en-US" dirty="0"/>
          </a:p>
          <a:p>
            <a:r>
              <a:rPr lang="en-US" dirty="0">
                <a:solidFill>
                  <a:srgbClr val="000000"/>
                </a:solidFill>
                <a:hlinkClick r:id="rId7"/>
              </a:rPr>
              <a:t>https://www.developer.aero/api-catalog/aidx-overview</a:t>
            </a:r>
            <a:endParaRPr lang="en-US" dirty="0"/>
          </a:p>
          <a:p>
            <a:endParaRPr lang="en-US" dirty="0">
              <a:solidFill>
                <a:srgbClr val="000000"/>
              </a:solidFill>
            </a:endParaRPr>
          </a:p>
          <a:p>
            <a:r>
              <a:rPr lang="en-US" dirty="0">
                <a:solidFill>
                  <a:srgbClr val="000000"/>
                </a:solidFill>
              </a:rPr>
              <a:t>Stress Testing Under Operational Disruptions:-</a:t>
            </a:r>
            <a:endParaRPr lang="en-US" dirty="0"/>
          </a:p>
          <a:p>
            <a:r>
              <a:rPr lang="en-US" dirty="0">
                <a:solidFill>
                  <a:srgbClr val="000000"/>
                </a:solidFill>
              </a:rPr>
              <a:t>The trial challenged blockchain to operate in many different scenarios including irregular operations (IROPs) and disruptions resulting from ATC's (air traffic control) involvement; therefore, this was an opportunity for </a:t>
            </a:r>
            <a:r>
              <a:rPr lang="en-US" dirty="0" err="1">
                <a:solidFill>
                  <a:srgbClr val="000000"/>
                </a:solidFill>
              </a:rPr>
              <a:t>FlightChain</a:t>
            </a:r>
            <a:r>
              <a:rPr lang="en-US" dirty="0">
                <a:solidFill>
                  <a:srgbClr val="000000"/>
                </a:solidFill>
              </a:rPr>
              <a:t> to collect some real-world empirical data on how the distributed ledger constructs performed in a chaotic environment. </a:t>
            </a:r>
            <a:r>
              <a:rPr lang="en-US" dirty="0" err="1">
                <a:solidFill>
                  <a:srgbClr val="000000"/>
                </a:solidFill>
              </a:rPr>
              <a:t>FlightChain</a:t>
            </a:r>
            <a:r>
              <a:rPr lang="en-US" dirty="0">
                <a:solidFill>
                  <a:srgbClr val="000000"/>
                </a:solidFill>
              </a:rPr>
              <a:t> used several different scenarios including; cancellations and diversions (flight delays), on-the-ground disruptions due to weather, as well as Air Space congestion. There were many areas during the testing process where the use of real-time data </a:t>
            </a:r>
            <a:r>
              <a:rPr lang="en-US" dirty="0" err="1">
                <a:solidFill>
                  <a:srgbClr val="000000"/>
                </a:solidFill>
              </a:rPr>
              <a:t>isoftime</a:t>
            </a:r>
            <a:r>
              <a:rPr lang="en-US" dirty="0">
                <a:solidFill>
                  <a:srgbClr val="000000"/>
                </a:solidFill>
              </a:rPr>
              <a:t>) and adapting flight plans dynamically becomes essential. Through these stress tests we confirmed that blockchains were functional even when several parties were attempting to manage their actions based upon an unknown event. However, we also noticed performance issues that arose when multiple parties attempted to manage the same event at a high frequency of logic changes.</a:t>
            </a:r>
            <a:endParaRPr lang="en-US" dirty="0"/>
          </a:p>
          <a:p>
            <a:endParaRPr lang="en-US" dirty="0">
              <a:solidFill>
                <a:srgbClr val="000000"/>
              </a:solidFill>
            </a:endParaRPr>
          </a:p>
          <a:p>
            <a:r>
              <a:rPr lang="en-US" b="1" dirty="0">
                <a:solidFill>
                  <a:srgbClr val="000000"/>
                </a:solidFill>
              </a:rPr>
              <a:t>Reference: </a:t>
            </a:r>
            <a:r>
              <a:rPr lang="en-US" dirty="0">
                <a:solidFill>
                  <a:srgbClr val="000000"/>
                </a:solidFill>
              </a:rPr>
              <a:t>IATA – “Interline Considerations on Irregular Operations (IROPs)” (2020 guidance defining IROPs, distinguishing them from schedule changes, and detailing processes for delays, cancellations, misconnections, rerouting, and passenger handling in interline contexts). </a:t>
            </a:r>
            <a:endParaRPr lang="en-US" dirty="0"/>
          </a:p>
          <a:p>
            <a:r>
              <a:rPr lang="en-US" dirty="0">
                <a:solidFill>
                  <a:srgbClr val="000000"/>
                </a:solidFill>
              </a:rPr>
              <a:t>Governance and Architectural Implications:- </a:t>
            </a:r>
            <a:r>
              <a:rPr lang="en-US" dirty="0">
                <a:solidFill>
                  <a:srgbClr val="000000"/>
                </a:solidFill>
                <a:hlinkClick r:id="rId8"/>
              </a:rPr>
              <a:t>https://www.iata.org/contentassets/e7a533819be440edbb1e49da96e0f2a8/guidance-document-interline-irops_25june2020.pdf</a:t>
            </a:r>
            <a:r>
              <a:rPr lang="en-US" dirty="0">
                <a:solidFill>
                  <a:srgbClr val="000000"/>
                </a:solidFill>
              </a:rPr>
              <a:t> </a:t>
            </a:r>
            <a:endParaRPr lang="en-US" dirty="0"/>
          </a:p>
          <a:p>
            <a:r>
              <a:rPr lang="en-US" b="1" dirty="0">
                <a:solidFill>
                  <a:srgbClr val="000000"/>
                </a:solidFill>
              </a:rPr>
              <a:t>Reference: </a:t>
            </a:r>
            <a:r>
              <a:rPr lang="en-US" dirty="0">
                <a:solidFill>
                  <a:srgbClr val="000000"/>
                </a:solidFill>
              </a:rPr>
              <a:t>IATA – “Blockchain in Aviation” white paper (industry-level analysis of blockchain roles, limitations, and governance models in aviation, directly relevant to </a:t>
            </a:r>
            <a:r>
              <a:rPr lang="en-US" dirty="0" err="1">
                <a:solidFill>
                  <a:srgbClr val="000000"/>
                </a:solidFill>
              </a:rPr>
              <a:t>FlightChain’s</a:t>
            </a:r>
            <a:r>
              <a:rPr lang="en-US" dirty="0">
                <a:solidFill>
                  <a:srgbClr val="000000"/>
                </a:solidFill>
              </a:rPr>
              <a:t> implications). </a:t>
            </a:r>
            <a:r>
              <a:rPr lang="en-US" dirty="0">
                <a:solidFill>
                  <a:srgbClr val="000000"/>
                </a:solidFill>
                <a:hlinkClick r:id="rId9"/>
              </a:rPr>
              <a:t>https://www.iata.org/contentassets/2d997082f3c84c7cba001f506edd2c2e/blockchain-in-aviation-white-paper.pdf</a:t>
            </a:r>
            <a:r>
              <a:rPr lang="en-US" dirty="0">
                <a:solidFill>
                  <a:srgbClr val="000000"/>
                </a:solidFill>
              </a:rPr>
              <a:t> </a:t>
            </a:r>
            <a:endParaRPr lang="en-US" dirty="0"/>
          </a:p>
          <a:p>
            <a:endParaRPr lang="en-US" dirty="0">
              <a:solidFill>
                <a:srgbClr val="000000"/>
              </a:solidFill>
            </a:endParaRPr>
          </a:p>
          <a:p>
            <a:r>
              <a:rPr lang="en-US" dirty="0">
                <a:solidFill>
                  <a:srgbClr val="000000"/>
                </a:solidFill>
              </a:rPr>
              <a:t>Another significant prospective benefit of </a:t>
            </a:r>
            <a:r>
              <a:rPr lang="en-US" dirty="0" err="1">
                <a:solidFill>
                  <a:srgbClr val="000000"/>
                </a:solidFill>
              </a:rPr>
              <a:t>FlightChain</a:t>
            </a:r>
            <a:r>
              <a:rPr lang="en-US" dirty="0">
                <a:solidFill>
                  <a:srgbClr val="000000"/>
                </a:solidFill>
              </a:rPr>
              <a:t> for the aviation industry, beyond proving the design possibilities of a distributed ledger, was showing that the absence of any single, dominant authority or entity overseeing the blockchain creates new issues regarding how to govern shared data. The development of </a:t>
            </a:r>
            <a:r>
              <a:rPr lang="en-US" dirty="0" err="1">
                <a:solidFill>
                  <a:srgbClr val="000000"/>
                </a:solidFill>
              </a:rPr>
              <a:t>FlightChain</a:t>
            </a:r>
            <a:r>
              <a:rPr lang="en-US" dirty="0">
                <a:solidFill>
                  <a:srgbClr val="000000"/>
                </a:solidFill>
              </a:rPr>
              <a:t> proved that even an </a:t>
            </a:r>
            <a:r>
              <a:rPr lang="en-US" dirty="0" err="1">
                <a:solidFill>
                  <a:srgbClr val="000000"/>
                </a:solidFill>
              </a:rPr>
              <a:t>organisation</a:t>
            </a:r>
            <a:r>
              <a:rPr lang="en-US" dirty="0">
                <a:solidFill>
                  <a:srgbClr val="000000"/>
                </a:solidFill>
              </a:rPr>
              <a:t> or consortium developing a private blockchain with restricted access will need to implement a robust governance structure and that well-respected industry groups (e.g., IATA, ACI) might fill the role of such a governance body. Security is another important issue that was demonstrated with the </a:t>
            </a:r>
            <a:r>
              <a:rPr lang="en-US" dirty="0" err="1">
                <a:solidFill>
                  <a:srgbClr val="000000"/>
                </a:solidFill>
              </a:rPr>
              <a:t>FlightChain</a:t>
            </a:r>
            <a:r>
              <a:rPr lang="en-US" dirty="0">
                <a:solidFill>
                  <a:srgbClr val="000000"/>
                </a:solidFill>
              </a:rPr>
              <a:t> project and is still being discussed. The distributed nature of a public blockchain means that its security is "only as strong as its weakest link," which depends on participants properly and actively defending the integrity of the network. As such, the insights gained from </a:t>
            </a:r>
            <a:r>
              <a:rPr lang="en-US" dirty="0" err="1">
                <a:solidFill>
                  <a:srgbClr val="000000"/>
                </a:solidFill>
              </a:rPr>
              <a:t>FlightChain</a:t>
            </a:r>
            <a:r>
              <a:rPr lang="en-US" dirty="0">
                <a:solidFill>
                  <a:srgbClr val="000000"/>
                </a:solidFill>
              </a:rPr>
              <a:t> are invaluable as a reference point for the anticipated development of </a:t>
            </a:r>
            <a:r>
              <a:rPr lang="en-US" dirty="0" err="1">
                <a:solidFill>
                  <a:srgbClr val="000000"/>
                </a:solidFill>
              </a:rPr>
              <a:t>decentralised</a:t>
            </a:r>
            <a:r>
              <a:rPr lang="en-US" dirty="0">
                <a:solidFill>
                  <a:srgbClr val="000000"/>
                </a:solidFill>
              </a:rPr>
              <a:t> aviation data systems; for example, one important question is where the line between distrust and trust in </a:t>
            </a:r>
            <a:r>
              <a:rPr lang="en-US" dirty="0" err="1">
                <a:solidFill>
                  <a:srgbClr val="000000"/>
                </a:solidFill>
              </a:rPr>
              <a:t>decentralised</a:t>
            </a:r>
            <a:r>
              <a:rPr lang="en-US" dirty="0">
                <a:solidFill>
                  <a:srgbClr val="000000"/>
                </a:solidFill>
              </a:rPr>
              <a:t> data systems should be drawn.</a:t>
            </a:r>
            <a:endParaRPr lang="en-US" dirty="0"/>
          </a:p>
          <a:p>
            <a:endParaRPr lang="en-US" dirty="0">
              <a:solidFill>
                <a:srgbClr val="000000"/>
              </a:solidFill>
            </a:endParaRPr>
          </a:p>
          <a:p>
            <a:r>
              <a:rPr lang="en-US" b="1" dirty="0">
                <a:solidFill>
                  <a:srgbClr val="000000"/>
                </a:solidFill>
              </a:rPr>
              <a:t>Reference 62: </a:t>
            </a:r>
            <a:r>
              <a:rPr lang="en-US" dirty="0">
                <a:solidFill>
                  <a:srgbClr val="000000"/>
                </a:solidFill>
              </a:rPr>
              <a:t>SITA Lab. </a:t>
            </a:r>
            <a:r>
              <a:rPr lang="en-US" i="1" dirty="0" err="1">
                <a:solidFill>
                  <a:srgbClr val="000000"/>
                </a:solidFill>
              </a:rPr>
              <a:t>FlightChain</a:t>
            </a:r>
            <a:r>
              <a:rPr lang="en-US" i="1" dirty="0">
                <a:solidFill>
                  <a:srgbClr val="000000"/>
                </a:solidFill>
              </a:rPr>
              <a:t>: A reference </a:t>
            </a:r>
            <a:r>
              <a:rPr lang="en-US" i="1" dirty="0" err="1">
                <a:solidFill>
                  <a:srgbClr val="000000"/>
                </a:solidFill>
              </a:rPr>
              <a:t>dApp</a:t>
            </a:r>
            <a:r>
              <a:rPr lang="en-US" i="1" dirty="0">
                <a:solidFill>
                  <a:srgbClr val="000000"/>
                </a:solidFill>
              </a:rPr>
              <a:t> for the SITA Aviation Blockchain Sandbox</a:t>
            </a:r>
            <a:r>
              <a:rPr lang="en-US" dirty="0">
                <a:solidFill>
                  <a:srgbClr val="000000"/>
                </a:solidFill>
              </a:rPr>
              <a:t> (GitHub repository). .: </a:t>
            </a:r>
            <a:r>
              <a:rPr lang="en-US" dirty="0">
                <a:solidFill>
                  <a:srgbClr val="000000"/>
                </a:solidFill>
                <a:hlinkClick r:id="rId10"/>
              </a:rPr>
              <a:t>https://github.com/sitalab/FlightChain</a:t>
            </a:r>
          </a:p>
          <a:p>
            <a:r>
              <a:rPr lang="en-US" b="1" dirty="0"/>
              <a:t>Reference 63: </a:t>
            </a:r>
            <a:r>
              <a:rPr lang="en-US" dirty="0"/>
              <a:t> McLaughlin, B. </a:t>
            </a:r>
            <a:r>
              <a:rPr lang="en-US" i="1" dirty="0"/>
              <a:t>Blockchain Potential in Aviation</a:t>
            </a:r>
            <a:r>
              <a:rPr lang="en-US" dirty="0"/>
              <a:t> (AACO/IATA Technical Forum, Kuwait, SITA Aviation Blockchain presentation, 2019). .: </a:t>
            </a:r>
            <a:r>
              <a:rPr lang="en-US" dirty="0">
                <a:hlinkClick r:id="rId11"/>
              </a:rPr>
              <a:t>https://www.aaco.org/Library/Assets/Blockchain-for-aviation-overview%20by%20Barry%20Mclaughlin%20-%20SITA.pdf</a:t>
            </a:r>
          </a:p>
          <a:p>
            <a:r>
              <a:rPr lang="en-US" b="1" dirty="0"/>
              <a:t>Reference 64: </a:t>
            </a:r>
            <a:r>
              <a:rPr lang="en-US" dirty="0"/>
              <a:t>International Air Transport Association (IATA). </a:t>
            </a:r>
            <a:r>
              <a:rPr lang="en-US" i="1" dirty="0"/>
              <a:t>IATA Data Exchanges Messages Standards Download page</a:t>
            </a:r>
            <a:r>
              <a:rPr lang="en-US" dirty="0"/>
              <a:t> (AIDM data exchange standards release packages and XML/API schemas). .: </a:t>
            </a:r>
            <a:r>
              <a:rPr lang="en-US" dirty="0">
                <a:hlinkClick r:id="rId12"/>
              </a:rPr>
              <a:t>https://standards.atlassian.net/wiki/spaces/AIDM/pages/574587157/IATA+Data+Exchanges+Messages+Standards+Download+page</a:t>
            </a:r>
          </a:p>
          <a:p>
            <a:r>
              <a:rPr lang="en-US" b="1" dirty="0"/>
              <a:t>Reference 65: </a:t>
            </a:r>
            <a:r>
              <a:rPr lang="en-US" dirty="0"/>
              <a:t>Qin, S., Mou, J., Chen, S., &amp; Lu, X. (2019). Modeling and optimizing the delay propagation in Chinese aviation networks. </a:t>
            </a:r>
            <a:r>
              <a:rPr lang="en-US" i="1" dirty="0"/>
              <a:t>Chaos: An Interdisciplinary Journal of Nonlinear Science, 29</a:t>
            </a:r>
            <a:r>
              <a:rPr lang="en-US" dirty="0"/>
              <a:t>(8), 081101. </a:t>
            </a:r>
            <a:r>
              <a:rPr lang="en-US" dirty="0">
                <a:hlinkClick r:id="rId13"/>
              </a:rPr>
              <a:t>https://doi.org/10.1063/1.5111995</a:t>
            </a:r>
            <a:endParaRPr lang="en-US" dirty="0"/>
          </a:p>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ctr"/>
            <a:r>
              <a:rPr lang="en-US" dirty="0"/>
              <a:t>Lessons applicable beyond aviation.</a:t>
            </a:r>
          </a:p>
          <a:p>
            <a:endParaRPr lang="en-US" dirty="0"/>
          </a:p>
          <a:p>
            <a:r>
              <a:rPr lang="en-US" sz="1200" b="1" i="0" u="none" strike="noStrike" kern="1200" dirty="0">
                <a:solidFill>
                  <a:schemeClr val="tx1"/>
                </a:solidFill>
                <a:effectLst/>
                <a:latin typeface="+mn-lt"/>
                <a:ea typeface="+mn-ea"/>
                <a:cs typeface="+mn-cs"/>
              </a:rPr>
              <a:t>1. </a:t>
            </a:r>
            <a:r>
              <a:rPr lang="en-US" b="1" dirty="0"/>
              <a:t>Technical </a:t>
            </a:r>
            <a:r>
              <a:rPr lang="en-US" b="1" i="0" u="none" strike="noStrike" kern="1200" dirty="0">
                <a:effectLst/>
              </a:rPr>
              <a:t>capability</a:t>
            </a:r>
            <a:r>
              <a:rPr lang="en-US" b="1" dirty="0"/>
              <a:t> is not a major issue as compared to governance</a:t>
            </a:r>
            <a:endParaRPr lang="en-US" b="1" i="0" u="none" strike="noStrike" kern="1200" dirty="0">
              <a:effectLst/>
            </a:endParaRPr>
          </a:p>
          <a:p>
            <a:r>
              <a:rPr lang="en-US" sz="1200" b="0" i="0" u="none" strike="noStrike" kern="1200" dirty="0">
                <a:solidFill>
                  <a:schemeClr val="tx1"/>
                </a:solidFill>
                <a:effectLst/>
                <a:latin typeface="+mn-lt"/>
                <a:ea typeface="+mn-ea"/>
                <a:cs typeface="+mn-cs"/>
              </a:rPr>
              <a:t>It is not enough to have a powerful blockchain platform, what really matters is who runs it and how decisions are made.</a:t>
            </a:r>
            <a:endParaRPr lang="en-US" sz="1200" b="0" i="0" u="none" strike="noStrike" kern="1200" dirty="0">
              <a:solidFill>
                <a:schemeClr val="tx1"/>
              </a:solidFill>
              <a:effectLst/>
              <a:latin typeface="+mn-lt"/>
            </a:endParaRPr>
          </a:p>
          <a:p>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showed that a private, permissioned blockchain still needs a central coordinator (e.g. SITA / IATA / ACI) to:</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Decide who can join</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Manage permissions and smart-contract updates</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Handle upgrades and security</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endParaRPr lang="en-US" sz="1200" b="0" i="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sz="1200" b="0" i="0" u="none" strike="noStrike" kern="1200" dirty="0">
                <a:solidFill>
                  <a:schemeClr val="tx1"/>
                </a:solidFill>
                <a:effectLst/>
                <a:latin typeface="+mn-lt"/>
                <a:ea typeface="+mn-ea"/>
                <a:cs typeface="+mn-cs"/>
              </a:rPr>
              <a:t>In any industry, if governance is weak or unclear the technology will not be trusted or widely used, no matter how good the code is.</a:t>
            </a:r>
            <a:endParaRPr lang="en-US" sz="1200" b="0" i="0" u="none" strike="noStrike" kern="1200" dirty="0">
              <a:solidFill>
                <a:schemeClr val="tx1"/>
              </a:solidFill>
              <a:effectLst/>
              <a:latin typeface="+mn-lt"/>
            </a:endParaRPr>
          </a:p>
          <a:p>
            <a:pPr marL="0" indent="0">
              <a:buFont typeface="Arial" panose="020B0604020202020204" pitchFamily="34" charset="0"/>
              <a:buNone/>
            </a:pPr>
            <a:r>
              <a:rPr lang="en-US" sz="1200" b="0" i="0" u="none" strike="noStrike" kern="1200" dirty="0">
                <a:solidFill>
                  <a:schemeClr val="tx1"/>
                </a:solidFill>
                <a:effectLst/>
                <a:latin typeface="+mn-lt"/>
                <a:ea typeface="+mn-ea"/>
                <a:cs typeface="+mn-cs"/>
              </a:rPr>
              <a:t>The case shows that the biggest success factor isn’t the blockchain software; it’s strong, neutral governance to manage membership, permissions and upgrades.</a:t>
            </a:r>
            <a:endParaRPr lang="en-US" sz="1200" b="0" i="0" u="none" strike="noStrike" kern="1200" dirty="0">
              <a:solidFill>
                <a:schemeClr val="tx1"/>
              </a:solidFill>
              <a:effectLst/>
              <a:latin typeface="+mn-lt"/>
            </a:endParaRPr>
          </a:p>
          <a:p>
            <a:r>
              <a:rPr lang="en-US" b="1" dirty="0"/>
              <a:t>Reference 1: (</a:t>
            </a:r>
            <a:r>
              <a:rPr lang="en-US" dirty="0"/>
              <a:t>SITA (2017) </a:t>
            </a:r>
            <a:r>
              <a:rPr lang="en-US" i="1" dirty="0" err="1"/>
              <a:t>FlightChain</a:t>
            </a:r>
            <a:r>
              <a:rPr lang="en-US" i="1" dirty="0"/>
              <a:t>: Shared truth for a frictionless journey</a:t>
            </a:r>
            <a:r>
              <a:rPr lang="en-US" dirty="0"/>
              <a:t>. .: </a:t>
            </a:r>
            <a:r>
              <a:rPr lang="en-US" dirty="0">
                <a:hlinkClick r:id="rId3"/>
              </a:rPr>
              <a:t>https://www.sita.aero/resources/white-papers/flightchain-shared-control-of-data/</a:t>
            </a:r>
            <a:endParaRPr lang="en-US" dirty="0"/>
          </a:p>
          <a:p>
            <a:r>
              <a:rPr lang="en-US" dirty="0"/>
              <a:t>(SITA, 2017)</a:t>
            </a:r>
          </a:p>
          <a:p>
            <a:endParaRPr lang="en-US" dirty="0"/>
          </a:p>
          <a:p>
            <a:r>
              <a:rPr lang="en-US" dirty="0"/>
              <a:t>The main challenge to industry adoption is not the technology but the governance model needed to manage participation, contract updates and ownership responsibilities.</a:t>
            </a:r>
          </a:p>
          <a:p>
            <a:endParaRPr lang="en-US" dirty="0"/>
          </a:p>
          <a:p>
            <a:r>
              <a:rPr lang="en-US" b="1" dirty="0"/>
              <a:t>Reference 19: </a:t>
            </a:r>
            <a:r>
              <a:rPr lang="en-US" sz="1200" b="0" i="0" u="none" strike="noStrike" kern="1200" dirty="0" err="1">
                <a:solidFill>
                  <a:schemeClr val="tx1"/>
                </a:solidFill>
                <a:effectLst/>
                <a:latin typeface="+mn-lt"/>
                <a:ea typeface="+mn-ea"/>
                <a:cs typeface="+mn-cs"/>
              </a:rPr>
              <a:t>Ølnes</a:t>
            </a:r>
            <a:r>
              <a:rPr lang="en-US" dirty="0"/>
              <a:t>, J., </a:t>
            </a:r>
            <a:r>
              <a:rPr lang="en-US" dirty="0" err="1"/>
              <a:t>Ubacht</a:t>
            </a:r>
            <a:r>
              <a:rPr lang="en-US" dirty="0"/>
              <a:t>, J. &amp; Janssen, M. (2017). </a:t>
            </a:r>
            <a:r>
              <a:rPr lang="en-US" i="1" dirty="0"/>
              <a:t>Blockchain in government: Benefits and implications</a:t>
            </a:r>
            <a:r>
              <a:rPr lang="en-US" dirty="0"/>
              <a:t>. Government Information Quarterly.</a:t>
            </a:r>
          </a:p>
          <a:p>
            <a:endParaRPr lang="en-US" dirty="0"/>
          </a:p>
          <a:p>
            <a:r>
              <a:rPr lang="en-US" dirty="0" err="1"/>
              <a:t>Ølnes</a:t>
            </a:r>
            <a:r>
              <a:rPr lang="en-US" sz="1200" b="0" i="0" u="none" strike="noStrike" kern="1200" dirty="0">
                <a:solidFill>
                  <a:schemeClr val="tx1"/>
                </a:solidFill>
                <a:effectLst/>
                <a:latin typeface="+mn-lt"/>
                <a:ea typeface="+mn-ea"/>
                <a:cs typeface="+mn-cs"/>
              </a:rPr>
              <a:t> argues that blockchain cannot eliminate governance needs; instead governance becomes more important because </a:t>
            </a:r>
            <a:r>
              <a:rPr lang="en-US" sz="1200" b="0" i="0" u="none" strike="noStrike" kern="1200" dirty="0" err="1">
                <a:solidFill>
                  <a:schemeClr val="tx1"/>
                </a:solidFill>
                <a:effectLst/>
                <a:latin typeface="+mn-lt"/>
                <a:ea typeface="+mn-ea"/>
                <a:cs typeface="+mn-cs"/>
              </a:rPr>
              <a:t>decentralised</a:t>
            </a:r>
            <a:r>
              <a:rPr lang="en-US" sz="1200" b="0" i="0" u="none" strike="noStrike" kern="1200" dirty="0">
                <a:solidFill>
                  <a:schemeClr val="tx1"/>
                </a:solidFill>
                <a:effectLst/>
                <a:latin typeface="+mn-lt"/>
                <a:ea typeface="+mn-ea"/>
                <a:cs typeface="+mn-cs"/>
              </a:rPr>
              <a:t> systems require clear </a:t>
            </a:r>
            <a:r>
              <a:rPr lang="en-US" dirty="0"/>
              <a:t>decision-making</a:t>
            </a:r>
            <a:r>
              <a:rPr lang="en-US" sz="1200" b="0" i="0" u="none" strike="noStrike" kern="1200" dirty="0">
                <a:solidFill>
                  <a:schemeClr val="tx1"/>
                </a:solidFill>
                <a:effectLst/>
                <a:latin typeface="+mn-lt"/>
                <a:ea typeface="+mn-ea"/>
                <a:cs typeface="+mn-cs"/>
              </a:rPr>
              <a:t>, upgrade </a:t>
            </a:r>
            <a:r>
              <a:rPr lang="en-US" dirty="0"/>
              <a:t>mechanisms</a:t>
            </a:r>
            <a:r>
              <a:rPr lang="en-US" sz="1200" b="0" i="0" u="none" strike="noStrike" kern="1200" dirty="0">
                <a:solidFill>
                  <a:schemeClr val="tx1"/>
                </a:solidFill>
                <a:effectLst/>
                <a:latin typeface="+mn-lt"/>
                <a:ea typeface="+mn-ea"/>
                <a:cs typeface="+mn-cs"/>
              </a:rPr>
              <a:t> and authority structures. </a:t>
            </a:r>
            <a:endParaRPr lang="en-US" b="1" dirty="0"/>
          </a:p>
          <a:p>
            <a:endParaRPr lang="en-US" dirty="0"/>
          </a:p>
          <a:p>
            <a:r>
              <a:rPr lang="en-US" sz="1200" b="1" i="0" u="none" strike="noStrike" kern="1200" dirty="0">
                <a:solidFill>
                  <a:schemeClr val="tx1"/>
                </a:solidFill>
                <a:effectLst/>
                <a:latin typeface="+mn-lt"/>
                <a:ea typeface="+mn-ea"/>
                <a:cs typeface="+mn-cs"/>
              </a:rPr>
              <a:t>2. </a:t>
            </a:r>
            <a:r>
              <a:rPr lang="en-US" b="1" dirty="0"/>
              <a:t>Critical interoperability needed.</a:t>
            </a:r>
            <a:endParaRPr lang="en-US" b="1" i="0" u="none" strike="noStrike" kern="1200" dirty="0">
              <a:effectLst/>
            </a:endParaRPr>
          </a:p>
          <a:p>
            <a:r>
              <a:rPr lang="en-US" sz="1200" b="0" i="0" u="none" strike="noStrike" kern="1200" dirty="0" err="1">
                <a:solidFill>
                  <a:schemeClr val="tx1"/>
                </a:solidFill>
                <a:effectLst/>
                <a:latin typeface="+mn-lt"/>
                <a:ea typeface="+mn-ea"/>
                <a:cs typeface="+mn-cs"/>
              </a:rPr>
              <a:t>Organisations</a:t>
            </a:r>
            <a:r>
              <a:rPr lang="en-US" sz="1200" b="0" i="0" u="none" strike="noStrike" kern="1200" dirty="0">
                <a:solidFill>
                  <a:schemeClr val="tx1"/>
                </a:solidFill>
                <a:effectLst/>
                <a:latin typeface="+mn-lt"/>
                <a:ea typeface="+mn-ea"/>
                <a:cs typeface="+mn-cs"/>
              </a:rPr>
              <a:t> already have legacy systems  (databases, AODB, ERPs, etc.). A blockchain solution only works if it can plug into these easily.</a:t>
            </a:r>
            <a:endParaRPr lang="en-US" sz="1200" b="0" i="0" u="none" strike="noStrike" kern="1200" dirty="0">
              <a:solidFill>
                <a:schemeClr val="tx1"/>
              </a:solidFill>
              <a:effectLst/>
              <a:latin typeface="+mn-lt"/>
            </a:endParaRPr>
          </a:p>
          <a:p>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depended on adapters and the ACRIS data standard so airports and airlines could push data from their existing AODB systems into the chain.</a:t>
            </a:r>
            <a:endParaRPr lang="en-US" sz="1200" b="0" i="0" u="none" strike="noStrike" kern="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In other sectors, the same applies: if a blockchain can’t talk to existing systems or standards, it’s unlikely to be adopted.</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For real adoption, blockchain has to interoperate with existing data standards and back-office systems rather than live in its own silo.</a:t>
            </a:r>
            <a:endParaRPr lang="en-US" sz="1200" b="0" i="0" u="none" strike="noStrike" kern="1200" dirty="0">
              <a:solidFill>
                <a:schemeClr val="tx1"/>
              </a:solidFill>
              <a:effectLst/>
              <a:latin typeface="+mn-lt"/>
            </a:endParaRP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Reference 2:</a:t>
            </a:r>
            <a:r>
              <a:rPr lang="en-US" dirty="0"/>
              <a:t> SITA, British Airways and Heathrow Conducting Blockchain Trial (APEX, 2017) https://apex.aero/articles/sita-british-airways-heathrow-conducting-blockchain-trial-operational-data-sync/</a:t>
            </a:r>
          </a:p>
          <a:p>
            <a:endParaRPr lang="en-US" sz="1200" b="1"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3. Trust and incentives must align</a:t>
            </a:r>
            <a:endParaRPr lang="en-US" sz="1200" b="1"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Blockchain is often sold as a “trustless” technology, however </a:t>
            </a:r>
            <a:r>
              <a:rPr lang="en-US" sz="1200" b="0" i="0" u="none" strike="noStrike" kern="1200" dirty="0" err="1">
                <a:solidFill>
                  <a:schemeClr val="tx1"/>
                </a:solidFill>
                <a:effectLst/>
                <a:latin typeface="+mn-lt"/>
                <a:ea typeface="+mn-ea"/>
                <a:cs typeface="+mn-cs"/>
              </a:rPr>
              <a:t>organisations</a:t>
            </a:r>
            <a:r>
              <a:rPr lang="en-US" sz="1200" b="0" i="0" u="none" strike="noStrike" kern="1200" dirty="0">
                <a:solidFill>
                  <a:schemeClr val="tx1"/>
                </a:solidFill>
                <a:effectLst/>
                <a:latin typeface="+mn-lt"/>
                <a:ea typeface="+mn-ea"/>
                <a:cs typeface="+mn-cs"/>
              </a:rPr>
              <a:t> still need to trust the following:</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The Governance body</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The smart-contract logic</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The quality of data that other submit</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endParaRPr lang="en-US" sz="1200" b="0" i="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sz="1200" b="0" i="0" u="none" strike="noStrike" kern="1200" dirty="0">
                <a:solidFill>
                  <a:schemeClr val="tx1"/>
                </a:solidFill>
                <a:effectLst/>
                <a:latin typeface="+mn-lt"/>
                <a:ea typeface="+mn-ea"/>
                <a:cs typeface="+mn-cs"/>
              </a:rPr>
              <a:t>Participants also need a business reason to run nodes, share data and keep systems updates e.g. better data quality, fewer disputes or cost savings.</a:t>
            </a:r>
            <a:endParaRPr lang="en-US" sz="1200" b="0" i="0" u="none" strike="noStrike" kern="1200" dirty="0">
              <a:solidFill>
                <a:schemeClr val="tx1"/>
              </a:solidFill>
              <a:effectLst/>
              <a:latin typeface="+mn-lt"/>
            </a:endParaRPr>
          </a:p>
          <a:p>
            <a:pPr marL="0" indent="0">
              <a:buFont typeface="Arial" panose="020B0604020202020204" pitchFamily="34" charset="0"/>
              <a:buNone/>
            </a:pPr>
            <a:r>
              <a:rPr lang="en-US" sz="1200" b="0" i="0" u="none" strike="noStrike" kern="1200" dirty="0">
                <a:solidFill>
                  <a:schemeClr val="tx1"/>
                </a:solidFill>
                <a:effectLst/>
                <a:latin typeface="+mn-lt"/>
                <a:ea typeface="+mn-ea"/>
                <a:cs typeface="+mn-cs"/>
              </a:rPr>
              <a:t>Without aligned incentives, </a:t>
            </a:r>
            <a:r>
              <a:rPr lang="en-US" sz="1200" b="0" i="0" u="none" strike="noStrike" kern="1200" dirty="0" err="1">
                <a:solidFill>
                  <a:schemeClr val="tx1"/>
                </a:solidFill>
                <a:effectLst/>
                <a:latin typeface="+mn-lt"/>
                <a:ea typeface="+mn-ea"/>
                <a:cs typeface="+mn-cs"/>
              </a:rPr>
              <a:t>organisations</a:t>
            </a:r>
            <a:r>
              <a:rPr lang="en-US" sz="1200" b="0" i="0" u="none" strike="noStrike" kern="1200" dirty="0">
                <a:solidFill>
                  <a:schemeClr val="tx1"/>
                </a:solidFill>
                <a:effectLst/>
                <a:latin typeface="+mn-lt"/>
                <a:ea typeface="+mn-ea"/>
                <a:cs typeface="+mn-cs"/>
              </a:rPr>
              <a:t> may withhold data or under-invest, which undermines the whole network.</a:t>
            </a:r>
            <a:endParaRPr lang="en-US" sz="1200" b="0" i="0" u="none" strike="noStrike" kern="1200" dirty="0">
              <a:solidFill>
                <a:schemeClr val="tx1"/>
              </a:solidFill>
              <a:effectLst/>
              <a:latin typeface="+mn-lt"/>
            </a:endParaRPr>
          </a:p>
          <a:p>
            <a:r>
              <a:rPr lang="en-US" dirty="0"/>
              <a:t>The </a:t>
            </a:r>
            <a:r>
              <a:rPr lang="en-US" dirty="0" err="1"/>
              <a:t>FlightChain</a:t>
            </a:r>
            <a:r>
              <a:rPr lang="en-US" dirty="0"/>
              <a:t> case underlines that technical trust (cryptography) is not enough and partners need aligned incentives and confidence that other will behave ethically.</a:t>
            </a:r>
          </a:p>
          <a:p>
            <a:endParaRPr lang="en-US" sz="1200" b="0" i="0" u="none" strike="noStrike" kern="1200" dirty="0">
              <a:solidFill>
                <a:schemeClr val="tx1"/>
              </a:solidFill>
              <a:effectLst/>
              <a:latin typeface="+mn-lt"/>
              <a:ea typeface="+mn-ea"/>
              <a:cs typeface="+mn-cs"/>
            </a:endParaRPr>
          </a:p>
          <a:p>
            <a:r>
              <a:rPr lang="en-US" b="1" dirty="0"/>
              <a:t>Reference 1: (</a:t>
            </a:r>
            <a:r>
              <a:rPr lang="en-US" dirty="0"/>
              <a:t>SITA (2017) </a:t>
            </a:r>
            <a:r>
              <a:rPr lang="en-US" i="1" dirty="0" err="1"/>
              <a:t>FlightChain</a:t>
            </a:r>
            <a:r>
              <a:rPr lang="en-US" i="1" dirty="0"/>
              <a:t>: Shared truth for a frictionless journey</a:t>
            </a:r>
            <a:r>
              <a:rPr lang="en-US" dirty="0"/>
              <a:t>. .: </a:t>
            </a:r>
            <a:r>
              <a:rPr lang="en-US" dirty="0">
                <a:hlinkClick r:id="rId3"/>
              </a:rPr>
              <a:t>https://www.sita.aero/resources/white-papers/flightchain-shared-control-of-data/</a:t>
            </a:r>
            <a:endParaRPr lang="en-US" dirty="0"/>
          </a:p>
          <a:p>
            <a:r>
              <a:rPr lang="en-US" dirty="0"/>
              <a:t>(SITA, 2017)</a:t>
            </a: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4. Blockchain should complement existing systems</a:t>
            </a:r>
            <a:endParaRPr lang="en-US" sz="1200" b="1"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Blockchain in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did not replace the airports' AODB systems. It acted as a shared truth layer on top of them. This reduces risk and </a:t>
            </a:r>
            <a:r>
              <a:rPr lang="en-US" sz="1200" b="0" i="0" u="none" strike="noStrike" kern="1200" dirty="0" err="1">
                <a:solidFill>
                  <a:schemeClr val="tx1"/>
                </a:solidFill>
                <a:effectLst/>
                <a:latin typeface="+mn-lt"/>
                <a:ea typeface="+mn-ea"/>
                <a:cs typeface="+mn-cs"/>
              </a:rPr>
              <a:t>organisations</a:t>
            </a:r>
            <a:r>
              <a:rPr lang="en-US" sz="1200" b="0" i="0" u="none" strike="noStrike" kern="1200" dirty="0">
                <a:solidFill>
                  <a:schemeClr val="tx1"/>
                </a:solidFill>
                <a:effectLst/>
                <a:latin typeface="+mn-lt"/>
                <a:ea typeface="+mn-ea"/>
                <a:cs typeface="+mn-cs"/>
              </a:rPr>
              <a:t> keep their operational systems while using blockchain for reconciliation and shared visibility. </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More generally, blockchain works best when it augments current processes </a:t>
            </a:r>
            <a:r>
              <a:rPr lang="en-US" dirty="0"/>
              <a:t>(e.g. for auditability, multi-party coordination) instead of trying to replace everything at once.</a:t>
            </a:r>
          </a:p>
          <a:p>
            <a:r>
              <a:rPr lang="en-US" sz="1200" b="0" i="0" u="none" strike="noStrike" kern="1200" dirty="0">
                <a:solidFill>
                  <a:schemeClr val="tx1"/>
                </a:solidFill>
                <a:effectLst/>
                <a:latin typeface="+mn-lt"/>
                <a:ea typeface="+mn-ea"/>
                <a:cs typeface="+mn-cs"/>
              </a:rPr>
              <a:t>A key lesson is that blockchain should be introduced as a complementary layer – a shared ledger – rather than a full rip-and-replace of existing IT.</a:t>
            </a:r>
            <a:endParaRPr lang="en-US" sz="1200" b="0" i="0" u="none" strike="noStrike" kern="1200" dirty="0">
              <a:solidFill>
                <a:schemeClr val="tx1"/>
              </a:solidFill>
              <a:effectLst/>
              <a:latin typeface="+mn-lt"/>
            </a:endParaRP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Reference 19: </a:t>
            </a:r>
            <a:r>
              <a:rPr lang="en-US" sz="1200" b="0" i="0" u="none" strike="noStrike" kern="1200" dirty="0">
                <a:solidFill>
                  <a:schemeClr val="tx1"/>
                </a:solidFill>
                <a:effectLst/>
                <a:latin typeface="+mn-lt"/>
                <a:ea typeface="+mn-ea"/>
                <a:cs typeface="+mn-cs"/>
              </a:rPr>
              <a:t>Salzano, F., Marchesi, L., Remo </a:t>
            </a:r>
            <a:r>
              <a:rPr lang="en-US" sz="1200" b="0" i="0" u="none" strike="noStrike" kern="1200" dirty="0" err="1">
                <a:solidFill>
                  <a:schemeClr val="tx1"/>
                </a:solidFill>
                <a:effectLst/>
                <a:latin typeface="+mn-lt"/>
                <a:ea typeface="+mn-ea"/>
                <a:cs typeface="+mn-cs"/>
              </a:rPr>
              <a:t>Pareschi</a:t>
            </a:r>
            <a:r>
              <a:rPr lang="en-US" sz="1200" b="0" i="0" u="none" strike="noStrike" kern="1200" dirty="0">
                <a:solidFill>
                  <a:schemeClr val="tx1"/>
                </a:solidFill>
                <a:effectLst/>
                <a:latin typeface="+mn-lt"/>
                <a:ea typeface="+mn-ea"/>
                <a:cs typeface="+mn-cs"/>
              </a:rPr>
              <a:t> and Tonelli, R. (2024) Integrating Blockchain technology within an Information Ecosystem. </a:t>
            </a:r>
            <a:r>
              <a:rPr lang="en-US" sz="1200" b="0" i="1" u="none" strike="noStrike" kern="1200" dirty="0">
                <a:solidFill>
                  <a:schemeClr val="tx1"/>
                </a:solidFill>
                <a:effectLst/>
                <a:latin typeface="+mn-lt"/>
                <a:ea typeface="+mn-ea"/>
                <a:cs typeface="+mn-cs"/>
              </a:rPr>
              <a:t>Blockchain Research and Applications</a:t>
            </a:r>
            <a:r>
              <a:rPr lang="en-US" sz="1200" b="0" i="0" u="none" strike="noStrike" kern="1200" dirty="0">
                <a:solidFill>
                  <a:schemeClr val="tx1"/>
                </a:solidFill>
                <a:effectLst/>
                <a:latin typeface="+mn-lt"/>
                <a:ea typeface="+mn-ea"/>
                <a:cs typeface="+mn-cs"/>
              </a:rPr>
              <a:t> Elsevier BV100225–100225.</a:t>
            </a:r>
            <a:endParaRPr lang="en-US" dirty="0"/>
          </a:p>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ctr"/>
            <a:r>
              <a:rPr lang="en-US" dirty="0"/>
              <a:t>Recommendations are evidence-based and actionable.</a:t>
            </a:r>
          </a:p>
          <a:p>
            <a:endParaRPr lang="en-US" dirty="0"/>
          </a:p>
          <a:p>
            <a:pPr marL="228600" indent="-228600">
              <a:buAutoNum type="arabicPeriod"/>
            </a:pPr>
            <a:r>
              <a:rPr lang="en-US" b="1" dirty="0"/>
              <a:t>Develop cross-industry management.</a:t>
            </a:r>
            <a:endParaRPr lang="en-US" b="1" i="0" u="none" strike="noStrike" kern="1200" dirty="0">
              <a:effectLst/>
            </a:endParaRPr>
          </a:p>
          <a:p>
            <a:pPr marL="0" indent="0">
              <a:buNone/>
            </a:pP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demonstrated that blockchain can technically reconcile conflicting flight data, however governance failures prevented adoption at scale.</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The pilot lacked clarity on the following:</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Who owns and maintains smart contracts</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How arbitration decisions are managed</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How costs and responsibilities are shared</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SITA identified governance as the primary barrier, even more significant than technology.</a:t>
            </a:r>
            <a:endParaRPr lang="en-US" sz="1200" b="0" i="0" u="none" strike="noStrike" kern="1200" dirty="0">
              <a:solidFill>
                <a:schemeClr val="tx1"/>
              </a:solidFill>
              <a:effectLst/>
              <a:latin typeface="+mn-lt"/>
            </a:endParaRP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We recommend creating a neutral industry authority such as IATA or ACI to oversee rules, membership, data rights and dispute resolution would reflect aviation’s long-standing reliance on shared governance structures. </a:t>
            </a:r>
            <a:endParaRPr lang="en-US" sz="1200" b="0" i="0" u="none" strike="noStrike" kern="1200" dirty="0">
              <a:solidFill>
                <a:schemeClr val="tx1"/>
              </a:solidFill>
              <a:effectLst/>
              <a:latin typeface="+mn-lt"/>
            </a:endParaRP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2. </a:t>
            </a:r>
            <a:r>
              <a:rPr lang="en-US" b="1" dirty="0"/>
              <a:t>Make smart contracts </a:t>
            </a:r>
            <a:r>
              <a:rPr lang="en-US" b="1" u="none" strike="noStrike" kern="1200" dirty="0">
                <a:effectLst/>
              </a:rPr>
              <a:t>One Record</a:t>
            </a:r>
            <a:r>
              <a:rPr lang="en-US" b="1" dirty="0"/>
              <a:t> Compliant.</a:t>
            </a:r>
            <a:endParaRPr lang="en-US" b="1" i="0" u="none" strike="noStrike" kern="1200" dirty="0">
              <a:effectLst/>
            </a:endParaRPr>
          </a:p>
          <a:p>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used custom smart contracts to reconcile flight data, but the lack of a </a:t>
            </a:r>
            <a:r>
              <a:rPr lang="en-US" sz="1200" b="0" i="0" u="none" strike="noStrike" kern="1200" dirty="0" err="1">
                <a:solidFill>
                  <a:schemeClr val="tx1"/>
                </a:solidFill>
                <a:effectLst/>
                <a:latin typeface="+mn-lt"/>
                <a:ea typeface="+mn-ea"/>
                <a:cs typeface="+mn-cs"/>
              </a:rPr>
              <a:t>standardised</a:t>
            </a:r>
            <a:r>
              <a:rPr lang="en-US" sz="1200" b="0" i="0" u="none" strike="noStrike" kern="1200" dirty="0">
                <a:solidFill>
                  <a:schemeClr val="tx1"/>
                </a:solidFill>
                <a:effectLst/>
                <a:latin typeface="+mn-lt"/>
                <a:ea typeface="+mn-ea"/>
                <a:cs typeface="+mn-cs"/>
              </a:rPr>
              <a:t>, industry-wide data model created interoperability and integration burdens. </a:t>
            </a:r>
            <a:endParaRPr lang="en-US" sz="1200" b="0" i="0" u="none" strike="noStrike" kern="1200" dirty="0">
              <a:solidFill>
                <a:schemeClr val="tx1"/>
              </a:solidFill>
              <a:effectLst/>
              <a:latin typeface="+mn-lt"/>
            </a:endParaRPr>
          </a:p>
          <a:p>
            <a:br>
              <a:rPr lang="en-US" sz="1200" b="0" i="0" u="none" strike="noStrike" kern="1200" dirty="0">
                <a:effectLst/>
                <a:cs typeface="+mn-lt"/>
              </a:rPr>
            </a:br>
            <a:r>
              <a:rPr lang="en-US" sz="1200" b="0" i="0" u="none" strike="noStrike" kern="1200" dirty="0">
                <a:solidFill>
                  <a:schemeClr val="tx1"/>
                </a:solidFill>
                <a:effectLst/>
                <a:latin typeface="+mn-lt"/>
                <a:ea typeface="+mn-ea"/>
                <a:cs typeface="+mn-cs"/>
              </a:rPr>
              <a:t>One Record provides:</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A unified data model</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API standards</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Clear governance and version control</a:t>
            </a:r>
            <a:endParaRPr lang="en-US" sz="1200" b="0" i="0" u="none" strike="noStrike" kern="1200" dirty="0">
              <a:solidFill>
                <a:schemeClr val="tx1"/>
              </a:solidFill>
              <a:effectLst/>
              <a:latin typeface="+mn-lt"/>
            </a:endParaRPr>
          </a:p>
          <a:p>
            <a:pPr marL="171450" indent="-171450">
              <a:buFont typeface="Arial" panose="020B0604020202020204" pitchFamily="34" charset="0"/>
              <a:buChar char="•"/>
            </a:pPr>
            <a:r>
              <a:rPr lang="en-US" sz="1200" b="0" i="0" u="none" strike="noStrike" kern="1200" dirty="0" err="1">
                <a:solidFill>
                  <a:schemeClr val="tx1"/>
                </a:solidFill>
                <a:effectLst/>
                <a:latin typeface="+mn-lt"/>
                <a:ea typeface="+mn-ea"/>
                <a:cs typeface="+mn-cs"/>
              </a:rPr>
              <a:t>Aligining</a:t>
            </a:r>
            <a:r>
              <a:rPr lang="en-US" sz="1200" b="0" i="0" u="none" strike="noStrike" kern="1200" dirty="0">
                <a:solidFill>
                  <a:schemeClr val="tx1"/>
                </a:solidFill>
                <a:effectLst/>
                <a:latin typeface="+mn-lt"/>
                <a:ea typeface="+mn-ea"/>
                <a:cs typeface="+mn-cs"/>
              </a:rPr>
              <a:t> smart contracts with One Record would reduce technical integration costs, highlighted as a challenge in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and enable consistency across airlines and airports.</a:t>
            </a:r>
            <a:endParaRPr lang="en-US" sz="1200" b="0" i="0" u="none" strike="noStrike" kern="1200" dirty="0">
              <a:solidFill>
                <a:schemeClr val="tx1"/>
              </a:solidFill>
              <a:effectLst/>
              <a:latin typeface="+mn-lt"/>
            </a:endParaRPr>
          </a:p>
          <a:p>
            <a:endParaRPr lang="en-US" b="1" dirty="0">
              <a:solidFill>
                <a:srgbClr val="FF0000"/>
              </a:solidFill>
            </a:endParaRPr>
          </a:p>
          <a:p>
            <a:r>
              <a:rPr lang="en-US" sz="1200" b="1" i="0" u="none" strike="noStrike" kern="1200" dirty="0">
                <a:solidFill>
                  <a:srgbClr val="FF0000"/>
                </a:solidFill>
                <a:effectLst/>
                <a:latin typeface="+mn-lt"/>
                <a:ea typeface="+mn-ea"/>
                <a:cs typeface="+mn-cs"/>
              </a:rPr>
              <a:t>3. </a:t>
            </a:r>
            <a:r>
              <a:rPr lang="en-US" i="0" u="none" strike="noStrike" kern="1200" dirty="0">
                <a:solidFill>
                  <a:srgbClr val="FF0000"/>
                </a:solidFill>
                <a:effectLst/>
              </a:rPr>
              <a:t>Architectures</a:t>
            </a:r>
            <a:r>
              <a:rPr lang="en-US" dirty="0">
                <a:solidFill>
                  <a:srgbClr val="FF0000"/>
                </a:solidFill>
              </a:rPr>
              <a:t> Go hybrid blockchain- API.</a:t>
            </a:r>
            <a:endParaRPr lang="en-US" dirty="0"/>
          </a:p>
          <a:p>
            <a:endParaRPr lang="en-US" sz="1200" b="1" i="0" u="none" strike="noStrike" kern="1200" dirty="0">
              <a:solidFill>
                <a:srgbClr val="FF0000"/>
              </a:solidFill>
              <a:effectLst/>
              <a:latin typeface="+mn-lt"/>
            </a:endParaRPr>
          </a:p>
          <a:p>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processed </a:t>
            </a:r>
            <a:r>
              <a:rPr lang="en-US" sz="1200" b="1" i="0" u="none" strike="noStrike" kern="1200" dirty="0">
                <a:solidFill>
                  <a:schemeClr val="tx1"/>
                </a:solidFill>
                <a:effectLst/>
                <a:latin typeface="+mn-lt"/>
                <a:ea typeface="+mn-ea"/>
                <a:cs typeface="+mn-cs"/>
              </a:rPr>
              <a:t>2 million+ data updates</a:t>
            </a:r>
            <a:r>
              <a:rPr lang="en-US" sz="1200" b="0" i="0" u="none" strike="noStrike" kern="1200" dirty="0">
                <a:solidFill>
                  <a:schemeClr val="tx1"/>
                </a:solidFill>
                <a:effectLst/>
                <a:latin typeface="+mn-lt"/>
                <a:ea typeface="+mn-ea"/>
                <a:cs typeface="+mn-cs"/>
              </a:rPr>
              <a:t>, showing feasibility but exposing performance and scalability limits for a blockchain-only system.</a:t>
            </a:r>
            <a:endParaRPr lang="en-US" sz="1200" b="0" i="0" u="none" strike="noStrike" kern="1200" dirty="0">
              <a:solidFill>
                <a:schemeClr val="tx1"/>
              </a:solidFill>
              <a:effectLst/>
              <a:latin typeface="+mn-lt"/>
            </a:endParaRPr>
          </a:p>
          <a:p>
            <a:r>
              <a:rPr lang="en-US" sz="1200" b="1" i="0" u="none" strike="noStrike" kern="1200" dirty="0">
                <a:solidFill>
                  <a:schemeClr val="tx1"/>
                </a:solidFill>
                <a:effectLst/>
                <a:latin typeface="+mn-lt"/>
                <a:ea typeface="+mn-ea"/>
                <a:cs typeface="+mn-cs"/>
              </a:rPr>
              <a:t>Reference: </a:t>
            </a:r>
            <a:r>
              <a:rPr lang="en-US" sz="1200" b="0" i="0" u="none" strike="noStrike" kern="1200" dirty="0">
                <a:solidFill>
                  <a:schemeClr val="tx1"/>
                </a:solidFill>
                <a:effectLst/>
                <a:latin typeface="+mn-lt"/>
                <a:ea typeface="+mn-ea"/>
                <a:cs typeface="+mn-cs"/>
              </a:rPr>
              <a:t>Baker, J. (2018) </a:t>
            </a:r>
            <a:r>
              <a:rPr lang="en-US" sz="1200" b="0" i="1" u="none" strike="noStrike" kern="1200" dirty="0">
                <a:solidFill>
                  <a:schemeClr val="tx1"/>
                </a:solidFill>
                <a:effectLst/>
                <a:latin typeface="+mn-lt"/>
                <a:ea typeface="+mn-ea"/>
                <a:cs typeface="+mn-cs"/>
              </a:rPr>
              <a:t>Blockchain: the future of flight data management?</a:t>
            </a:r>
            <a:r>
              <a:rPr lang="en-US" sz="1200" b="0" i="0" u="none" strike="noStrike" kern="1200" dirty="0">
                <a:solidFill>
                  <a:schemeClr val="tx1"/>
                </a:solidFill>
                <a:effectLst/>
                <a:latin typeface="+mn-lt"/>
                <a:ea typeface="+mn-ea"/>
                <a:cs typeface="+mn-cs"/>
              </a:rPr>
              <a:t> https://www.airport-technology.com/features/blockchain-future-flight-data-management/</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A hybrid architecture would use:</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Blockchain for immutable audit trails and dispute resolution</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APIs (e.g., AIDX, One Record) for high-volume operational messaging</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This approach reduces latency concerns, aligns with industry preference for incremental innovation, and addresses regulator concerns over data </a:t>
            </a:r>
            <a:r>
              <a:rPr lang="en-US" sz="1200" b="0" i="0" u="none" strike="noStrike" kern="1200" dirty="0" err="1">
                <a:solidFill>
                  <a:schemeClr val="tx1"/>
                </a:solidFill>
                <a:effectLst/>
                <a:latin typeface="+mn-lt"/>
                <a:ea typeface="+mn-ea"/>
                <a:cs typeface="+mn-cs"/>
              </a:rPr>
              <a:t>minimisation</a:t>
            </a:r>
            <a:r>
              <a:rPr lang="en-US" sz="1200" b="0" i="0" u="none" strike="noStrike" kern="1200" dirty="0">
                <a:solidFill>
                  <a:schemeClr val="tx1"/>
                </a:solidFill>
                <a:effectLst/>
                <a:latin typeface="+mn-lt"/>
                <a:ea typeface="+mn-ea"/>
                <a:cs typeface="+mn-cs"/>
              </a:rPr>
              <a:t>.</a:t>
            </a:r>
            <a:endParaRPr lang="en-US" sz="1200" b="0" i="0" u="none" strike="noStrike" kern="1200" dirty="0">
              <a:solidFill>
                <a:schemeClr val="tx1"/>
              </a:solidFill>
              <a:effectLst/>
              <a:latin typeface="+mn-lt"/>
            </a:endParaRP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4. Engage Regulators Early in Design</a:t>
            </a:r>
            <a:endParaRPr lang="en-US" sz="1200" b="1"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Aviation is highly regulated, and blockchain introduces new legal issues:</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Compliance with GDPR and cross-border data laws</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Liability for automated arbitration outcomes</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Auditability of smart contracts</a:t>
            </a:r>
            <a:endParaRPr lang="en-US" sz="1200" b="0" i="0" u="none" strike="noStrike" kern="1200" dirty="0">
              <a:solidFill>
                <a:schemeClr val="tx1"/>
              </a:solidFill>
              <a:effectLst/>
              <a:latin typeface="+mn-lt"/>
            </a:endParaRPr>
          </a:p>
          <a:p>
            <a:r>
              <a:rPr lang="en-US" sz="1200" b="0" i="0" u="none" strike="noStrike" kern="1200" dirty="0">
                <a:solidFill>
                  <a:schemeClr val="tx1"/>
                </a:solidFill>
                <a:effectLst/>
                <a:latin typeface="+mn-lt"/>
                <a:ea typeface="+mn-ea"/>
                <a:cs typeface="+mn-cs"/>
              </a:rPr>
              <a:t>Your triangulation findings show regulators placed stronger emphasis on privacy and legal enforceability than technical or industry sources.</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ctr"/>
            <a:r>
              <a:rPr lang="en-US" dirty="0"/>
              <a:t>Measures link directly to identified problems.</a:t>
            </a:r>
          </a:p>
          <a:p>
            <a:endParaRPr lang="en-US" dirty="0"/>
          </a:p>
          <a:p>
            <a:r>
              <a:rPr lang="en-US" sz="1200" b="1" i="0" u="none" strike="noStrike" kern="1200" dirty="0">
                <a:solidFill>
                  <a:schemeClr val="tx1"/>
                </a:solidFill>
                <a:effectLst/>
                <a:latin typeface="+mn-lt"/>
                <a:ea typeface="+mn-ea"/>
                <a:cs typeface="+mn-cs"/>
              </a:rPr>
              <a:t>Overview</a:t>
            </a:r>
          </a:p>
          <a:p>
            <a:r>
              <a:rPr lang="en-US" sz="1200" b="0" i="0" u="none" strike="noStrike" kern="1200" dirty="0">
                <a:solidFill>
                  <a:schemeClr val="tx1"/>
                </a:solidFill>
                <a:effectLst/>
                <a:latin typeface="+mn-lt"/>
                <a:ea typeface="+mn-ea"/>
                <a:cs typeface="+mn-cs"/>
              </a:rPr>
              <a:t>To successfully implement or scale a system like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the </a:t>
            </a:r>
            <a:r>
              <a:rPr lang="en-US" sz="1200" b="0" i="0" u="none" strike="noStrike" kern="1200" dirty="0" err="1">
                <a:solidFill>
                  <a:schemeClr val="tx1"/>
                </a:solidFill>
                <a:effectLst/>
                <a:latin typeface="+mn-lt"/>
                <a:ea typeface="+mn-ea"/>
                <a:cs typeface="+mn-cs"/>
              </a:rPr>
              <a:t>organisation</a:t>
            </a:r>
            <a:r>
              <a:rPr lang="en-US" sz="1200" b="0" i="0" u="none" strike="noStrike" kern="1200" dirty="0">
                <a:solidFill>
                  <a:schemeClr val="tx1"/>
                </a:solidFill>
                <a:effectLst/>
                <a:latin typeface="+mn-lt"/>
                <a:ea typeface="+mn-ea"/>
                <a:cs typeface="+mn-cs"/>
              </a:rPr>
              <a:t> needs to allocate the right </a:t>
            </a:r>
            <a:r>
              <a:rPr lang="en-US" sz="1200" b="1" i="0" u="none" strike="noStrike" kern="1200" dirty="0">
                <a:solidFill>
                  <a:schemeClr val="tx1"/>
                </a:solidFill>
                <a:effectLst/>
                <a:latin typeface="+mn-lt"/>
                <a:ea typeface="+mn-ea"/>
                <a:cs typeface="+mn-cs"/>
              </a:rPr>
              <a:t>technical, organisational, and financial resources</a:t>
            </a:r>
            <a:r>
              <a:rPr lang="en-US" sz="1200" b="0" i="0" u="none" strike="noStrike" kern="1200" dirty="0">
                <a:solidFill>
                  <a:schemeClr val="tx1"/>
                </a:solidFill>
                <a:effectLst/>
                <a:latin typeface="+mn-lt"/>
                <a:ea typeface="+mn-ea"/>
                <a:cs typeface="+mn-cs"/>
              </a:rPr>
              <a:t>, and define measurable </a:t>
            </a:r>
            <a:r>
              <a:rPr lang="en-US" sz="1200" b="1" i="0" u="none" strike="noStrike" kern="1200" dirty="0">
                <a:solidFill>
                  <a:schemeClr val="tx1"/>
                </a:solidFill>
                <a:effectLst/>
                <a:latin typeface="+mn-lt"/>
                <a:ea typeface="+mn-ea"/>
                <a:cs typeface="+mn-cs"/>
              </a:rPr>
              <a:t>KPIs</a:t>
            </a:r>
            <a:r>
              <a:rPr lang="en-US" sz="1200" b="0" i="0" u="none" strike="noStrike" kern="1200" dirty="0">
                <a:solidFill>
                  <a:schemeClr val="tx1"/>
                </a:solidFill>
                <a:effectLst/>
                <a:latin typeface="+mn-lt"/>
                <a:ea typeface="+mn-ea"/>
                <a:cs typeface="+mn-cs"/>
              </a:rPr>
              <a:t> to track progress.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The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pilot provides evidence of where resources were stretched and what metrics matter most for industry-wide adoption.</a:t>
            </a:r>
          </a:p>
          <a:p>
            <a:endParaRPr lang="en-US" dirty="0"/>
          </a:p>
          <a:p>
            <a:r>
              <a:rPr lang="en-US" sz="1200" b="1" i="0" u="none" strike="noStrike" kern="1200" dirty="0">
                <a:solidFill>
                  <a:schemeClr val="tx1"/>
                </a:solidFill>
                <a:effectLst/>
                <a:latin typeface="+mn-lt"/>
                <a:ea typeface="+mn-ea"/>
                <a:cs typeface="+mn-cs"/>
              </a:rPr>
              <a:t>1. Technical Measures: Throughput, Latency, Resilience</a:t>
            </a:r>
          </a:p>
          <a:p>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processed </a:t>
            </a:r>
            <a:r>
              <a:rPr lang="en-US" sz="1200" b="1" i="0" u="none" strike="noStrike" kern="1200" dirty="0">
                <a:solidFill>
                  <a:schemeClr val="tx1"/>
                </a:solidFill>
                <a:effectLst/>
                <a:latin typeface="+mn-lt"/>
                <a:ea typeface="+mn-ea"/>
                <a:cs typeface="+mn-cs"/>
              </a:rPr>
              <a:t>over 2 million flight update events</a:t>
            </a:r>
            <a:r>
              <a:rPr lang="en-US" sz="1200" b="0" i="0" u="none" strike="noStrike" kern="1200" dirty="0">
                <a:solidFill>
                  <a:schemeClr val="tx1"/>
                </a:solidFill>
                <a:effectLst/>
                <a:latin typeface="+mn-lt"/>
                <a:ea typeface="+mn-ea"/>
                <a:cs typeface="+mn-cs"/>
              </a:rPr>
              <a:t>, demonstrating feasibility but revealing pressure on system performance.</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Key technical success factors include:</a:t>
            </a:r>
          </a:p>
          <a:p>
            <a:r>
              <a:rPr lang="en-US" sz="1200" b="1" i="0" u="none" strike="noStrike" kern="1200" dirty="0">
                <a:solidFill>
                  <a:schemeClr val="tx1"/>
                </a:solidFill>
                <a:effectLst/>
                <a:latin typeface="+mn-lt"/>
                <a:ea typeface="+mn-ea"/>
                <a:cs typeface="+mn-cs"/>
              </a:rPr>
              <a:t>Throughput:</a:t>
            </a:r>
            <a:r>
              <a:rPr lang="en-US" sz="1200" b="0" i="0" u="none" strike="noStrike" kern="1200" dirty="0">
                <a:solidFill>
                  <a:schemeClr val="tx1"/>
                </a:solidFill>
                <a:effectLst/>
                <a:latin typeface="+mn-lt"/>
                <a:ea typeface="+mn-ea"/>
                <a:cs typeface="+mn-cs"/>
              </a:rPr>
              <a:t> Ability to process high volumes of real-time flight data without bottlenecks.</a:t>
            </a:r>
          </a:p>
          <a:p>
            <a:r>
              <a:rPr lang="en-US" sz="1200" b="1" i="0" u="none" strike="noStrike" kern="1200" dirty="0">
                <a:solidFill>
                  <a:schemeClr val="tx1"/>
                </a:solidFill>
                <a:effectLst/>
                <a:latin typeface="+mn-lt"/>
                <a:ea typeface="+mn-ea"/>
                <a:cs typeface="+mn-cs"/>
              </a:rPr>
              <a:t>Latency:</a:t>
            </a:r>
            <a:r>
              <a:rPr lang="en-US" sz="1200" b="0" i="0" u="none" strike="noStrike" kern="1200" dirty="0">
                <a:solidFill>
                  <a:schemeClr val="tx1"/>
                </a:solidFill>
                <a:effectLst/>
                <a:latin typeface="+mn-lt"/>
                <a:ea typeface="+mn-ea"/>
                <a:cs typeface="+mn-cs"/>
              </a:rPr>
              <a:t> Ensuring updates propagate quickly enough to support operations in congested hubs (e.g., Heathrow).</a:t>
            </a:r>
          </a:p>
          <a:p>
            <a:r>
              <a:rPr lang="en-US" sz="1200" b="1" i="0" u="none" strike="noStrike" kern="1200" dirty="0">
                <a:solidFill>
                  <a:schemeClr val="tx1"/>
                </a:solidFill>
                <a:effectLst/>
                <a:latin typeface="+mn-lt"/>
                <a:ea typeface="+mn-ea"/>
                <a:cs typeface="+mn-cs"/>
              </a:rPr>
              <a:t>Resilience:</a:t>
            </a:r>
            <a:r>
              <a:rPr lang="en-US" sz="1200" b="0" i="0" u="none" strike="noStrike" kern="1200" dirty="0">
                <a:solidFill>
                  <a:schemeClr val="tx1"/>
                </a:solidFill>
                <a:effectLst/>
                <a:latin typeface="+mn-lt"/>
                <a:ea typeface="+mn-ea"/>
                <a:cs typeface="+mn-cs"/>
              </a:rPr>
              <a:t> Continuous availability and fault tolerance across multiple airports and </a:t>
            </a:r>
            <a:r>
              <a:rPr lang="en-US" sz="1200" b="0" i="0" u="none" strike="noStrike" kern="1200" dirty="0" err="1">
                <a:solidFill>
                  <a:schemeClr val="tx1"/>
                </a:solidFill>
                <a:effectLst/>
                <a:latin typeface="+mn-lt"/>
                <a:ea typeface="+mn-ea"/>
                <a:cs typeface="+mn-cs"/>
              </a:rPr>
              <a:t>organisations</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The pilot showed that while blockchain can reconcile data, </a:t>
            </a:r>
            <a:r>
              <a:rPr lang="en-US" sz="1200" b="1" i="0" u="none" strike="noStrike" kern="1200" dirty="0">
                <a:solidFill>
                  <a:schemeClr val="tx1"/>
                </a:solidFill>
                <a:effectLst/>
                <a:latin typeface="+mn-lt"/>
                <a:ea typeface="+mn-ea"/>
                <a:cs typeface="+mn-cs"/>
              </a:rPr>
              <a:t>scalability remained constrained</a:t>
            </a:r>
            <a:r>
              <a:rPr lang="en-US" sz="1200" b="0" i="0" u="none" strike="noStrike" kern="1200" dirty="0">
                <a:solidFill>
                  <a:schemeClr val="tx1"/>
                </a:solidFill>
                <a:effectLst/>
                <a:latin typeface="+mn-lt"/>
                <a:ea typeface="+mn-ea"/>
                <a:cs typeface="+mn-cs"/>
              </a:rPr>
              <a:t>, reflecting concerns raised in the triangulation findings.</a:t>
            </a:r>
          </a:p>
          <a:p>
            <a:r>
              <a:rPr lang="en-US" b="1" dirty="0"/>
              <a:t>Reference 1: (</a:t>
            </a:r>
            <a:r>
              <a:rPr lang="en-US" dirty="0"/>
              <a:t>SITA (2017) </a:t>
            </a:r>
            <a:r>
              <a:rPr lang="en-US" i="1" dirty="0" err="1"/>
              <a:t>FlightChain</a:t>
            </a:r>
            <a:r>
              <a:rPr lang="en-US" i="1" dirty="0"/>
              <a:t>: Shared truth for a frictionless journey</a:t>
            </a:r>
            <a:r>
              <a:rPr lang="en-US" dirty="0"/>
              <a:t>. .: </a:t>
            </a:r>
            <a:r>
              <a:rPr lang="en-US" dirty="0">
                <a:hlinkClick r:id="rId3"/>
              </a:rPr>
              <a:t>https://www.sita.aero/resources/white-papers/flightchain-shared-control-of-data/</a:t>
            </a:r>
            <a:endParaRPr lang="en-US" dirty="0"/>
          </a:p>
          <a:p>
            <a:r>
              <a:rPr lang="en-US" dirty="0"/>
              <a:t>(SITA, 2017)</a:t>
            </a:r>
          </a:p>
          <a:p>
            <a:endParaRPr lang="en-US" sz="1200" b="0" i="0" u="none" strike="noStrike" kern="1200" dirty="0">
              <a:solidFill>
                <a:schemeClr val="tx1"/>
              </a:solidFill>
              <a:effectLst/>
              <a:latin typeface="+mn-lt"/>
              <a:ea typeface="+mn-ea"/>
              <a:cs typeface="+mn-cs"/>
            </a:endParaRPr>
          </a:p>
          <a:p>
            <a:br>
              <a:rPr lang="en-US" dirty="0"/>
            </a:br>
            <a:br>
              <a:rPr lang="en-US" dirty="0"/>
            </a:br>
            <a:r>
              <a:rPr lang="en-US" sz="1200" b="1" i="0" u="none" strike="noStrike" kern="1200" dirty="0">
                <a:solidFill>
                  <a:schemeClr val="tx1"/>
                </a:solidFill>
                <a:effectLst/>
                <a:latin typeface="+mn-lt"/>
                <a:ea typeface="+mn-ea"/>
                <a:cs typeface="+mn-cs"/>
              </a:rPr>
              <a:t>3. Financial Measures: Integration Cost vs ROI</a:t>
            </a:r>
          </a:p>
          <a:p>
            <a:r>
              <a:rPr lang="en-US" sz="1200" b="0" i="0" u="none" strike="noStrike" kern="1200" dirty="0">
                <a:solidFill>
                  <a:schemeClr val="tx1"/>
                </a:solidFill>
                <a:effectLst/>
                <a:latin typeface="+mn-lt"/>
                <a:ea typeface="+mn-ea"/>
                <a:cs typeface="+mn-cs"/>
              </a:rPr>
              <a:t>Integrating legacy systems (AIDX, airport OPS systems, airline FMS) was one of the most expensive and complex aspects of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Financial success requires balancing:</a:t>
            </a:r>
          </a:p>
          <a:p>
            <a:r>
              <a:rPr lang="en-US" sz="1200" b="1" i="0" u="none" strike="noStrike" kern="1200" dirty="0">
                <a:solidFill>
                  <a:schemeClr val="tx1"/>
                </a:solidFill>
                <a:effectLst/>
                <a:latin typeface="+mn-lt"/>
                <a:ea typeface="+mn-ea"/>
                <a:cs typeface="+mn-cs"/>
              </a:rPr>
              <a:t>Integration Costs:</a:t>
            </a:r>
            <a:r>
              <a:rPr lang="en-US" sz="1200" b="0" i="0" u="none" strike="noStrike" kern="1200" dirty="0">
                <a:solidFill>
                  <a:schemeClr val="tx1"/>
                </a:solidFill>
                <a:effectLst/>
                <a:latin typeface="+mn-lt"/>
                <a:ea typeface="+mn-ea"/>
                <a:cs typeface="+mn-cs"/>
              </a:rPr>
              <a:t> APIs, smart contract maintenance, onboarding new airports/airlines.</a:t>
            </a:r>
          </a:p>
          <a:p>
            <a:r>
              <a:rPr lang="en-US" sz="1200" b="1" i="0" u="none" strike="noStrike" kern="1200" dirty="0">
                <a:solidFill>
                  <a:schemeClr val="tx1"/>
                </a:solidFill>
                <a:effectLst/>
                <a:latin typeface="+mn-lt"/>
                <a:ea typeface="+mn-ea"/>
                <a:cs typeface="+mn-cs"/>
              </a:rPr>
              <a:t>Return on Investment (ROI):</a:t>
            </a:r>
            <a:r>
              <a:rPr lang="en-US" sz="1200" b="0" i="0" u="none" strike="noStrike" kern="1200" dirty="0">
                <a:solidFill>
                  <a:schemeClr val="tx1"/>
                </a:solidFill>
                <a:effectLst/>
                <a:latin typeface="+mn-lt"/>
                <a:ea typeface="+mn-ea"/>
                <a:cs typeface="+mn-cs"/>
              </a:rPr>
              <a:t> Reduced operational disputes, fewer data conflicts, lower compensation liability (e.g., EU261), more accurate planning, and operational efficiency.</a:t>
            </a:r>
          </a:p>
          <a:p>
            <a:r>
              <a:rPr lang="en-US" sz="1200" b="0" i="0" u="none" strike="noStrike" kern="1200" dirty="0">
                <a:solidFill>
                  <a:schemeClr val="tx1"/>
                </a:solidFill>
                <a:effectLst/>
                <a:latin typeface="+mn-lt"/>
                <a:ea typeface="+mn-ea"/>
                <a:cs typeface="+mn-cs"/>
              </a:rPr>
              <a:t>ROI improves only when the system reaches a critical mass of participants—highlighted by your comparison with IATA’s standards-driven One Record approach. </a:t>
            </a:r>
          </a:p>
          <a:p>
            <a:br>
              <a:rPr lang="en-US" dirty="0"/>
            </a:br>
            <a:br>
              <a:rPr lang="en-US" dirty="0"/>
            </a:br>
            <a:r>
              <a:rPr lang="en-US" sz="1200" b="1" i="0" u="none" strike="noStrike" kern="1200" dirty="0">
                <a:solidFill>
                  <a:schemeClr val="tx1"/>
                </a:solidFill>
                <a:effectLst/>
                <a:latin typeface="+mn-lt"/>
                <a:ea typeface="+mn-ea"/>
                <a:cs typeface="+mn-cs"/>
              </a:rPr>
              <a:t>4. KPIs: Reduced Data Conflicts &amp; Increased Adoption</a:t>
            </a:r>
          </a:p>
          <a:p>
            <a:r>
              <a:rPr lang="en-US" sz="1200" b="0" i="0" u="none" strike="noStrike" kern="1200" dirty="0">
                <a:solidFill>
                  <a:schemeClr val="tx1"/>
                </a:solidFill>
                <a:effectLst/>
                <a:latin typeface="+mn-lt"/>
                <a:ea typeface="+mn-ea"/>
                <a:cs typeface="+mn-cs"/>
              </a:rPr>
              <a:t>The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pilots proved blockchain could </a:t>
            </a:r>
            <a:r>
              <a:rPr lang="en-US" sz="1200" b="1" i="0" u="none" strike="noStrike" kern="1200" dirty="0">
                <a:solidFill>
                  <a:schemeClr val="tx1"/>
                </a:solidFill>
                <a:effectLst/>
                <a:latin typeface="+mn-lt"/>
                <a:ea typeface="+mn-ea"/>
                <a:cs typeface="+mn-cs"/>
              </a:rPr>
              <a:t>automatically reconcile conflicting flight information</a:t>
            </a:r>
            <a:r>
              <a:rPr lang="en-US" sz="1200" b="0" i="0" u="none" strike="noStrike" kern="1200" dirty="0">
                <a:solidFill>
                  <a:schemeClr val="tx1"/>
                </a:solidFill>
                <a:effectLst/>
                <a:latin typeface="+mn-lt"/>
                <a:ea typeface="+mn-ea"/>
                <a:cs typeface="+mn-cs"/>
              </a:rPr>
              <a:t> using smart contracts. This capability should be reflected in KPIs:</a:t>
            </a:r>
          </a:p>
          <a:p>
            <a:r>
              <a:rPr lang="en-US" sz="1200" b="1" i="0" u="none" strike="noStrike" kern="1200" dirty="0">
                <a:solidFill>
                  <a:schemeClr val="tx1"/>
                </a:solidFill>
                <a:effectLst/>
                <a:latin typeface="+mn-lt"/>
                <a:ea typeface="+mn-ea"/>
                <a:cs typeface="+mn-cs"/>
              </a:rPr>
              <a:t>↓ Data Conflicts:</a:t>
            </a:r>
            <a:r>
              <a:rPr lang="en-US" sz="1200" b="0" i="0" u="none" strike="noStrike" kern="1200" dirty="0">
                <a:solidFill>
                  <a:schemeClr val="tx1"/>
                </a:solidFill>
                <a:effectLst/>
                <a:latin typeface="+mn-lt"/>
                <a:ea typeface="+mn-ea"/>
                <a:cs typeface="+mn-cs"/>
              </a:rPr>
              <a:t> Fewer mismatches between airline, airport, and ANSP flight records. This was the central problem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aimed to solve.</a:t>
            </a:r>
          </a:p>
          <a:p>
            <a:endParaRPr lang="en-US" dirty="0"/>
          </a:p>
          <a:p>
            <a:r>
              <a:rPr lang="en-US" sz="1200" b="1" i="0" u="none" strike="noStrike" kern="1200" dirty="0">
                <a:solidFill>
                  <a:schemeClr val="tx1"/>
                </a:solidFill>
                <a:effectLst/>
                <a:latin typeface="+mn-lt"/>
                <a:ea typeface="+mn-ea"/>
                <a:cs typeface="+mn-cs"/>
              </a:rPr>
              <a:t>↑ Adoption:</a:t>
            </a:r>
            <a:r>
              <a:rPr lang="en-US" sz="1200" b="0" i="0" u="none" strike="noStrike" kern="1200" dirty="0">
                <a:solidFill>
                  <a:schemeClr val="tx1"/>
                </a:solidFill>
                <a:effectLst/>
                <a:latin typeface="+mn-lt"/>
                <a:ea typeface="+mn-ea"/>
                <a:cs typeface="+mn-cs"/>
              </a:rPr>
              <a:t> Number of airlines, airports, and system partners joining the platform. Adoption is critical because network effects determine value.</a:t>
            </a:r>
          </a:p>
          <a:p>
            <a:r>
              <a:rPr lang="en-US" sz="1200" b="0" i="0" u="none" strike="noStrike" kern="1200" dirty="0">
                <a:solidFill>
                  <a:schemeClr val="tx1"/>
                </a:solidFill>
                <a:effectLst/>
                <a:latin typeface="+mn-lt"/>
                <a:ea typeface="+mn-ea"/>
                <a:cs typeface="+mn-cs"/>
              </a:rPr>
              <a:t>Other possible KPIs:</a:t>
            </a:r>
          </a:p>
          <a:p>
            <a:r>
              <a:rPr lang="en-US" sz="1200" b="0" i="0" u="none" strike="noStrike" kern="1200" dirty="0">
                <a:solidFill>
                  <a:schemeClr val="tx1"/>
                </a:solidFill>
                <a:effectLst/>
                <a:latin typeface="+mn-lt"/>
                <a:ea typeface="+mn-ea"/>
                <a:cs typeface="+mn-cs"/>
              </a:rPr>
              <a:t>Smart contract accuracy rates</a:t>
            </a:r>
          </a:p>
          <a:p>
            <a:r>
              <a:rPr lang="en-US" sz="1200" b="0" i="0" u="none" strike="noStrike" kern="1200" dirty="0">
                <a:solidFill>
                  <a:schemeClr val="tx1"/>
                </a:solidFill>
                <a:effectLst/>
                <a:latin typeface="+mn-lt"/>
                <a:ea typeface="+mn-ea"/>
                <a:cs typeface="+mn-cs"/>
              </a:rPr>
              <a:t>Interoperability with IATA/ACI data standards</a:t>
            </a:r>
          </a:p>
          <a:p>
            <a:r>
              <a:rPr lang="en-US" sz="1200" b="0" i="0" u="none" strike="noStrike" kern="1200" dirty="0">
                <a:solidFill>
                  <a:schemeClr val="tx1"/>
                </a:solidFill>
                <a:effectLst/>
                <a:latin typeface="+mn-lt"/>
                <a:ea typeface="+mn-ea"/>
                <a:cs typeface="+mn-cs"/>
              </a:rPr>
              <a:t>Reduction in manual reconciliation workload</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228600" indent="-228600">
              <a:buAutoNum type="arabicPeriod"/>
            </a:pPr>
            <a:r>
              <a:rPr lang="en-GB" sz="1200" b="1" i="0" u="none" strike="noStrike" kern="1200" dirty="0">
                <a:solidFill>
                  <a:schemeClr val="tx1"/>
                </a:solidFill>
                <a:effectLst/>
                <a:latin typeface="+mn-lt"/>
                <a:ea typeface="+mn-ea"/>
                <a:cs typeface="+mn-cs"/>
              </a:rPr>
              <a:t>Hybrid architectures most viable in the near term</a:t>
            </a:r>
          </a:p>
          <a:p>
            <a:pPr marL="0" indent="0">
              <a:buNone/>
            </a:pPr>
            <a:r>
              <a:rPr lang="en-GB" sz="1200" b="0" i="0" u="none" strike="noStrike" kern="1200" dirty="0" err="1">
                <a:solidFill>
                  <a:schemeClr val="tx1"/>
                </a:solidFill>
                <a:effectLst/>
                <a:latin typeface="+mn-lt"/>
                <a:ea typeface="+mn-ea"/>
                <a:cs typeface="+mn-cs"/>
              </a:rPr>
              <a:t>FlightChain</a:t>
            </a:r>
            <a:r>
              <a:rPr lang="en-GB" sz="1200" b="0" i="0" u="none" strike="noStrike" kern="1200" dirty="0">
                <a:solidFill>
                  <a:schemeClr val="tx1"/>
                </a:solidFill>
                <a:effectLst/>
                <a:latin typeface="+mn-lt"/>
                <a:ea typeface="+mn-ea"/>
                <a:cs typeface="+mn-cs"/>
              </a:rPr>
              <a:t> showed that blockchain alone cannot meet all operational requirements, particularly scalability, latency, privacy and integration with legacy airport/airline systems. </a:t>
            </a:r>
          </a:p>
          <a:p>
            <a:r>
              <a:rPr lang="en-GB" sz="1200" b="0" i="0" u="none" strike="noStrike" kern="1200" dirty="0">
                <a:solidFill>
                  <a:schemeClr val="tx1"/>
                </a:solidFill>
                <a:effectLst/>
                <a:latin typeface="+mn-lt"/>
                <a:ea typeface="+mn-ea"/>
                <a:cs typeface="+mn-cs"/>
              </a:rPr>
              <a:t>Blockchain handles </a:t>
            </a:r>
            <a:r>
              <a:rPr lang="en-GB" sz="1200" b="0" i="1" u="none" strike="noStrike" kern="1200" dirty="0">
                <a:solidFill>
                  <a:schemeClr val="tx1"/>
                </a:solidFill>
                <a:effectLst/>
                <a:latin typeface="+mn-lt"/>
                <a:ea typeface="+mn-ea"/>
                <a:cs typeface="+mn-cs"/>
              </a:rPr>
              <a:t>immutability</a:t>
            </a:r>
            <a:r>
              <a:rPr lang="en-GB" sz="1200" b="0" i="0" u="none" strike="noStrike" kern="1200" dirty="0">
                <a:solidFill>
                  <a:schemeClr val="tx1"/>
                </a:solidFill>
                <a:effectLst/>
                <a:latin typeface="+mn-lt"/>
                <a:ea typeface="+mn-ea"/>
                <a:cs typeface="+mn-cs"/>
              </a:rPr>
              <a:t>, audit trails, and conflict arbitration.</a:t>
            </a:r>
          </a:p>
          <a:p>
            <a:r>
              <a:rPr lang="en-GB" sz="1200" b="0" i="0" u="none" strike="noStrike" kern="1200" dirty="0">
                <a:solidFill>
                  <a:schemeClr val="tx1"/>
                </a:solidFill>
                <a:effectLst/>
                <a:latin typeface="+mn-lt"/>
                <a:ea typeface="+mn-ea"/>
                <a:cs typeface="+mn-cs"/>
              </a:rPr>
              <a:t>APIs and traditional databases manage </a:t>
            </a:r>
            <a:r>
              <a:rPr lang="en-GB" sz="1200" b="0" i="1" u="none" strike="noStrike" kern="1200" dirty="0">
                <a:solidFill>
                  <a:schemeClr val="tx1"/>
                </a:solidFill>
                <a:effectLst/>
                <a:latin typeface="+mn-lt"/>
                <a:ea typeface="+mn-ea"/>
                <a:cs typeface="+mn-cs"/>
              </a:rPr>
              <a:t>high-volume, real-time</a:t>
            </a:r>
            <a:r>
              <a:rPr lang="en-GB" sz="1200" b="0" i="0" u="none" strike="noStrike" kern="1200" dirty="0">
                <a:solidFill>
                  <a:schemeClr val="tx1"/>
                </a:solidFill>
                <a:effectLst/>
                <a:latin typeface="+mn-lt"/>
                <a:ea typeface="+mn-ea"/>
                <a:cs typeface="+mn-cs"/>
              </a:rPr>
              <a:t> operational data.</a:t>
            </a:r>
          </a:p>
          <a:p>
            <a:r>
              <a:rPr lang="en-GB" sz="1200" b="0" i="0" u="none" strike="noStrike" kern="1200" dirty="0">
                <a:solidFill>
                  <a:schemeClr val="tx1"/>
                </a:solidFill>
                <a:effectLst/>
                <a:latin typeface="+mn-lt"/>
                <a:ea typeface="+mn-ea"/>
                <a:cs typeface="+mn-cs"/>
              </a:rPr>
              <a:t>This mirrors the direction taken by IATA (One Record) and major airline groups.</a:t>
            </a:r>
          </a:p>
          <a:p>
            <a:endParaRPr lang="en-GB" dirty="0"/>
          </a:p>
          <a:p>
            <a:endParaRPr lang="en-GB" dirty="0"/>
          </a:p>
          <a:p>
            <a:r>
              <a:rPr lang="en-GB" sz="1200" b="1" i="0" u="none" strike="noStrike" kern="1200" dirty="0">
                <a:solidFill>
                  <a:schemeClr val="tx1"/>
                </a:solidFill>
                <a:effectLst/>
                <a:latin typeface="+mn-lt"/>
                <a:ea typeface="+mn-ea"/>
                <a:cs typeface="+mn-cs"/>
              </a:rPr>
              <a:t>2. Maintenance and parts traceability emerging as strong use cases</a:t>
            </a:r>
          </a:p>
          <a:p>
            <a:r>
              <a:rPr lang="en-GB" sz="1200" b="0" i="0" u="none" strike="noStrike" kern="1200" dirty="0">
                <a:solidFill>
                  <a:schemeClr val="tx1"/>
                </a:solidFill>
                <a:effectLst/>
                <a:latin typeface="+mn-lt"/>
                <a:ea typeface="+mn-ea"/>
                <a:cs typeface="+mn-cs"/>
              </a:rPr>
              <a:t>While </a:t>
            </a:r>
            <a:r>
              <a:rPr lang="en-GB" sz="1200" b="0" i="0" u="none" strike="noStrike" kern="1200" dirty="0" err="1">
                <a:solidFill>
                  <a:schemeClr val="tx1"/>
                </a:solidFill>
                <a:effectLst/>
                <a:latin typeface="+mn-lt"/>
                <a:ea typeface="+mn-ea"/>
                <a:cs typeface="+mn-cs"/>
              </a:rPr>
              <a:t>FlightChain</a:t>
            </a:r>
            <a:r>
              <a:rPr lang="en-GB" sz="1200" b="0" i="0" u="none" strike="noStrike" kern="1200" dirty="0">
                <a:solidFill>
                  <a:schemeClr val="tx1"/>
                </a:solidFill>
                <a:effectLst/>
                <a:latin typeface="+mn-lt"/>
                <a:ea typeface="+mn-ea"/>
                <a:cs typeface="+mn-cs"/>
              </a:rPr>
              <a:t> focused on flight data, many aviation stakeholders see greater short-term value in applying blockchain to:</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Aircraft maintenance records</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Parts lifecycle tracking</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Certificates and airworthiness documentation</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These domains benefit from blockchain’s strengths: immutability, provenance tracking, and reduced paperwork.</a:t>
            </a: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Your deck notes that maintenance and parts traceability are gaining momentum as industry priorities for blockchain.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i="0" u="none" strike="noStrike" kern="1200" dirty="0">
                <a:solidFill>
                  <a:schemeClr val="tx1"/>
                </a:solidFill>
                <a:effectLst/>
                <a:latin typeface="+mn-lt"/>
                <a:ea typeface="+mn-ea"/>
                <a:cs typeface="+mn-cs"/>
              </a:rPr>
              <a:t>These use cases involve fewer real-time constraints and fewer cross-organisational disputes than flight operations, making them more scalable.</a:t>
            </a:r>
          </a:p>
          <a:p>
            <a:endParaRPr lang="en-GB" dirty="0"/>
          </a:p>
          <a:p>
            <a:endParaRPr lang="en-GB" dirty="0"/>
          </a:p>
          <a:p>
            <a:r>
              <a:rPr lang="en-GB" sz="1200" b="1" i="0" u="none" strike="noStrike" kern="1200" dirty="0">
                <a:solidFill>
                  <a:schemeClr val="tx1"/>
                </a:solidFill>
                <a:effectLst/>
                <a:latin typeface="+mn-lt"/>
                <a:ea typeface="+mn-ea"/>
                <a:cs typeface="+mn-cs"/>
              </a:rPr>
              <a:t>3. Ongoing research refining governance models</a:t>
            </a:r>
          </a:p>
          <a:p>
            <a:r>
              <a:rPr lang="en-GB" sz="1200" b="0" i="0" u="none" strike="noStrike" kern="1200" dirty="0">
                <a:solidFill>
                  <a:schemeClr val="tx1"/>
                </a:solidFill>
                <a:effectLst/>
                <a:latin typeface="+mn-lt"/>
                <a:ea typeface="+mn-ea"/>
                <a:cs typeface="+mn-cs"/>
              </a:rPr>
              <a:t>One of </a:t>
            </a:r>
            <a:r>
              <a:rPr lang="en-GB" sz="1200" b="0" i="0" u="none" strike="noStrike" kern="1200" dirty="0" err="1">
                <a:solidFill>
                  <a:schemeClr val="tx1"/>
                </a:solidFill>
                <a:effectLst/>
                <a:latin typeface="+mn-lt"/>
                <a:ea typeface="+mn-ea"/>
                <a:cs typeface="+mn-cs"/>
              </a:rPr>
              <a:t>FlightChain’s</a:t>
            </a:r>
            <a:r>
              <a:rPr lang="en-GB" sz="1200" b="0" i="0" u="none" strike="noStrike" kern="1200" dirty="0">
                <a:solidFill>
                  <a:schemeClr val="tx1"/>
                </a:solidFill>
                <a:effectLst/>
                <a:latin typeface="+mn-lt"/>
                <a:ea typeface="+mn-ea"/>
                <a:cs typeface="+mn-cs"/>
              </a:rPr>
              <a:t> key lessons was that governance, not technology, is the primary barrier to adoption. The case study repeatedly highlights unclear ownership, arbitration rights, and maintenance responsibilities.</a:t>
            </a:r>
          </a:p>
          <a:p>
            <a:endParaRPr lang="en-GB" dirty="0"/>
          </a:p>
          <a:p>
            <a:r>
              <a:rPr lang="en-GB" sz="1200" b="0" i="0" u="none" strike="noStrike" kern="1200" dirty="0">
                <a:solidFill>
                  <a:schemeClr val="tx1"/>
                </a:solidFill>
                <a:effectLst/>
                <a:latin typeface="+mn-lt"/>
                <a:ea typeface="+mn-ea"/>
                <a:cs typeface="+mn-cs"/>
              </a:rPr>
              <a:t>Current research is exploring:</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Consortium governance models (neutral operator vs rotating authority)</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Smart contract upgradeability frameworks</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Cross-border data-sharing rules</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Incentive structures for stakeholder participation</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Regulators, academia, and industry bodies such as IATA and ACI are experimenting with new governance blueprints to address the constraints that limited </a:t>
            </a:r>
            <a:r>
              <a:rPr lang="en-GB" sz="1200" b="0" i="0" u="none" strike="noStrike" kern="1200" dirty="0" err="1">
                <a:solidFill>
                  <a:schemeClr val="tx1"/>
                </a:solidFill>
                <a:effectLst/>
                <a:latin typeface="+mn-lt"/>
                <a:ea typeface="+mn-ea"/>
                <a:cs typeface="+mn-cs"/>
              </a:rPr>
              <a:t>FlightChain’s</a:t>
            </a:r>
            <a:r>
              <a:rPr lang="en-GB" sz="1200" b="0" i="0" u="none" strike="noStrike" kern="1200" dirty="0">
                <a:solidFill>
                  <a:schemeClr val="tx1"/>
                </a:solidFill>
                <a:effectLst/>
                <a:latin typeface="+mn-lt"/>
                <a:ea typeface="+mn-ea"/>
                <a:cs typeface="+mn-cs"/>
              </a:rPr>
              <a:t> scaling.</a:t>
            </a:r>
          </a:p>
          <a:p>
            <a:endParaRPr lang="en-GB" dirty="0"/>
          </a:p>
          <a:p>
            <a:endParaRPr lang="en-GB" dirty="0"/>
          </a:p>
          <a:p>
            <a:r>
              <a:rPr lang="en-GB" sz="1200" b="1" i="0" u="none" strike="noStrike" kern="1200" dirty="0">
                <a:solidFill>
                  <a:schemeClr val="tx1"/>
                </a:solidFill>
                <a:effectLst/>
                <a:latin typeface="+mn-lt"/>
                <a:ea typeface="+mn-ea"/>
                <a:cs typeface="+mn-cs"/>
              </a:rPr>
              <a:t>4. Adoption depends on standards alignment</a:t>
            </a:r>
          </a:p>
          <a:p>
            <a:r>
              <a:rPr lang="en-GB" sz="1200" b="0" i="0" u="none" strike="noStrike" kern="1200" dirty="0">
                <a:solidFill>
                  <a:schemeClr val="tx1"/>
                </a:solidFill>
                <a:effectLst/>
                <a:latin typeface="+mn-lt"/>
                <a:ea typeface="+mn-ea"/>
                <a:cs typeface="+mn-cs"/>
              </a:rPr>
              <a:t>Your comparison between </a:t>
            </a:r>
            <a:r>
              <a:rPr lang="en-GB" sz="1200" b="0" i="0" u="none" strike="noStrike" kern="1200" dirty="0" err="1">
                <a:solidFill>
                  <a:schemeClr val="tx1"/>
                </a:solidFill>
                <a:effectLst/>
                <a:latin typeface="+mn-lt"/>
                <a:ea typeface="+mn-ea"/>
                <a:cs typeface="+mn-cs"/>
              </a:rPr>
              <a:t>FlightChain</a:t>
            </a:r>
            <a:r>
              <a:rPr lang="en-GB" sz="1200" b="0" i="0" u="none" strike="noStrike" kern="1200" dirty="0">
                <a:solidFill>
                  <a:schemeClr val="tx1"/>
                </a:solidFill>
                <a:effectLst/>
                <a:latin typeface="+mn-lt"/>
                <a:ea typeface="+mn-ea"/>
                <a:cs typeface="+mn-cs"/>
              </a:rPr>
              <a:t> and IATA’s One Record shows that standards-first approaches tend to achieve broader adoption.</a:t>
            </a: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The success of any future blockchain solution will depend on alignment with:</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IATA One Record data models</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ACI ACRIS operational standards</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API and interoperability conventions</a:t>
            </a:r>
          </a:p>
          <a:p>
            <a:pPr marL="171450" indent="-171450">
              <a:buFont typeface="Arial" panose="020B0604020202020204" pitchFamily="34" charset="0"/>
              <a:buChar char="•"/>
            </a:pPr>
            <a:r>
              <a:rPr lang="en-GB" sz="1200" b="0" i="0" u="none" strike="noStrike" kern="1200" dirty="0">
                <a:solidFill>
                  <a:schemeClr val="tx1"/>
                </a:solidFill>
                <a:effectLst/>
                <a:latin typeface="+mn-lt"/>
                <a:ea typeface="+mn-ea"/>
                <a:cs typeface="+mn-cs"/>
              </a:rPr>
              <a:t>The deck highlights that interoperability is essential, and fragmented or proprietary data models weaken industry buy-in. </a:t>
            </a:r>
          </a:p>
          <a:p>
            <a:endParaRPr lang="en-GB" dirty="0"/>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Future adoption will accelerate only when blockchain platforms integrate smoothly with established aviation standards and regulatory frameworks.</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ctr"/>
            <a:r>
              <a:rPr lang="en-US" dirty="0"/>
              <a:t>Concludes by restating challenge, findings, and message.</a:t>
            </a:r>
          </a:p>
          <a:p>
            <a:endParaRPr lang="en-US" dirty="0"/>
          </a:p>
          <a:p>
            <a:r>
              <a:rPr lang="en-US" sz="1200" b="1" i="0" u="none" strike="noStrike" kern="1200" dirty="0">
                <a:solidFill>
                  <a:schemeClr val="tx1"/>
                </a:solidFill>
                <a:effectLst/>
                <a:latin typeface="+mn-lt"/>
                <a:ea typeface="+mn-ea"/>
                <a:cs typeface="+mn-cs"/>
              </a:rPr>
              <a:t>1. </a:t>
            </a:r>
            <a:r>
              <a:rPr lang="en-US" sz="1200" b="1" i="0" u="none" strike="noStrike" kern="1200" dirty="0" err="1">
                <a:solidFill>
                  <a:schemeClr val="tx1"/>
                </a:solidFill>
                <a:effectLst/>
                <a:latin typeface="+mn-lt"/>
                <a:ea typeface="+mn-ea"/>
                <a:cs typeface="+mn-cs"/>
              </a:rPr>
              <a:t>FlightChain</a:t>
            </a:r>
            <a:r>
              <a:rPr lang="en-US" sz="1200" b="1" i="0" u="none" strike="noStrike" kern="1200" dirty="0">
                <a:solidFill>
                  <a:schemeClr val="tx1"/>
                </a:solidFill>
                <a:effectLst/>
                <a:latin typeface="+mn-lt"/>
                <a:ea typeface="+mn-ea"/>
                <a:cs typeface="+mn-cs"/>
              </a:rPr>
              <a:t> proved technical feasibility</a:t>
            </a:r>
          </a:p>
          <a:p>
            <a:r>
              <a:rPr lang="en-US" sz="1200" b="0" i="0" u="none" strike="noStrike" kern="1200" dirty="0">
                <a:solidFill>
                  <a:schemeClr val="tx1"/>
                </a:solidFill>
                <a:effectLst/>
                <a:latin typeface="+mn-lt"/>
                <a:ea typeface="+mn-ea"/>
                <a:cs typeface="+mn-cs"/>
              </a:rPr>
              <a:t>The pilot successfully demonstrated that blockchain can reconcile conflicting flight data in real time.</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Smart contracts were able to automate arbitration between airline and airport data sources, processing over 2 million updates across Heathrow, Geneva, and Miami.</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This confirmed the </a:t>
            </a:r>
            <a:r>
              <a:rPr lang="en-US" sz="1200" b="0" i="1" u="none" strike="noStrike" kern="1200" dirty="0">
                <a:solidFill>
                  <a:schemeClr val="tx1"/>
                </a:solidFill>
                <a:effectLst/>
                <a:latin typeface="+mn-lt"/>
                <a:ea typeface="+mn-ea"/>
                <a:cs typeface="+mn-cs"/>
              </a:rPr>
              <a:t>technical viability</a:t>
            </a:r>
            <a:r>
              <a:rPr lang="en-US" sz="1200" b="0" i="0" u="none" strike="noStrike" kern="1200" dirty="0">
                <a:solidFill>
                  <a:schemeClr val="tx1"/>
                </a:solidFill>
                <a:effectLst/>
                <a:latin typeface="+mn-lt"/>
                <a:ea typeface="+mn-ea"/>
                <a:cs typeface="+mn-cs"/>
              </a:rPr>
              <a:t> of a shared, permissioned ledger for flight information.</a:t>
            </a:r>
          </a:p>
          <a:p>
            <a:endParaRPr lang="en-US" dirty="0"/>
          </a:p>
          <a:p>
            <a:endParaRPr lang="en-US" dirty="0"/>
          </a:p>
          <a:p>
            <a:r>
              <a:rPr lang="en-US" sz="1200" b="1" i="0" u="none" strike="noStrike" kern="1200" dirty="0">
                <a:solidFill>
                  <a:schemeClr val="tx1"/>
                </a:solidFill>
                <a:effectLst/>
                <a:latin typeface="+mn-lt"/>
                <a:ea typeface="+mn-ea"/>
                <a:cs typeface="+mn-cs"/>
              </a:rPr>
              <a:t>2. Governance and incentives blocked adoption</a:t>
            </a:r>
          </a:p>
          <a:p>
            <a:r>
              <a:rPr lang="en-US" sz="1200" b="0" i="0" u="none" strike="noStrike" kern="1200" dirty="0">
                <a:solidFill>
                  <a:schemeClr val="tx1"/>
                </a:solidFill>
                <a:effectLst/>
                <a:latin typeface="+mn-lt"/>
                <a:ea typeface="+mn-ea"/>
                <a:cs typeface="+mn-cs"/>
              </a:rPr>
              <a:t>Despite technical success,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failed to scale because the governance model was unclear:</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No agreement on ownership of the smart contracts</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Uncertainty about maintenance responsibilities</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Lack of clarity on cost-sharing</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Competitive tensions between airlines and airports</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Your case file highlights governance as the main adoption barrier, outweighing technological limitations.</a:t>
            </a:r>
          </a:p>
          <a:p>
            <a:endParaRPr lang="en-US" dirty="0"/>
          </a:p>
          <a:p>
            <a:endParaRPr lang="en-US" dirty="0"/>
          </a:p>
          <a:p>
            <a:r>
              <a:rPr lang="en-US" sz="1200" b="1" i="0" u="none" strike="noStrike" kern="1200" dirty="0">
                <a:solidFill>
                  <a:schemeClr val="tx1"/>
                </a:solidFill>
                <a:effectLst/>
                <a:latin typeface="+mn-lt"/>
                <a:ea typeface="+mn-ea"/>
                <a:cs typeface="+mn-cs"/>
              </a:rPr>
              <a:t>3. Standards and neutral oversight are critical</a:t>
            </a:r>
          </a:p>
          <a:p>
            <a:r>
              <a:rPr lang="en-US" sz="1200" b="0" i="0" u="none" strike="noStrike" kern="1200" dirty="0">
                <a:solidFill>
                  <a:schemeClr val="tx1"/>
                </a:solidFill>
                <a:effectLst/>
                <a:latin typeface="+mn-lt"/>
                <a:ea typeface="+mn-ea"/>
                <a:cs typeface="+mn-cs"/>
              </a:rPr>
              <a:t>The comparison with IATA’s One Record initiative illustrates that industry standards and neutral governance are essential for broad adoption.</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 </a:t>
            </a:r>
            <a:r>
              <a:rPr lang="en-US" sz="1200" b="0" i="0" u="none" strike="noStrike" kern="1200" dirty="0" err="1">
                <a:solidFill>
                  <a:schemeClr val="tx1"/>
                </a:solidFill>
                <a:effectLst/>
                <a:latin typeface="+mn-lt"/>
                <a:ea typeface="+mn-ea"/>
                <a:cs typeface="+mn-cs"/>
              </a:rPr>
              <a:t>centralised</a:t>
            </a:r>
            <a:r>
              <a:rPr lang="en-US" sz="1200" b="0" i="0" u="none" strike="noStrike" kern="1200" dirty="0">
                <a:solidFill>
                  <a:schemeClr val="tx1"/>
                </a:solidFill>
                <a:effectLst/>
                <a:latin typeface="+mn-lt"/>
                <a:ea typeface="+mn-ea"/>
                <a:cs typeface="+mn-cs"/>
              </a:rPr>
              <a:t> or neutral body (e.g., IATA, ACI) must set data models, access rules, and arbitration procedures.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This ensures interoperability and reduces integration friction—issues that </a:t>
            </a: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struggled with.</a:t>
            </a:r>
          </a:p>
          <a:p>
            <a:endParaRPr lang="en-US" dirty="0"/>
          </a:p>
          <a:p>
            <a:endParaRPr lang="en-US" dirty="0"/>
          </a:p>
          <a:p>
            <a:r>
              <a:rPr lang="en-US" sz="1200" b="1" i="0" u="none" strike="noStrike" kern="1200" dirty="0">
                <a:solidFill>
                  <a:schemeClr val="tx1"/>
                </a:solidFill>
                <a:effectLst/>
                <a:latin typeface="+mn-lt"/>
                <a:ea typeface="+mn-ea"/>
                <a:cs typeface="+mn-cs"/>
              </a:rPr>
              <a:t>4. Blockchain success depends on collaboration</a:t>
            </a:r>
          </a:p>
          <a:p>
            <a:r>
              <a:rPr lang="en-US" sz="1200" b="0" i="0" u="none" strike="noStrike" kern="1200" dirty="0">
                <a:solidFill>
                  <a:schemeClr val="tx1"/>
                </a:solidFill>
                <a:effectLst/>
                <a:latin typeface="+mn-lt"/>
                <a:ea typeface="+mn-ea"/>
                <a:cs typeface="+mn-cs"/>
              </a:rPr>
              <a:t>Blockchain is a </a:t>
            </a:r>
            <a:r>
              <a:rPr lang="en-US" sz="1200" b="0" i="1" u="none" strike="noStrike" kern="1200" dirty="0">
                <a:solidFill>
                  <a:schemeClr val="tx1"/>
                </a:solidFill>
                <a:effectLst/>
                <a:latin typeface="+mn-lt"/>
                <a:ea typeface="+mn-ea"/>
                <a:cs typeface="+mn-cs"/>
              </a:rPr>
              <a:t>multi-stakeholder technology</a:t>
            </a:r>
            <a:r>
              <a:rPr lang="en-US" sz="1200" b="0" i="0" u="none" strike="noStrike" kern="1200" dirty="0">
                <a:solidFill>
                  <a:schemeClr val="tx1"/>
                </a:solidFill>
                <a:effectLst/>
                <a:latin typeface="+mn-lt"/>
                <a:ea typeface="+mn-ea"/>
                <a:cs typeface="+mn-cs"/>
              </a:rPr>
              <a:t>—its value increases with participation.</a:t>
            </a:r>
            <a:br>
              <a:rPr lang="en-US" sz="1200" b="0" i="0" u="none" strike="noStrike" kern="1200" dirty="0">
                <a:solidFill>
                  <a:schemeClr val="tx1"/>
                </a:solidFill>
                <a:effectLst/>
                <a:latin typeface="+mn-lt"/>
                <a:ea typeface="+mn-ea"/>
                <a:cs typeface="+mn-cs"/>
              </a:rPr>
            </a:br>
            <a:r>
              <a:rPr lang="en-US" sz="1200" b="0" i="0" u="none" strike="noStrike" kern="1200" dirty="0" err="1">
                <a:solidFill>
                  <a:schemeClr val="tx1"/>
                </a:solidFill>
                <a:effectLst/>
                <a:latin typeface="+mn-lt"/>
                <a:ea typeface="+mn-ea"/>
                <a:cs typeface="+mn-cs"/>
              </a:rPr>
              <a:t>FlightChain</a:t>
            </a:r>
            <a:r>
              <a:rPr lang="en-US" sz="1200" b="0" i="0" u="none" strike="noStrike" kern="1200" dirty="0">
                <a:solidFill>
                  <a:schemeClr val="tx1"/>
                </a:solidFill>
                <a:effectLst/>
                <a:latin typeface="+mn-lt"/>
                <a:ea typeface="+mn-ea"/>
                <a:cs typeface="+mn-cs"/>
              </a:rPr>
              <a:t> demonstrated that without strong collaboration among airlines, airports, and regulators, the network cannot achieve the critical mass necessary for operational impact.</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Your deck </a:t>
            </a:r>
            <a:r>
              <a:rPr lang="en-US" sz="1200" b="0" i="0" u="none" strike="noStrike" kern="1200" dirty="0" err="1">
                <a:solidFill>
                  <a:schemeClr val="tx1"/>
                </a:solidFill>
                <a:effectLst/>
                <a:latin typeface="+mn-lt"/>
                <a:ea typeface="+mn-ea"/>
                <a:cs typeface="+mn-cs"/>
              </a:rPr>
              <a:t>emphasises</a:t>
            </a:r>
            <a:r>
              <a:rPr lang="en-US" sz="1200" b="0" i="0" u="none" strike="noStrike" kern="1200" dirty="0">
                <a:solidFill>
                  <a:schemeClr val="tx1"/>
                </a:solidFill>
                <a:effectLst/>
                <a:latin typeface="+mn-lt"/>
                <a:ea typeface="+mn-ea"/>
                <a:cs typeface="+mn-cs"/>
              </a:rPr>
              <a:t> that trust, incentives, and aligned governance must be in place before blockchain can succeed in aviation.</a:t>
            </a:r>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1.png"/><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4.svg"/><Relationship Id="rId5" Type="http://schemas.openxmlformats.org/officeDocument/2006/relationships/image" Target="../media/image30.svg"/><Relationship Id="rId10" Type="http://schemas.openxmlformats.org/officeDocument/2006/relationships/image" Target="../media/image33.png"/><Relationship Id="rId4" Type="http://schemas.openxmlformats.org/officeDocument/2006/relationships/image" Target="../media/image29.png"/><Relationship Id="rId9" Type="http://schemas.openxmlformats.org/officeDocument/2006/relationships/image" Target="../media/image3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6.sv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9.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0.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7.sv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video" Target="https://www.youtube.com/embed/eDmzv46vTi4?start=2&amp;feature=oembed" TargetMode="External"/><Relationship Id="rId5" Type="http://schemas.openxmlformats.org/officeDocument/2006/relationships/image" Target="../media/image48.jpe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8" Type="http://schemas.openxmlformats.org/officeDocument/2006/relationships/hyperlink" Target="https://thestrategystory.com/blog/british-airways-swot-analysis/" TargetMode="External"/><Relationship Id="rId13" Type="http://schemas.openxmlformats.org/officeDocument/2006/relationships/hyperlink" Target="https://www.businessworld.in/article/are-we-heading-into-the-teenage-years-of-blockchain-177096" TargetMode="External"/><Relationship Id="rId18" Type="http://schemas.openxmlformats.org/officeDocument/2006/relationships/hyperlink" Target="https://www.sita.aero/resources/White-papers/flightchain-shared-control-of-data/" TargetMode="External"/><Relationship Id="rId3" Type="http://schemas.openxmlformats.org/officeDocument/2006/relationships/hyperlink" Target="https://apex.aero/articles/sita-british-airways-heathrow-conducting-blockchain-trial-operational-data-sync/" TargetMode="External"/><Relationship Id="rId21" Type="http://schemas.openxmlformats.org/officeDocument/2006/relationships/hyperlink" Target="https://growthmarketreports.com/report/blockchain-in-aviation-market" TargetMode="External"/><Relationship Id="rId7" Type="http://schemas.openxmlformats.org/officeDocument/2006/relationships/hyperlink" Target="https://www.iata.org/contentassets/2d997082f3c84c7cba001f506edd2c2e/blockchain-in-aviation-white-paper.pdf" TargetMode="External"/><Relationship Id="rId12" Type="http://schemas.openxmlformats.org/officeDocument/2006/relationships/hyperlink" Target="https://www.enterprisetimes.co.uk/2018/06/29/sita-extends-airline-blockchain-research/" TargetMode="External"/><Relationship Id="rId17" Type="http://schemas.openxmlformats.org/officeDocument/2006/relationships/hyperlink" Target="https://thefinanser.com/2017/09/24216" TargetMode="External"/><Relationship Id="rId2" Type="http://schemas.openxmlformats.org/officeDocument/2006/relationships/hyperlink" Target="https://www.sita.aero/resources/white-papers/flightchain-shared-control-of-data/" TargetMode="External"/><Relationship Id="rId16" Type="http://schemas.openxmlformats.org/officeDocument/2006/relationships/hyperlink" Target="https://www.futuretravelexperience.com/2017/12/flightchain-project-sheds-light-on-real-world-potential-of-blockchain-for-airlines-and-airports/" TargetMode="External"/><Relationship Id="rId20" Type="http://schemas.openxmlformats.org/officeDocument/2006/relationships/hyperlink" Target="https://doi.org/10.1049/cmu2.12781" TargetMode="External"/><Relationship Id="rId1" Type="http://schemas.openxmlformats.org/officeDocument/2006/relationships/slideLayout" Target="../slideLayouts/slideLayout2.xml"/><Relationship Id="rId6" Type="http://schemas.openxmlformats.org/officeDocument/2006/relationships/hyperlink" Target="https://saudigazette.com.sa/article/521692" TargetMode="External"/><Relationship Id="rId11" Type="http://schemas.openxmlformats.org/officeDocument/2006/relationships/hyperlink" Target="https://www.aaco.org/Library/Assets/Blockchain-for-aviation-overview%20by%20Barry%20Mclaughlin%20-%20SITA.pdf" TargetMode="External"/><Relationship Id="rId5" Type="http://schemas.openxmlformats.org/officeDocument/2006/relationships/hyperlink" Target="https://www.phocuswire.com/SITA-partners-with-airlines-and-airports-to-explore-Blockchain" TargetMode="External"/><Relationship Id="rId15" Type="http://schemas.openxmlformats.org/officeDocument/2006/relationships/hyperlink" Target="https://www.airport-technology.com/features/blockchain-air-cargo/" TargetMode="External"/><Relationship Id="rId10" Type="http://schemas.openxmlformats.org/officeDocument/2006/relationships/hyperlink" Target="https://www.sita.aero/pressroom/blog/blockchain.-are-we-asking-the-wrong-question/" TargetMode="External"/><Relationship Id="rId19" Type="http://schemas.openxmlformats.org/officeDocument/2006/relationships/hyperlink" Target="https://research-api.cbs.dk/ws/portalfiles/portal/62174647/878879_Blockchain_in_Copenhagen_Airport_The_Journey_Towards_Increased_Data_Sharing_and_Interoperability.pdf" TargetMode="External"/><Relationship Id="rId4" Type="http://schemas.openxmlformats.org/officeDocument/2006/relationships/hyperlink" Target="https://www.airport-technology.com/features/blockchain-future-flight-data-management/" TargetMode="External"/><Relationship Id="rId9" Type="http://schemas.openxmlformats.org/officeDocument/2006/relationships/hyperlink" Target="https://www.caa.co.uk/media/k3ze0kcu/cap-1722-rbb-report-the-effect-of-congestion-at-heathrow-summary-19-feb-2019.pdf" TargetMode="External"/><Relationship Id="rId14" Type="http://schemas.openxmlformats.org/officeDocument/2006/relationships/hyperlink" Target="https://www.sita.aero/pressroom/news-releases/covid-19-has-sharply-changed-the-it-spending-priorities-for-airports-and-airlines-in-2020/" TargetMode="External"/><Relationship Id="rId22" Type="http://schemas.openxmlformats.org/officeDocument/2006/relationships/hyperlink" Target="https://openaccess.hacettepe.edu.tr/server/api/core/bitstreams/30554ec0-b233-47c6-8587-617928f27057/content"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iata.org/contentassets/c81222d96c9a4e0bb4ff6ced0126f0bb/iata-annual-review-2020.pdf" TargetMode="External"/><Relationship Id="rId13" Type="http://schemas.openxmlformats.org/officeDocument/2006/relationships/hyperlink" Target="https://aerospaceglobalnews.com/news/blockchain-going-up-the-priority-list-for-airlines-and-airports/" TargetMode="External"/><Relationship Id="rId18" Type="http://schemas.openxmlformats.org/officeDocument/2006/relationships/hyperlink" Target="https://www.lufthansa-industry-solutions.com/de-en/solutions-products/aviation/generating-more-transparency-in-aviation-with-blockchain-technology" TargetMode="External"/><Relationship Id="rId3" Type="http://schemas.openxmlformats.org/officeDocument/2006/relationships/hyperlink" Target="https://papers.ssrn.com/sol3/papers.cfm?abstract_id=5294484" TargetMode="External"/><Relationship Id="rId21" Type="http://schemas.openxmlformats.org/officeDocument/2006/relationships/hyperlink" Target="https://www.youtube.com/watch?v=n3D9-WJcgis" TargetMode="External"/><Relationship Id="rId7" Type="http://schemas.openxmlformats.org/officeDocument/2006/relationships/hyperlink" Target="https://airport.nridigital.com/air_yearbook_2018/blockchain_the_future_of_flight_data_management" TargetMode="External"/><Relationship Id="rId12" Type="http://schemas.openxmlformats.org/officeDocument/2006/relationships/hyperlink" Target="https://www.deloitte.com/global/en/Industries/transportation/perspectives/data-driven-process-optimization-in-the-aviation-industry.html" TargetMode="External"/><Relationship Id="rId17" Type="http://schemas.openxmlformats.org/officeDocument/2006/relationships/hyperlink" Target="https://www.springerprofessional.de/en/blockchain-in-the-tourism-industry-a-new-era-of-secure-and-trans/51283202" TargetMode="External"/><Relationship Id="rId2" Type="http://schemas.openxmlformats.org/officeDocument/2006/relationships/hyperlink" Target="https://www.sciencedirect.com/science/article/abs/pii/S2210539521000523" TargetMode="External"/><Relationship Id="rId16" Type="http://schemas.openxmlformats.org/officeDocument/2006/relationships/hyperlink" Target="https://youtu.be/PTAQ6azDSRM" TargetMode="External"/><Relationship Id="rId20" Type="http://schemas.openxmlformats.org/officeDocument/2006/relationships/hyperlink" Target="https://au.finance.yahoo.com/news/lufthansa-announces-global-blockchain-challenge-113420763.html" TargetMode="External"/><Relationship Id="rId1" Type="http://schemas.openxmlformats.org/officeDocument/2006/relationships/slideLayout" Target="../slideLayouts/slideLayout2.xml"/><Relationship Id="rId6" Type="http://schemas.openxmlformats.org/officeDocument/2006/relationships/hyperlink" Target="https://www.sita.aero/resources/White-papers/flightchain-shared-control-of-data/" TargetMode="External"/><Relationship Id="rId11" Type="http://schemas.openxmlformats.org/officeDocument/2006/relationships/hyperlink" Target="https://www.edpb.europa.eu/sites/default/files/files/file1/edpb_guidelines_201905_rtbfsearchengines_afterpublicconsultation_en.pdf" TargetMode="External"/><Relationship Id="rId24" Type="http://schemas.openxmlformats.org/officeDocument/2006/relationships/hyperlink" Target="https://arxiv.org/pdf/2410.14518.pdf" TargetMode="External"/><Relationship Id="rId5" Type="http://schemas.openxmlformats.org/officeDocument/2006/relationships/hyperlink" Target="https://doras.dcu.ie/26831/1/sustainability-14-02643.pdf" TargetMode="External"/><Relationship Id="rId15" Type="http://schemas.openxmlformats.org/officeDocument/2006/relationships/hyperlink" Target="https://www.eurocontrol.int/sites/default/files/2021-04/eurocontrol-annual-nor-2020-main-report.pdf" TargetMode="External"/><Relationship Id="rId23" Type="http://schemas.openxmlformats.org/officeDocument/2006/relationships/hyperlink" Target="https://amadeus.com/en/newsroom/press-releases/amadeus-lufthansa-eu-digital-identity-wallet" TargetMode="External"/><Relationship Id="rId10" Type="http://schemas.openxmlformats.org/officeDocument/2006/relationships/hyperlink" Target="https://ico.org.uk/for-organisations/uk-gdpr-guidance-and-resources/individual-rights/individual-rights/right-to-erasure/" TargetMode="External"/><Relationship Id="rId19" Type="http://schemas.openxmlformats.org/officeDocument/2006/relationships/hyperlink" Target="https://repositorio.ucp.pt/server/api/core/bitstreams/8c5018b5-8c6e-49e3-b06d-385358806946/content" TargetMode="External"/><Relationship Id="rId4" Type="http://schemas.openxmlformats.org/officeDocument/2006/relationships/hyperlink" Target="https://appinventiv.com/blog/blockchain-in-aviation/" TargetMode="External"/><Relationship Id="rId9" Type="http://schemas.openxmlformats.org/officeDocument/2006/relationships/hyperlink" Target="https://www.icao.int/sites/default/files/secretariat/OfficeOfInternalOversight/Final-Oversight-Reports/Performance-Audit-Report-on-Data-Management-Public-Disclosure.pdf" TargetMode="External"/><Relationship Id="rId14" Type="http://schemas.openxmlformats.org/officeDocument/2006/relationships/hyperlink" Target="https://www.sita.aero/sita-activity-report-2021/executive-statements/chair-statement/" TargetMode="External"/><Relationship Id="rId22" Type="http://schemas.openxmlformats.org/officeDocument/2006/relationships/hyperlink" Target="https://www.youtube.com/watch?v=Zn96NDdIFp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64901" y="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9935813" y="6078582"/>
            <a:ext cx="2583739" cy="1036055"/>
          </a:xfrm>
          <a:custGeom>
            <a:avLst/>
            <a:gdLst/>
            <a:ahLst/>
            <a:cxnLst/>
            <a:rect l="l" t="t" r="r" b="b"/>
            <a:pathLst>
              <a:path w="2583739" h="1036055">
                <a:moveTo>
                  <a:pt x="0" y="0"/>
                </a:moveTo>
                <a:lnTo>
                  <a:pt x="2583739" y="0"/>
                </a:lnTo>
                <a:lnTo>
                  <a:pt x="2583739" y="1036055"/>
                </a:lnTo>
                <a:lnTo>
                  <a:pt x="0" y="1036055"/>
                </a:lnTo>
                <a:lnTo>
                  <a:pt x="0" y="0"/>
                </a:lnTo>
                <a:close/>
              </a:path>
            </a:pathLst>
          </a:custGeom>
          <a:blipFill>
            <a:blip r:embed="rId4">
              <a:extLst>
                <a:ext uri="{96DAC541-7B7A-43D3-8B79-37D633B846F1}">
                  <asvg:svgBlip xmlns:asvg="http://schemas.microsoft.com/office/drawing/2016/SVG/main" r:embed="rId5"/>
                </a:ext>
              </a:extLst>
            </a:blip>
            <a:stretch>
              <a:fillRect t="-426" b="-426"/>
            </a:stretch>
          </a:blipFill>
        </p:spPr>
        <p:txBody>
          <a:bodyPr/>
          <a:lstStyle/>
          <a:p>
            <a:endParaRPr lang="en-US"/>
          </a:p>
        </p:txBody>
      </p:sp>
      <p:grpSp>
        <p:nvGrpSpPr>
          <p:cNvPr id="5" name="Group 5"/>
          <p:cNvGrpSpPr/>
          <p:nvPr/>
        </p:nvGrpSpPr>
        <p:grpSpPr>
          <a:xfrm rot="-2603206">
            <a:off x="55131" y="1658373"/>
            <a:ext cx="8010049" cy="7503604"/>
            <a:chOff x="0" y="0"/>
            <a:chExt cx="10680065" cy="10004806"/>
          </a:xfrm>
        </p:grpSpPr>
        <p:sp>
          <p:nvSpPr>
            <p:cNvPr id="6" name="Freeform 6"/>
            <p:cNvSpPr/>
            <p:nvPr/>
          </p:nvSpPr>
          <p:spPr>
            <a:xfrm>
              <a:off x="0" y="0"/>
              <a:ext cx="10680065" cy="10004806"/>
            </a:xfrm>
            <a:custGeom>
              <a:avLst/>
              <a:gdLst/>
              <a:ahLst/>
              <a:cxnLst/>
              <a:rect l="l" t="t" r="r" b="b"/>
              <a:pathLst>
                <a:path w="10680065" h="10004806">
                  <a:moveTo>
                    <a:pt x="0" y="0"/>
                  </a:moveTo>
                  <a:lnTo>
                    <a:pt x="10680065" y="0"/>
                  </a:lnTo>
                  <a:lnTo>
                    <a:pt x="10680065" y="10004806"/>
                  </a:lnTo>
                  <a:lnTo>
                    <a:pt x="0" y="10004806"/>
                  </a:lnTo>
                  <a:lnTo>
                    <a:pt x="0" y="0"/>
                  </a:lnTo>
                  <a:close/>
                </a:path>
              </a:pathLst>
            </a:custGeom>
            <a:blipFill>
              <a:blip r:embed="rId6"/>
              <a:stretch>
                <a:fillRect t="-20" b="-20"/>
              </a:stretch>
            </a:blipFill>
          </p:spPr>
          <p:txBody>
            <a:bodyPr/>
            <a:lstStyle/>
            <a:p>
              <a:endParaRPr lang="en-US"/>
            </a:p>
          </p:txBody>
        </p:sp>
      </p:grpSp>
      <p:grpSp>
        <p:nvGrpSpPr>
          <p:cNvPr id="7" name="Group 7"/>
          <p:cNvGrpSpPr/>
          <p:nvPr/>
        </p:nvGrpSpPr>
        <p:grpSpPr>
          <a:xfrm>
            <a:off x="389850" y="248681"/>
            <a:ext cx="5310087" cy="1369740"/>
            <a:chOff x="0" y="0"/>
            <a:chExt cx="7080116" cy="1826320"/>
          </a:xfrm>
        </p:grpSpPr>
        <p:sp>
          <p:nvSpPr>
            <p:cNvPr id="8" name="Freeform 8"/>
            <p:cNvSpPr/>
            <p:nvPr/>
          </p:nvSpPr>
          <p:spPr>
            <a:xfrm>
              <a:off x="0" y="0"/>
              <a:ext cx="7080123" cy="1826260"/>
            </a:xfrm>
            <a:custGeom>
              <a:avLst/>
              <a:gdLst/>
              <a:ahLst/>
              <a:cxnLst/>
              <a:rect l="l" t="t" r="r" b="b"/>
              <a:pathLst>
                <a:path w="7080123" h="1826260">
                  <a:moveTo>
                    <a:pt x="0" y="0"/>
                  </a:moveTo>
                  <a:lnTo>
                    <a:pt x="7080123" y="0"/>
                  </a:lnTo>
                  <a:lnTo>
                    <a:pt x="7080123" y="1826260"/>
                  </a:lnTo>
                  <a:lnTo>
                    <a:pt x="0" y="1826260"/>
                  </a:lnTo>
                  <a:lnTo>
                    <a:pt x="0" y="0"/>
                  </a:lnTo>
                  <a:close/>
                </a:path>
              </a:pathLst>
            </a:custGeom>
            <a:blipFill>
              <a:blip r:embed="rId7">
                <a:alphaModFix amt="77000"/>
              </a:blip>
              <a:stretch>
                <a:fillRect b="-3"/>
              </a:stretch>
            </a:blipFill>
          </p:spPr>
          <p:txBody>
            <a:bodyPr/>
            <a:lstStyle/>
            <a:p>
              <a:endParaRPr lang="en-US"/>
            </a:p>
          </p:txBody>
        </p:sp>
      </p:grpSp>
      <p:sp>
        <p:nvSpPr>
          <p:cNvPr id="9" name="Freeform 9"/>
          <p:cNvSpPr/>
          <p:nvPr/>
        </p:nvSpPr>
        <p:spPr>
          <a:xfrm>
            <a:off x="11649461" y="4444658"/>
            <a:ext cx="891361" cy="891361"/>
          </a:xfrm>
          <a:custGeom>
            <a:avLst/>
            <a:gdLst/>
            <a:ahLst/>
            <a:cxnLst/>
            <a:rect l="l" t="t" r="r" b="b"/>
            <a:pathLst>
              <a:path w="891361" h="891361">
                <a:moveTo>
                  <a:pt x="0" y="0"/>
                </a:moveTo>
                <a:lnTo>
                  <a:pt x="891361" y="0"/>
                </a:lnTo>
                <a:lnTo>
                  <a:pt x="891361" y="891361"/>
                </a:lnTo>
                <a:lnTo>
                  <a:pt x="0" y="891361"/>
                </a:lnTo>
                <a:lnTo>
                  <a:pt x="0" y="0"/>
                </a:lnTo>
                <a:close/>
              </a:path>
            </a:pathLst>
          </a:custGeom>
          <a:blipFill>
            <a:blip r:embed="rId8">
              <a:alphaModFix amt="50000"/>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TextBox 10"/>
          <p:cNvSpPr txBox="1"/>
          <p:nvPr/>
        </p:nvSpPr>
        <p:spPr>
          <a:xfrm>
            <a:off x="10110221" y="6315493"/>
            <a:ext cx="1984921" cy="606705"/>
          </a:xfrm>
          <a:prstGeom prst="rect">
            <a:avLst/>
          </a:prstGeom>
        </p:spPr>
        <p:txBody>
          <a:bodyPr lIns="0" tIns="0" rIns="0" bIns="0" rtlCol="0" anchor="t">
            <a:spAutoFit/>
          </a:bodyPr>
          <a:lstStyle/>
          <a:p>
            <a:pPr algn="ctr">
              <a:lnSpc>
                <a:spcPts val="4872"/>
              </a:lnSpc>
            </a:pPr>
            <a:r>
              <a:rPr lang="en-US" sz="4000" b="1" dirty="0">
                <a:solidFill>
                  <a:srgbClr val="FFFFFF"/>
                </a:solidFill>
                <a:latin typeface="Calibri (MS) Bold"/>
                <a:ea typeface="Calibri (MS) Bold"/>
                <a:cs typeface="Calibri (MS) Bold"/>
                <a:sym typeface="Calibri (MS) Bold"/>
              </a:rPr>
              <a:t>Group 6</a:t>
            </a:r>
          </a:p>
        </p:txBody>
      </p:sp>
      <p:sp>
        <p:nvSpPr>
          <p:cNvPr id="11" name="TextBox 11"/>
          <p:cNvSpPr txBox="1"/>
          <p:nvPr/>
        </p:nvSpPr>
        <p:spPr>
          <a:xfrm>
            <a:off x="9158090" y="1075511"/>
            <a:ext cx="8740060" cy="5387629"/>
          </a:xfrm>
          <a:prstGeom prst="rect">
            <a:avLst/>
          </a:prstGeom>
        </p:spPr>
        <p:txBody>
          <a:bodyPr wrap="square" lIns="0" tIns="0" rIns="0" bIns="0" rtlCol="0" anchor="t">
            <a:spAutoFit/>
          </a:bodyPr>
          <a:lstStyle/>
          <a:p>
            <a:pPr algn="l">
              <a:lnSpc>
                <a:spcPts val="8400"/>
              </a:lnSpc>
            </a:pPr>
            <a:r>
              <a:rPr lang="en-US" sz="8000" dirty="0" err="1">
                <a:solidFill>
                  <a:srgbClr val="FFFFFF"/>
                </a:solidFill>
                <a:latin typeface="Calibri (MS)"/>
                <a:ea typeface="Calibri (MS)"/>
                <a:cs typeface="Calibri (MS)"/>
                <a:sym typeface="Calibri (MS)"/>
              </a:rPr>
              <a:t>Decentralising</a:t>
            </a:r>
            <a:r>
              <a:rPr lang="en-US" sz="8000" dirty="0">
                <a:solidFill>
                  <a:srgbClr val="FFFFFF"/>
                </a:solidFill>
                <a:latin typeface="Calibri (MS)"/>
                <a:ea typeface="Calibri (MS)"/>
                <a:cs typeface="Calibri (MS)"/>
                <a:sym typeface="Calibri (MS)"/>
              </a:rPr>
              <a:t> the skies:</a:t>
            </a:r>
          </a:p>
          <a:p>
            <a:pPr algn="l">
              <a:lnSpc>
                <a:spcPts val="8400"/>
              </a:lnSpc>
            </a:pPr>
            <a:r>
              <a:rPr lang="en-US" sz="8000" dirty="0" err="1">
                <a:solidFill>
                  <a:srgbClr val="FFFFFF"/>
                </a:solidFill>
                <a:latin typeface="Calibri (MS)"/>
                <a:ea typeface="Calibri (MS)"/>
                <a:cs typeface="Calibri (MS)"/>
                <a:sym typeface="Calibri (MS)"/>
              </a:rPr>
              <a:t>FlightChain</a:t>
            </a:r>
            <a:r>
              <a:rPr lang="en-US" sz="8000" dirty="0">
                <a:solidFill>
                  <a:srgbClr val="FFFFFF"/>
                </a:solidFill>
                <a:latin typeface="Calibri (MS)"/>
                <a:ea typeface="Calibri (MS)"/>
                <a:cs typeface="Calibri (MS)"/>
                <a:sym typeface="Calibri (MS)"/>
              </a:rPr>
              <a:t> Case Study</a:t>
            </a:r>
          </a:p>
          <a:p>
            <a:pPr algn="l">
              <a:lnSpc>
                <a:spcPts val="8400"/>
              </a:lnSpc>
            </a:pPr>
            <a:endParaRPr lang="en-US" sz="8000" dirty="0">
              <a:solidFill>
                <a:srgbClr val="FFFFFF"/>
              </a:solidFill>
              <a:latin typeface="Calibri (MS)"/>
              <a:ea typeface="Calibri (MS)"/>
              <a:cs typeface="Calibri (MS)"/>
              <a:sym typeface="Calibri (MS)"/>
            </a:endParaRPr>
          </a:p>
        </p:txBody>
      </p:sp>
      <p:sp>
        <p:nvSpPr>
          <p:cNvPr id="12" name="TextBox 12"/>
          <p:cNvSpPr txBox="1"/>
          <p:nvPr/>
        </p:nvSpPr>
        <p:spPr>
          <a:xfrm>
            <a:off x="5867287" y="7457536"/>
            <a:ext cx="11935312" cy="2890087"/>
          </a:xfrm>
          <a:prstGeom prst="rect">
            <a:avLst/>
          </a:prstGeom>
        </p:spPr>
        <p:txBody>
          <a:bodyPr lIns="0" tIns="0" rIns="0" bIns="0" rtlCol="0" anchor="t">
            <a:spAutoFit/>
          </a:bodyPr>
          <a:lstStyle/>
          <a:p>
            <a:pPr algn="r">
              <a:lnSpc>
                <a:spcPts val="5710"/>
              </a:lnSpc>
            </a:pPr>
            <a:r>
              <a:rPr lang="en-US" sz="4400" dirty="0"/>
              <a:t>Shoaib Baig 25020867, Niraj Joshi 25030928, Syed Miqdad Hamdani 25015555, Mohammed Uzair </a:t>
            </a:r>
            <a:r>
              <a:rPr lang="en-US" sz="4400" dirty="0" err="1"/>
              <a:t>Sakilbhai</a:t>
            </a:r>
            <a:r>
              <a:rPr lang="en-US" sz="4400" dirty="0"/>
              <a:t> Patel 25026325, Mohammed Fahad 11014209 and Hasan Ali 25031948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TextBox 4"/>
          <p:cNvSpPr txBox="1"/>
          <p:nvPr/>
        </p:nvSpPr>
        <p:spPr>
          <a:xfrm>
            <a:off x="1028700" y="495300"/>
            <a:ext cx="10947310" cy="1512570"/>
          </a:xfrm>
          <a:prstGeom prst="rect">
            <a:avLst/>
          </a:prstGeom>
        </p:spPr>
        <p:txBody>
          <a:bodyPr lIns="0" tIns="0" rIns="0" bIns="0" rtlCol="0" anchor="t">
            <a:spAutoFit/>
          </a:bodyPr>
          <a:lstStyle/>
          <a:p>
            <a:pPr algn="l">
              <a:lnSpc>
                <a:spcPts val="11040"/>
              </a:lnSpc>
            </a:pPr>
            <a:r>
              <a:rPr lang="en-US" sz="8000" b="1" dirty="0">
                <a:solidFill>
                  <a:srgbClr val="FFFFFF"/>
                </a:solidFill>
                <a:latin typeface="Calibri (MS) Bold"/>
                <a:ea typeface="Calibri (MS) Bold"/>
                <a:cs typeface="Calibri (MS) Bold"/>
                <a:sym typeface="Calibri (MS) Bold"/>
              </a:rPr>
              <a:t>Executive Summary </a:t>
            </a:r>
          </a:p>
        </p:txBody>
      </p:sp>
      <p:sp>
        <p:nvSpPr>
          <p:cNvPr id="5" name="TextBox 5"/>
          <p:cNvSpPr txBox="1"/>
          <p:nvPr/>
        </p:nvSpPr>
        <p:spPr>
          <a:xfrm>
            <a:off x="1028700" y="2407961"/>
            <a:ext cx="9486900" cy="6647974"/>
          </a:xfrm>
          <a:prstGeom prst="rect">
            <a:avLst/>
          </a:prstGeom>
        </p:spPr>
        <p:txBody>
          <a:bodyPr wrap="square" lIns="0" tIns="0" rIns="0" bIns="0" rtlCol="0" anchor="t">
            <a:spAutoFit/>
          </a:bodyPr>
          <a:lstStyle/>
          <a:p>
            <a:pPr marL="571500" lvl="0" indent="-571500">
              <a:buFont typeface="Arial" panose="020B0604020202020204" pitchFamily="34" charset="0"/>
              <a:buChar char="•"/>
            </a:pPr>
            <a:r>
              <a:rPr lang="en-US" sz="3600" dirty="0" err="1">
                <a:solidFill>
                  <a:schemeClr val="bg1"/>
                </a:solidFill>
              </a:rPr>
              <a:t>FlightChain</a:t>
            </a:r>
            <a:r>
              <a:rPr lang="en-US" sz="3600" dirty="0">
                <a:solidFill>
                  <a:schemeClr val="bg1"/>
                </a:solidFill>
              </a:rPr>
              <a:t> was piloted by British Airways, SITA and partner airlines. This project was a trial of a permissioned blockchain of shared flight data.</a:t>
            </a:r>
          </a:p>
          <a:p>
            <a:pPr lvl="0"/>
            <a:r>
              <a:rPr lang="en-US" sz="3600" dirty="0">
                <a:solidFill>
                  <a:schemeClr val="bg1"/>
                </a:solidFill>
              </a:rPr>
              <a:t> </a:t>
            </a:r>
          </a:p>
          <a:p>
            <a:pPr marL="571500" lvl="0" indent="-571500">
              <a:buFont typeface="Arial" panose="020B0604020202020204" pitchFamily="34" charset="0"/>
              <a:buChar char="•"/>
            </a:pPr>
            <a:r>
              <a:rPr lang="en-US" sz="3600" dirty="0">
                <a:solidFill>
                  <a:schemeClr val="bg1"/>
                </a:solidFill>
              </a:rPr>
              <a:t>The proof-of-concept was conducted in 2017 - 2019 in Heathrow, Geneva, and Miami. </a:t>
            </a:r>
          </a:p>
          <a:p>
            <a:pPr lvl="0"/>
            <a:endParaRPr lang="en-US" sz="3600" dirty="0">
              <a:solidFill>
                <a:schemeClr val="bg1"/>
              </a:solidFill>
            </a:endParaRPr>
          </a:p>
          <a:p>
            <a:pPr marL="571500" lvl="0" indent="-571500">
              <a:buFont typeface="Arial" panose="020B0604020202020204" pitchFamily="34" charset="0"/>
              <a:buChar char="•"/>
            </a:pPr>
            <a:r>
              <a:rPr lang="en-US" sz="3600" dirty="0">
                <a:solidFill>
                  <a:schemeClr val="bg1"/>
                </a:solidFill>
              </a:rPr>
              <a:t>Technical feasibility had been established but did not go mainstream in the industry. </a:t>
            </a:r>
          </a:p>
          <a:p>
            <a:pPr lvl="0"/>
            <a:endParaRPr lang="en-US" sz="3600" dirty="0">
              <a:solidFill>
                <a:schemeClr val="bg1"/>
              </a:solidFill>
            </a:endParaRPr>
          </a:p>
          <a:p>
            <a:pPr marL="571500" lvl="0" indent="-571500">
              <a:buFont typeface="Arial" panose="020B0604020202020204" pitchFamily="34" charset="0"/>
              <a:buChar char="•"/>
            </a:pPr>
            <a:r>
              <a:rPr lang="en-US" sz="3600" dirty="0">
                <a:solidFill>
                  <a:schemeClr val="bg1"/>
                </a:solidFill>
              </a:rPr>
              <a:t>Overall issue: disaggregated flight information and no collective governance.</a:t>
            </a:r>
          </a:p>
        </p:txBody>
      </p:sp>
      <p:grpSp>
        <p:nvGrpSpPr>
          <p:cNvPr id="6" name="Group 6"/>
          <p:cNvGrpSpPr/>
          <p:nvPr/>
        </p:nvGrpSpPr>
        <p:grpSpPr>
          <a:xfrm>
            <a:off x="11115245" y="1912636"/>
            <a:ext cx="6676720" cy="7479014"/>
            <a:chOff x="0" y="0"/>
            <a:chExt cx="8902293" cy="9972019"/>
          </a:xfrm>
        </p:grpSpPr>
        <p:sp>
          <p:nvSpPr>
            <p:cNvPr id="7" name="Freeform 7"/>
            <p:cNvSpPr/>
            <p:nvPr/>
          </p:nvSpPr>
          <p:spPr>
            <a:xfrm>
              <a:off x="0" y="0"/>
              <a:ext cx="8902319" cy="9972040"/>
            </a:xfrm>
            <a:custGeom>
              <a:avLst/>
              <a:gdLst/>
              <a:ahLst/>
              <a:cxnLst/>
              <a:rect l="l" t="t" r="r" b="b"/>
              <a:pathLst>
                <a:path w="8902319" h="9972040">
                  <a:moveTo>
                    <a:pt x="0" y="0"/>
                  </a:moveTo>
                  <a:lnTo>
                    <a:pt x="8902319" y="0"/>
                  </a:lnTo>
                  <a:lnTo>
                    <a:pt x="8902319" y="9972040"/>
                  </a:lnTo>
                  <a:lnTo>
                    <a:pt x="0" y="9972040"/>
                  </a:lnTo>
                  <a:lnTo>
                    <a:pt x="0" y="0"/>
                  </a:lnTo>
                  <a:close/>
                </a:path>
              </a:pathLst>
            </a:custGeom>
            <a:blipFill>
              <a:blip r:embed="rId4"/>
              <a:stretch>
                <a:fillRect l="-25" r="-24"/>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64901" y="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1271414" y="5268896"/>
            <a:ext cx="1964801" cy="1964801"/>
          </a:xfrm>
          <a:custGeom>
            <a:avLst/>
            <a:gdLst/>
            <a:ahLst/>
            <a:cxnLst/>
            <a:rect l="l" t="t" r="r" b="b"/>
            <a:pathLst>
              <a:path w="1964801" h="1964801">
                <a:moveTo>
                  <a:pt x="0" y="0"/>
                </a:moveTo>
                <a:lnTo>
                  <a:pt x="1964801" y="0"/>
                </a:lnTo>
                <a:lnTo>
                  <a:pt x="1964801" y="1964801"/>
                </a:lnTo>
                <a:lnTo>
                  <a:pt x="0" y="19648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8929436" y="5278421"/>
            <a:ext cx="1964801" cy="1964801"/>
          </a:xfrm>
          <a:custGeom>
            <a:avLst/>
            <a:gdLst/>
            <a:ahLst/>
            <a:cxnLst/>
            <a:rect l="l" t="t" r="r" b="b"/>
            <a:pathLst>
              <a:path w="1964801" h="1964801">
                <a:moveTo>
                  <a:pt x="0" y="0"/>
                </a:moveTo>
                <a:lnTo>
                  <a:pt x="1964801" y="0"/>
                </a:lnTo>
                <a:lnTo>
                  <a:pt x="1964801" y="1964801"/>
                </a:lnTo>
                <a:lnTo>
                  <a:pt x="0" y="19648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271414" y="7936870"/>
            <a:ext cx="1964801" cy="1964801"/>
          </a:xfrm>
          <a:custGeom>
            <a:avLst/>
            <a:gdLst/>
            <a:ahLst/>
            <a:cxnLst/>
            <a:rect l="l" t="t" r="r" b="b"/>
            <a:pathLst>
              <a:path w="1964801" h="1964801">
                <a:moveTo>
                  <a:pt x="0" y="0"/>
                </a:moveTo>
                <a:lnTo>
                  <a:pt x="1964801" y="0"/>
                </a:lnTo>
                <a:lnTo>
                  <a:pt x="1964801" y="1964801"/>
                </a:lnTo>
                <a:lnTo>
                  <a:pt x="0" y="19648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8929436" y="7936870"/>
            <a:ext cx="1964801" cy="1964801"/>
          </a:xfrm>
          <a:custGeom>
            <a:avLst/>
            <a:gdLst/>
            <a:ahLst/>
            <a:cxnLst/>
            <a:rect l="l" t="t" r="r" b="b"/>
            <a:pathLst>
              <a:path w="1964801" h="1964801">
                <a:moveTo>
                  <a:pt x="0" y="0"/>
                </a:moveTo>
                <a:lnTo>
                  <a:pt x="1964801" y="0"/>
                </a:lnTo>
                <a:lnTo>
                  <a:pt x="1964801" y="1964801"/>
                </a:lnTo>
                <a:lnTo>
                  <a:pt x="0" y="19648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763720" y="5544615"/>
            <a:ext cx="1108161" cy="1108161"/>
          </a:xfrm>
          <a:custGeom>
            <a:avLst/>
            <a:gdLst/>
            <a:ahLst/>
            <a:cxnLst/>
            <a:rect l="l" t="t" r="r" b="b"/>
            <a:pathLst>
              <a:path w="1108161" h="1108161">
                <a:moveTo>
                  <a:pt x="0" y="0"/>
                </a:moveTo>
                <a:lnTo>
                  <a:pt x="1108161" y="0"/>
                </a:lnTo>
                <a:lnTo>
                  <a:pt x="1108161" y="1108161"/>
                </a:lnTo>
                <a:lnTo>
                  <a:pt x="0" y="1108161"/>
                </a:lnTo>
                <a:lnTo>
                  <a:pt x="0" y="0"/>
                </a:lnTo>
                <a:close/>
              </a:path>
            </a:pathLst>
          </a:custGeom>
          <a:blipFill>
            <a:blip r:embed="rId6">
              <a:alphaModFix amt="4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a:off x="1575391" y="8030217"/>
            <a:ext cx="1245659" cy="1376323"/>
          </a:xfrm>
          <a:custGeom>
            <a:avLst/>
            <a:gdLst/>
            <a:ahLst/>
            <a:cxnLst/>
            <a:rect l="l" t="t" r="r" b="b"/>
            <a:pathLst>
              <a:path w="1245659" h="1376323">
                <a:moveTo>
                  <a:pt x="0" y="0"/>
                </a:moveTo>
                <a:lnTo>
                  <a:pt x="1245659" y="0"/>
                </a:lnTo>
                <a:lnTo>
                  <a:pt x="1245659" y="1376323"/>
                </a:lnTo>
                <a:lnTo>
                  <a:pt x="0" y="1376323"/>
                </a:lnTo>
                <a:lnTo>
                  <a:pt x="0" y="0"/>
                </a:lnTo>
                <a:close/>
              </a:path>
            </a:pathLst>
          </a:custGeom>
          <a:blipFill>
            <a:blip r:embed="rId8">
              <a:alphaModFix amt="39000"/>
              <a:extLst>
                <a:ext uri="{96DAC541-7B7A-43D3-8B79-37D633B846F1}">
                  <asvg:svgBlip xmlns:asvg="http://schemas.microsoft.com/office/drawing/2016/SVG/main" r:embed="rId9"/>
                </a:ext>
              </a:extLst>
            </a:blip>
            <a:stretch>
              <a:fillRect t="-89" b="-89"/>
            </a:stretch>
          </a:blipFill>
        </p:spPr>
        <p:txBody>
          <a:bodyPr/>
          <a:lstStyle/>
          <a:p>
            <a:endParaRPr lang="en-US"/>
          </a:p>
        </p:txBody>
      </p:sp>
      <p:sp>
        <p:nvSpPr>
          <p:cNvPr id="10" name="Freeform 10"/>
          <p:cNvSpPr/>
          <p:nvPr/>
        </p:nvSpPr>
        <p:spPr>
          <a:xfrm>
            <a:off x="9274290" y="5544615"/>
            <a:ext cx="1122447" cy="1108161"/>
          </a:xfrm>
          <a:custGeom>
            <a:avLst/>
            <a:gdLst/>
            <a:ahLst/>
            <a:cxnLst/>
            <a:rect l="l" t="t" r="r" b="b"/>
            <a:pathLst>
              <a:path w="1122447" h="1108161">
                <a:moveTo>
                  <a:pt x="0" y="0"/>
                </a:moveTo>
                <a:lnTo>
                  <a:pt x="1122447" y="0"/>
                </a:lnTo>
                <a:lnTo>
                  <a:pt x="1122447" y="1108161"/>
                </a:lnTo>
                <a:lnTo>
                  <a:pt x="0" y="1108161"/>
                </a:lnTo>
                <a:lnTo>
                  <a:pt x="0" y="0"/>
                </a:lnTo>
                <a:close/>
              </a:path>
            </a:pathLst>
          </a:custGeom>
          <a:blipFill>
            <a:blip r:embed="rId10">
              <a:alphaModFix amt="40000"/>
              <a:extLst>
                <a:ext uri="{96DAC541-7B7A-43D3-8B79-37D633B846F1}">
                  <asvg:svgBlip xmlns:asvg="http://schemas.microsoft.com/office/drawing/2016/SVG/main" r:embed="rId11"/>
                </a:ext>
              </a:extLst>
            </a:blip>
            <a:stretch>
              <a:fillRect t="-215" b="-215"/>
            </a:stretch>
          </a:blipFill>
        </p:spPr>
        <p:txBody>
          <a:bodyPr/>
          <a:lstStyle/>
          <a:p>
            <a:endParaRPr lang="en-US"/>
          </a:p>
        </p:txBody>
      </p:sp>
      <p:sp>
        <p:nvSpPr>
          <p:cNvPr id="11" name="Freeform 11"/>
          <p:cNvSpPr/>
          <p:nvPr/>
        </p:nvSpPr>
        <p:spPr>
          <a:xfrm>
            <a:off x="9444989" y="8090759"/>
            <a:ext cx="969801" cy="1449431"/>
          </a:xfrm>
          <a:custGeom>
            <a:avLst/>
            <a:gdLst/>
            <a:ahLst/>
            <a:cxnLst/>
            <a:rect l="l" t="t" r="r" b="b"/>
            <a:pathLst>
              <a:path w="969801" h="1449431">
                <a:moveTo>
                  <a:pt x="0" y="0"/>
                </a:moveTo>
                <a:lnTo>
                  <a:pt x="969801" y="0"/>
                </a:lnTo>
                <a:lnTo>
                  <a:pt x="969801" y="1449431"/>
                </a:lnTo>
                <a:lnTo>
                  <a:pt x="0" y="1449431"/>
                </a:lnTo>
                <a:lnTo>
                  <a:pt x="0" y="0"/>
                </a:lnTo>
                <a:close/>
              </a:path>
            </a:pathLst>
          </a:custGeom>
          <a:blipFill>
            <a:blip r:embed="rId12">
              <a:alphaModFix amt="40000"/>
              <a:extLst>
                <a:ext uri="{96DAC541-7B7A-43D3-8B79-37D633B846F1}">
                  <asvg:svgBlip xmlns:asvg="http://schemas.microsoft.com/office/drawing/2016/SVG/main" r:embed="rId13"/>
                </a:ext>
              </a:extLst>
            </a:blip>
            <a:stretch>
              <a:fillRect l="-307" r="-307"/>
            </a:stretch>
          </a:blipFill>
        </p:spPr>
        <p:txBody>
          <a:bodyPr/>
          <a:lstStyle/>
          <a:p>
            <a:endParaRPr lang="en-US"/>
          </a:p>
        </p:txBody>
      </p:sp>
      <p:sp>
        <p:nvSpPr>
          <p:cNvPr id="12" name="Freeform 12"/>
          <p:cNvSpPr/>
          <p:nvPr/>
        </p:nvSpPr>
        <p:spPr>
          <a:xfrm>
            <a:off x="1271414" y="2330707"/>
            <a:ext cx="1891714" cy="1891714"/>
          </a:xfrm>
          <a:custGeom>
            <a:avLst/>
            <a:gdLst/>
            <a:ahLst/>
            <a:cxnLst/>
            <a:rect l="l" t="t" r="r" b="b"/>
            <a:pathLst>
              <a:path w="1891714" h="1891714">
                <a:moveTo>
                  <a:pt x="0" y="0"/>
                </a:moveTo>
                <a:lnTo>
                  <a:pt x="1891714" y="0"/>
                </a:lnTo>
                <a:lnTo>
                  <a:pt x="1891714" y="1891714"/>
                </a:lnTo>
                <a:lnTo>
                  <a:pt x="0" y="189171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3" name="TextBox 13"/>
          <p:cNvSpPr txBox="1"/>
          <p:nvPr/>
        </p:nvSpPr>
        <p:spPr>
          <a:xfrm>
            <a:off x="3216735" y="5485692"/>
            <a:ext cx="4861034" cy="1292662"/>
          </a:xfrm>
          <a:prstGeom prst="rect">
            <a:avLst/>
          </a:prstGeom>
        </p:spPr>
        <p:txBody>
          <a:bodyPr lIns="0" tIns="0" rIns="0" bIns="0" rtlCol="0" anchor="t">
            <a:spAutoFit/>
          </a:bodyPr>
          <a:lstStyle/>
          <a:p>
            <a:pPr lvl="1"/>
            <a:r>
              <a:rPr lang="en-US" sz="2800" dirty="0">
                <a:solidFill>
                  <a:schemeClr val="bg1"/>
                </a:solidFill>
              </a:rPr>
              <a:t>Operational adoption was not achieved because of technical success.</a:t>
            </a:r>
          </a:p>
        </p:txBody>
      </p:sp>
      <p:sp>
        <p:nvSpPr>
          <p:cNvPr id="14" name="TextBox 14"/>
          <p:cNvSpPr txBox="1"/>
          <p:nvPr/>
        </p:nvSpPr>
        <p:spPr>
          <a:xfrm>
            <a:off x="11397163" y="5667808"/>
            <a:ext cx="5065947" cy="861774"/>
          </a:xfrm>
          <a:prstGeom prst="rect">
            <a:avLst/>
          </a:prstGeom>
        </p:spPr>
        <p:txBody>
          <a:bodyPr lIns="0" tIns="0" rIns="0" bIns="0" rtlCol="0" anchor="t">
            <a:spAutoFit/>
          </a:bodyPr>
          <a:lstStyle/>
          <a:p>
            <a:pPr lvl="1"/>
            <a:r>
              <a:rPr lang="en-US" sz="2800" dirty="0">
                <a:solidFill>
                  <a:schemeClr val="bg1"/>
                </a:solidFill>
              </a:rPr>
              <a:t>Blockchain </a:t>
            </a:r>
            <a:r>
              <a:rPr lang="en-US" sz="2800" dirty="0" err="1">
                <a:solidFill>
                  <a:schemeClr val="bg1"/>
                </a:solidFill>
              </a:rPr>
              <a:t>harmonised</a:t>
            </a:r>
            <a:r>
              <a:rPr lang="en-US" sz="2800" dirty="0">
                <a:solidFill>
                  <a:schemeClr val="bg1"/>
                </a:solidFill>
              </a:rPr>
              <a:t> pilot flight information.</a:t>
            </a:r>
          </a:p>
        </p:txBody>
      </p:sp>
      <p:sp>
        <p:nvSpPr>
          <p:cNvPr id="15" name="TextBox 15"/>
          <p:cNvSpPr txBox="1"/>
          <p:nvPr/>
        </p:nvSpPr>
        <p:spPr>
          <a:xfrm>
            <a:off x="3493262" y="8149396"/>
            <a:ext cx="4762443" cy="1752275"/>
          </a:xfrm>
          <a:prstGeom prst="rect">
            <a:avLst/>
          </a:prstGeom>
        </p:spPr>
        <p:txBody>
          <a:bodyPr lIns="0" tIns="0" rIns="0" bIns="0" rtlCol="0" anchor="t">
            <a:spAutoFit/>
          </a:bodyPr>
          <a:lstStyle/>
          <a:p>
            <a:pPr>
              <a:lnSpc>
                <a:spcPts val="4704"/>
              </a:lnSpc>
            </a:pPr>
            <a:r>
              <a:rPr lang="en-US" sz="2800" dirty="0">
                <a:solidFill>
                  <a:schemeClr val="bg1"/>
                </a:solidFill>
              </a:rPr>
              <a:t>Smart contracts automated the arbitrage of data.</a:t>
            </a:r>
          </a:p>
          <a:p>
            <a:pPr algn="l">
              <a:lnSpc>
                <a:spcPts val="4704"/>
              </a:lnSpc>
            </a:pPr>
            <a:endParaRPr lang="en-US" sz="2800" dirty="0">
              <a:solidFill>
                <a:schemeClr val="bg1"/>
              </a:solidFill>
              <a:latin typeface="Calibri (MS)"/>
              <a:ea typeface="Calibri (MS)"/>
              <a:cs typeface="Calibri (MS)"/>
              <a:sym typeface="Calibri (MS)"/>
            </a:endParaRPr>
          </a:p>
        </p:txBody>
      </p:sp>
      <p:sp>
        <p:nvSpPr>
          <p:cNvPr id="16" name="TextBox 16"/>
          <p:cNvSpPr txBox="1"/>
          <p:nvPr/>
        </p:nvSpPr>
        <p:spPr>
          <a:xfrm>
            <a:off x="11201400" y="8384587"/>
            <a:ext cx="6814542" cy="861774"/>
          </a:xfrm>
          <a:prstGeom prst="rect">
            <a:avLst/>
          </a:prstGeom>
        </p:spPr>
        <p:txBody>
          <a:bodyPr lIns="0" tIns="0" rIns="0" bIns="0" rtlCol="0" anchor="t">
            <a:spAutoFit/>
          </a:bodyPr>
          <a:lstStyle/>
          <a:p>
            <a:pPr lvl="1"/>
            <a:r>
              <a:rPr lang="en-US" sz="2800" dirty="0">
                <a:solidFill>
                  <a:schemeClr val="bg1"/>
                </a:solidFill>
              </a:rPr>
              <a:t>Ownership and incentives of governance were not clear.</a:t>
            </a:r>
            <a:endParaRPr lang="en-US" sz="2800" dirty="0">
              <a:solidFill>
                <a:schemeClr val="bg1"/>
              </a:solidFill>
              <a:latin typeface="Calibri (MS)"/>
              <a:ea typeface="Calibri (MS)"/>
              <a:cs typeface="Calibri (MS)"/>
              <a:sym typeface="Calibri (MS)"/>
            </a:endParaRPr>
          </a:p>
        </p:txBody>
      </p:sp>
      <p:sp>
        <p:nvSpPr>
          <p:cNvPr id="17" name="TextBox 17"/>
          <p:cNvSpPr txBox="1"/>
          <p:nvPr/>
        </p:nvSpPr>
        <p:spPr>
          <a:xfrm>
            <a:off x="660332" y="241319"/>
            <a:ext cx="8026468" cy="1512570"/>
          </a:xfrm>
          <a:prstGeom prst="rect">
            <a:avLst/>
          </a:prstGeom>
        </p:spPr>
        <p:txBody>
          <a:bodyPr lIns="0" tIns="0" rIns="0" bIns="0" rtlCol="0" anchor="t">
            <a:spAutoFit/>
          </a:bodyPr>
          <a:lstStyle/>
          <a:p>
            <a:pPr algn="l">
              <a:lnSpc>
                <a:spcPts val="11040"/>
              </a:lnSpc>
            </a:pPr>
            <a:r>
              <a:rPr lang="en-US" sz="8000" b="1">
                <a:solidFill>
                  <a:srgbClr val="FFFFFF"/>
                </a:solidFill>
                <a:latin typeface="Calibri (MS) Bold"/>
                <a:ea typeface="Calibri (MS) Bold"/>
                <a:cs typeface="Calibri (MS) Bold"/>
                <a:sym typeface="Calibri (MS) Bold"/>
              </a:rPr>
              <a:t>Key Findings</a:t>
            </a:r>
          </a:p>
        </p:txBody>
      </p:sp>
      <p:sp>
        <p:nvSpPr>
          <p:cNvPr id="18" name="TextBox 18"/>
          <p:cNvSpPr txBox="1"/>
          <p:nvPr/>
        </p:nvSpPr>
        <p:spPr>
          <a:xfrm>
            <a:off x="3493262" y="2350125"/>
            <a:ext cx="13880687" cy="2451184"/>
          </a:xfrm>
          <a:prstGeom prst="rect">
            <a:avLst/>
          </a:prstGeom>
        </p:spPr>
        <p:txBody>
          <a:bodyPr lIns="0" tIns="0" rIns="0" bIns="0" rtlCol="0" anchor="t">
            <a:spAutoFit/>
          </a:bodyPr>
          <a:lstStyle/>
          <a:p>
            <a:pPr algn="just">
              <a:lnSpc>
                <a:spcPts val="4872"/>
              </a:lnSpc>
            </a:pPr>
            <a:r>
              <a:rPr lang="en-US" sz="2800" dirty="0">
                <a:solidFill>
                  <a:schemeClr val="bg1"/>
                </a:solidFill>
              </a:rPr>
              <a:t>SITA concluded that, even though </a:t>
            </a:r>
            <a:r>
              <a:rPr lang="en-US" sz="2800" dirty="0" err="1">
                <a:solidFill>
                  <a:schemeClr val="bg1"/>
                </a:solidFill>
              </a:rPr>
              <a:t>FlightChain</a:t>
            </a:r>
            <a:r>
              <a:rPr lang="en-US" sz="2800" dirty="0">
                <a:solidFill>
                  <a:schemeClr val="bg1"/>
                </a:solidFill>
              </a:rPr>
              <a:t> was technically successful, governance was a major challenge, namely the ownership of contract, maintenance fee, and the right to arbitration in a competitive, </a:t>
            </a:r>
            <a:r>
              <a:rPr lang="en-US" sz="2800" dirty="0" err="1">
                <a:solidFill>
                  <a:schemeClr val="bg1"/>
                </a:solidFill>
              </a:rPr>
              <a:t>hostless</a:t>
            </a:r>
            <a:r>
              <a:rPr lang="en-US" sz="2800" dirty="0">
                <a:solidFill>
                  <a:schemeClr val="bg1"/>
                </a:solidFill>
              </a:rPr>
              <a:t> market.</a:t>
            </a:r>
          </a:p>
          <a:p>
            <a:pPr algn="just">
              <a:lnSpc>
                <a:spcPts val="4872"/>
              </a:lnSpc>
            </a:pPr>
            <a:endParaRPr lang="en-US" sz="2800" dirty="0">
              <a:solidFill>
                <a:schemeClr val="bg1"/>
              </a:solidFill>
              <a:latin typeface="Calibri (MS)"/>
              <a:ea typeface="Calibri (MS)"/>
              <a:cs typeface="Calibri (MS)"/>
              <a:sym typeface="Calibri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12296175" y="0"/>
            <a:ext cx="5991825" cy="10287000"/>
            <a:chOff x="0" y="0"/>
            <a:chExt cx="7989100" cy="13716000"/>
          </a:xfrm>
        </p:grpSpPr>
        <p:sp>
          <p:nvSpPr>
            <p:cNvPr id="5" name="Freeform 5"/>
            <p:cNvSpPr/>
            <p:nvPr/>
          </p:nvSpPr>
          <p:spPr>
            <a:xfrm>
              <a:off x="0" y="0"/>
              <a:ext cx="7989062" cy="13716000"/>
            </a:xfrm>
            <a:custGeom>
              <a:avLst/>
              <a:gdLst/>
              <a:ahLst/>
              <a:cxnLst/>
              <a:rect l="l" t="t" r="r" b="b"/>
              <a:pathLst>
                <a:path w="7989062" h="13716000">
                  <a:moveTo>
                    <a:pt x="0" y="0"/>
                  </a:moveTo>
                  <a:lnTo>
                    <a:pt x="7989062" y="0"/>
                  </a:lnTo>
                  <a:lnTo>
                    <a:pt x="7989062" y="13716000"/>
                  </a:lnTo>
                  <a:lnTo>
                    <a:pt x="0" y="13716000"/>
                  </a:lnTo>
                  <a:lnTo>
                    <a:pt x="0" y="0"/>
                  </a:lnTo>
                  <a:close/>
                </a:path>
              </a:pathLst>
            </a:custGeom>
            <a:blipFill>
              <a:blip r:embed="rId4"/>
              <a:stretch>
                <a:fillRect l="-11863" r="-11864"/>
              </a:stretch>
            </a:blipFill>
          </p:spPr>
          <p:txBody>
            <a:bodyPr/>
            <a:lstStyle/>
            <a:p>
              <a:endParaRPr lang="en-US"/>
            </a:p>
          </p:txBody>
        </p:sp>
      </p:grpSp>
      <p:sp>
        <p:nvSpPr>
          <p:cNvPr id="6" name="TextBox 6"/>
          <p:cNvSpPr txBox="1"/>
          <p:nvPr/>
        </p:nvSpPr>
        <p:spPr>
          <a:xfrm>
            <a:off x="514350" y="190541"/>
            <a:ext cx="17773650" cy="1223027"/>
          </a:xfrm>
          <a:prstGeom prst="rect">
            <a:avLst/>
          </a:prstGeom>
        </p:spPr>
        <p:txBody>
          <a:bodyPr lIns="0" tIns="0" rIns="0" bIns="0" rtlCol="0" anchor="t">
            <a:spAutoFit/>
          </a:bodyPr>
          <a:lstStyle/>
          <a:p>
            <a:pPr algn="l">
              <a:lnSpc>
                <a:spcPts val="9920"/>
              </a:lnSpc>
            </a:pPr>
            <a:r>
              <a:rPr lang="en-US" sz="8000" b="1" dirty="0">
                <a:solidFill>
                  <a:srgbClr val="FFFFFF"/>
                </a:solidFill>
                <a:latin typeface="Calibri (MS) Bold"/>
                <a:ea typeface="Calibri (MS) Bold"/>
                <a:cs typeface="Calibri (MS) Bold"/>
                <a:sym typeface="Calibri (MS) Bold"/>
              </a:rPr>
              <a:t>Organisational &amp; Business Context</a:t>
            </a:r>
          </a:p>
        </p:txBody>
      </p:sp>
      <p:sp>
        <p:nvSpPr>
          <p:cNvPr id="7" name="TextBox 7"/>
          <p:cNvSpPr txBox="1"/>
          <p:nvPr/>
        </p:nvSpPr>
        <p:spPr>
          <a:xfrm>
            <a:off x="514350" y="2593894"/>
            <a:ext cx="9666006" cy="7386638"/>
          </a:xfrm>
          <a:prstGeom prst="rect">
            <a:avLst/>
          </a:prstGeom>
        </p:spPr>
        <p:txBody>
          <a:bodyPr lIns="0" tIns="0" rIns="0" bIns="0" rtlCol="0" anchor="t">
            <a:spAutoFit/>
          </a:bodyPr>
          <a:lstStyle/>
          <a:p>
            <a:pPr marL="571500" lvl="0" indent="-571500">
              <a:buFont typeface="Arial" panose="020B0604020202020204" pitchFamily="34" charset="0"/>
              <a:buChar char="•"/>
            </a:pPr>
            <a:r>
              <a:rPr lang="en-US" sz="4000" dirty="0">
                <a:solidFill>
                  <a:schemeClr val="bg1"/>
                </a:solidFill>
              </a:rPr>
              <a:t>British Airways is a flag carrier in the UK business in a highly regulated industry. </a:t>
            </a:r>
          </a:p>
          <a:p>
            <a:pPr lvl="0"/>
            <a:endParaRPr lang="en-US" sz="4000" dirty="0">
              <a:solidFill>
                <a:schemeClr val="bg1"/>
              </a:solidFill>
            </a:endParaRPr>
          </a:p>
          <a:p>
            <a:pPr marL="571500" lvl="0" indent="-571500">
              <a:buFont typeface="Arial" panose="020B0604020202020204" pitchFamily="34" charset="0"/>
              <a:buChar char="•"/>
            </a:pPr>
            <a:r>
              <a:rPr lang="en-US" sz="4000" dirty="0">
                <a:solidFill>
                  <a:schemeClr val="bg1"/>
                </a:solidFill>
              </a:rPr>
              <a:t>Main hub at Heathrow- huge congestion and coordination stress. </a:t>
            </a:r>
          </a:p>
          <a:p>
            <a:pPr lvl="0"/>
            <a:endParaRPr lang="en-US" sz="4000" dirty="0">
              <a:solidFill>
                <a:schemeClr val="bg1"/>
              </a:solidFill>
            </a:endParaRPr>
          </a:p>
          <a:p>
            <a:pPr marL="571500" lvl="0" indent="-571500">
              <a:buFont typeface="Arial" panose="020B0604020202020204" pitchFamily="34" charset="0"/>
              <a:buChar char="•"/>
            </a:pPr>
            <a:r>
              <a:rPr lang="en-US" sz="4000" dirty="0">
                <a:solidFill>
                  <a:schemeClr val="bg1"/>
                </a:solidFill>
              </a:rPr>
              <a:t>Excessive exposure to EU261 compensation and operational controversy. </a:t>
            </a:r>
          </a:p>
          <a:p>
            <a:pPr lvl="0"/>
            <a:endParaRPr lang="en-US" sz="4000" dirty="0">
              <a:solidFill>
                <a:schemeClr val="bg1"/>
              </a:solidFill>
            </a:endParaRPr>
          </a:p>
          <a:p>
            <a:pPr marL="571500" lvl="0" indent="-571500">
              <a:buFont typeface="Arial" panose="020B0604020202020204" pitchFamily="34" charset="0"/>
              <a:buChar char="•"/>
            </a:pPr>
            <a:r>
              <a:rPr lang="en-US" sz="4000" dirty="0">
                <a:solidFill>
                  <a:schemeClr val="bg1"/>
                </a:solidFill>
              </a:rPr>
              <a:t>First mover in aviation operations blockchain.</a:t>
            </a:r>
            <a:br>
              <a:rPr lang="en-US" sz="4000" dirty="0">
                <a:solidFill>
                  <a:schemeClr val="bg1"/>
                </a:solidFill>
              </a:rPr>
            </a:br>
            <a:endParaRPr lang="en-US" sz="4000" dirty="0">
              <a:solidFill>
                <a:schemeClr val="bg1"/>
              </a:solidFill>
              <a:latin typeface="Calibri (MS)"/>
              <a:ea typeface="Calibri (MS)"/>
              <a:cs typeface="Calibri (MS)"/>
              <a:sym typeface="Calibri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264337" y="-3048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675873" y="6696822"/>
            <a:ext cx="16936254" cy="47690"/>
            <a:chOff x="0" y="0"/>
            <a:chExt cx="22581672" cy="63587"/>
          </a:xfrm>
        </p:grpSpPr>
        <p:sp>
          <p:nvSpPr>
            <p:cNvPr id="5" name="Freeform 5"/>
            <p:cNvSpPr/>
            <p:nvPr/>
          </p:nvSpPr>
          <p:spPr>
            <a:xfrm>
              <a:off x="0" y="0"/>
              <a:ext cx="22581743" cy="63627"/>
            </a:xfrm>
            <a:custGeom>
              <a:avLst/>
              <a:gdLst/>
              <a:ahLst/>
              <a:cxnLst/>
              <a:rect l="l" t="t" r="r" b="b"/>
              <a:pathLst>
                <a:path w="22581743" h="63627">
                  <a:moveTo>
                    <a:pt x="12700" y="0"/>
                  </a:moveTo>
                  <a:lnTo>
                    <a:pt x="22569043" y="38227"/>
                  </a:lnTo>
                  <a:cubicBezTo>
                    <a:pt x="22576028" y="38227"/>
                    <a:pt x="22581743" y="43942"/>
                    <a:pt x="22581743" y="50927"/>
                  </a:cubicBezTo>
                  <a:cubicBezTo>
                    <a:pt x="22581743" y="57912"/>
                    <a:pt x="22576028" y="63627"/>
                    <a:pt x="22569043" y="63627"/>
                  </a:cubicBezTo>
                  <a:lnTo>
                    <a:pt x="12700" y="25400"/>
                  </a:lnTo>
                  <a:cubicBezTo>
                    <a:pt x="5715" y="25400"/>
                    <a:pt x="0" y="19685"/>
                    <a:pt x="0" y="12700"/>
                  </a:cubicBezTo>
                  <a:cubicBezTo>
                    <a:pt x="0" y="5715"/>
                    <a:pt x="5715" y="0"/>
                    <a:pt x="12700" y="0"/>
                  </a:cubicBezTo>
                  <a:close/>
                </a:path>
              </a:pathLst>
            </a:custGeom>
            <a:solidFill>
              <a:srgbClr val="FFFFFF"/>
            </a:solidFill>
            <a:ln w="12700">
              <a:solidFill>
                <a:srgbClr val="000000"/>
              </a:solidFill>
            </a:ln>
          </p:spPr>
          <p:txBody>
            <a:bodyPr/>
            <a:lstStyle/>
            <a:p>
              <a:endParaRPr lang="en-US"/>
            </a:p>
          </p:txBody>
        </p:sp>
      </p:grpSp>
      <p:grpSp>
        <p:nvGrpSpPr>
          <p:cNvPr id="6" name="Group 6"/>
          <p:cNvGrpSpPr/>
          <p:nvPr/>
        </p:nvGrpSpPr>
        <p:grpSpPr>
          <a:xfrm rot="5347800">
            <a:off x="-236668" y="5717743"/>
            <a:ext cx="1901285" cy="19050"/>
            <a:chOff x="0" y="0"/>
            <a:chExt cx="2535047" cy="25400"/>
          </a:xfrm>
        </p:grpSpPr>
        <p:sp>
          <p:nvSpPr>
            <p:cNvPr id="7" name="Freeform 7"/>
            <p:cNvSpPr/>
            <p:nvPr/>
          </p:nvSpPr>
          <p:spPr>
            <a:xfrm>
              <a:off x="0" y="0"/>
              <a:ext cx="2535047" cy="25400"/>
            </a:xfrm>
            <a:custGeom>
              <a:avLst/>
              <a:gdLst/>
              <a:ahLst/>
              <a:cxnLst/>
              <a:rect l="l" t="t" r="r" b="b"/>
              <a:pathLst>
                <a:path w="2535047" h="25400">
                  <a:moveTo>
                    <a:pt x="12700" y="0"/>
                  </a:moveTo>
                  <a:lnTo>
                    <a:pt x="2522347" y="0"/>
                  </a:lnTo>
                  <a:cubicBezTo>
                    <a:pt x="2529332" y="0"/>
                    <a:pt x="2535047" y="5715"/>
                    <a:pt x="2535047" y="12700"/>
                  </a:cubicBezTo>
                  <a:cubicBezTo>
                    <a:pt x="2535047" y="19685"/>
                    <a:pt x="2529332" y="25400"/>
                    <a:pt x="2522347" y="25400"/>
                  </a:cubicBezTo>
                  <a:lnTo>
                    <a:pt x="12700" y="25400"/>
                  </a:lnTo>
                  <a:cubicBezTo>
                    <a:pt x="5715" y="25400"/>
                    <a:pt x="0" y="19685"/>
                    <a:pt x="0" y="12700"/>
                  </a:cubicBezTo>
                  <a:cubicBezTo>
                    <a:pt x="0" y="5715"/>
                    <a:pt x="5715" y="0"/>
                    <a:pt x="12700" y="0"/>
                  </a:cubicBezTo>
                  <a:close/>
                </a:path>
              </a:pathLst>
            </a:custGeom>
            <a:solidFill>
              <a:srgbClr val="FFFFFF"/>
            </a:solidFill>
            <a:ln w="12700">
              <a:solidFill>
                <a:srgbClr val="000000"/>
              </a:solidFill>
            </a:ln>
          </p:spPr>
          <p:txBody>
            <a:bodyPr/>
            <a:lstStyle/>
            <a:p>
              <a:endParaRPr lang="en-US"/>
            </a:p>
          </p:txBody>
        </p:sp>
      </p:grpSp>
      <p:grpSp>
        <p:nvGrpSpPr>
          <p:cNvPr id="8" name="Group 8"/>
          <p:cNvGrpSpPr/>
          <p:nvPr/>
        </p:nvGrpSpPr>
        <p:grpSpPr>
          <a:xfrm>
            <a:off x="10388044" y="4786259"/>
            <a:ext cx="47629" cy="1901068"/>
            <a:chOff x="0" y="0"/>
            <a:chExt cx="63505" cy="2534757"/>
          </a:xfrm>
        </p:grpSpPr>
        <p:sp>
          <p:nvSpPr>
            <p:cNvPr id="9" name="Freeform 9"/>
            <p:cNvSpPr/>
            <p:nvPr/>
          </p:nvSpPr>
          <p:spPr>
            <a:xfrm>
              <a:off x="-2" y="-2"/>
              <a:ext cx="63504" cy="2534797"/>
            </a:xfrm>
            <a:custGeom>
              <a:avLst/>
              <a:gdLst/>
              <a:ahLst/>
              <a:cxnLst/>
              <a:rect l="l" t="t" r="r" b="b"/>
              <a:pathLst>
                <a:path w="63504" h="2534797">
                  <a:moveTo>
                    <a:pt x="25402" y="12448"/>
                  </a:moveTo>
                  <a:lnTo>
                    <a:pt x="63502" y="2521841"/>
                  </a:lnTo>
                  <a:cubicBezTo>
                    <a:pt x="63629" y="2528826"/>
                    <a:pt x="58041" y="2534668"/>
                    <a:pt x="51056" y="2534795"/>
                  </a:cubicBezTo>
                  <a:cubicBezTo>
                    <a:pt x="44071" y="2534922"/>
                    <a:pt x="38229" y="2529334"/>
                    <a:pt x="38102" y="2522349"/>
                  </a:cubicBezTo>
                  <a:lnTo>
                    <a:pt x="2" y="12956"/>
                  </a:lnTo>
                  <a:cubicBezTo>
                    <a:pt x="-125" y="5844"/>
                    <a:pt x="5463" y="129"/>
                    <a:pt x="12448" y="2"/>
                  </a:cubicBezTo>
                  <a:cubicBezTo>
                    <a:pt x="19433" y="-125"/>
                    <a:pt x="25275" y="5463"/>
                    <a:pt x="25402" y="12448"/>
                  </a:cubicBezTo>
                  <a:close/>
                </a:path>
              </a:pathLst>
            </a:custGeom>
            <a:solidFill>
              <a:srgbClr val="FFFFFF"/>
            </a:solidFill>
            <a:ln w="12700">
              <a:solidFill>
                <a:srgbClr val="000000"/>
              </a:solidFill>
            </a:ln>
          </p:spPr>
          <p:txBody>
            <a:bodyPr/>
            <a:lstStyle/>
            <a:p>
              <a:endParaRPr lang="en-US"/>
            </a:p>
          </p:txBody>
        </p:sp>
      </p:grpSp>
      <p:grpSp>
        <p:nvGrpSpPr>
          <p:cNvPr id="10" name="Group 10"/>
          <p:cNvGrpSpPr/>
          <p:nvPr/>
        </p:nvGrpSpPr>
        <p:grpSpPr>
          <a:xfrm rot="52200">
            <a:off x="690048" y="4805315"/>
            <a:ext cx="1901285" cy="19050"/>
            <a:chOff x="0" y="0"/>
            <a:chExt cx="2535047" cy="25400"/>
          </a:xfrm>
        </p:grpSpPr>
        <p:sp>
          <p:nvSpPr>
            <p:cNvPr id="11" name="Freeform 11"/>
            <p:cNvSpPr/>
            <p:nvPr/>
          </p:nvSpPr>
          <p:spPr>
            <a:xfrm>
              <a:off x="0" y="0"/>
              <a:ext cx="2535047" cy="25400"/>
            </a:xfrm>
            <a:custGeom>
              <a:avLst/>
              <a:gdLst/>
              <a:ahLst/>
              <a:cxnLst/>
              <a:rect l="l" t="t" r="r" b="b"/>
              <a:pathLst>
                <a:path w="2535047" h="25400">
                  <a:moveTo>
                    <a:pt x="12700" y="0"/>
                  </a:moveTo>
                  <a:lnTo>
                    <a:pt x="2522347" y="0"/>
                  </a:lnTo>
                  <a:cubicBezTo>
                    <a:pt x="2529332" y="0"/>
                    <a:pt x="2535047" y="5715"/>
                    <a:pt x="2535047" y="12700"/>
                  </a:cubicBezTo>
                  <a:cubicBezTo>
                    <a:pt x="2535047" y="19685"/>
                    <a:pt x="2529332" y="25400"/>
                    <a:pt x="2522347" y="25400"/>
                  </a:cubicBezTo>
                  <a:lnTo>
                    <a:pt x="12700" y="25400"/>
                  </a:lnTo>
                  <a:cubicBezTo>
                    <a:pt x="5715" y="25400"/>
                    <a:pt x="0" y="19685"/>
                    <a:pt x="0" y="12700"/>
                  </a:cubicBezTo>
                  <a:cubicBezTo>
                    <a:pt x="0" y="5715"/>
                    <a:pt x="5715" y="0"/>
                    <a:pt x="12700" y="0"/>
                  </a:cubicBezTo>
                  <a:close/>
                </a:path>
              </a:pathLst>
            </a:custGeom>
            <a:solidFill>
              <a:srgbClr val="FFFFFF"/>
            </a:solidFill>
            <a:ln w="12700">
              <a:solidFill>
                <a:srgbClr val="000000"/>
              </a:solidFill>
            </a:ln>
          </p:spPr>
          <p:txBody>
            <a:bodyPr/>
            <a:lstStyle/>
            <a:p>
              <a:endParaRPr lang="en-US"/>
            </a:p>
          </p:txBody>
        </p:sp>
      </p:grpSp>
      <p:grpSp>
        <p:nvGrpSpPr>
          <p:cNvPr id="12" name="Group 12"/>
          <p:cNvGrpSpPr/>
          <p:nvPr/>
        </p:nvGrpSpPr>
        <p:grpSpPr>
          <a:xfrm>
            <a:off x="10388188" y="4800550"/>
            <a:ext cx="1901068" cy="47629"/>
            <a:chOff x="0" y="0"/>
            <a:chExt cx="2534757" cy="63505"/>
          </a:xfrm>
        </p:grpSpPr>
        <p:sp>
          <p:nvSpPr>
            <p:cNvPr id="13" name="Freeform 13"/>
            <p:cNvSpPr/>
            <p:nvPr/>
          </p:nvSpPr>
          <p:spPr>
            <a:xfrm>
              <a:off x="-2" y="-2"/>
              <a:ext cx="2534670" cy="63504"/>
            </a:xfrm>
            <a:custGeom>
              <a:avLst/>
              <a:gdLst/>
              <a:ahLst/>
              <a:cxnLst/>
              <a:rect l="l" t="t" r="r" b="b"/>
              <a:pathLst>
                <a:path w="2534670" h="63504">
                  <a:moveTo>
                    <a:pt x="12956" y="2"/>
                  </a:moveTo>
                  <a:lnTo>
                    <a:pt x="2522222" y="38102"/>
                  </a:lnTo>
                  <a:cubicBezTo>
                    <a:pt x="2529207" y="38229"/>
                    <a:pt x="2534795" y="43944"/>
                    <a:pt x="2534668" y="51056"/>
                  </a:cubicBezTo>
                  <a:cubicBezTo>
                    <a:pt x="2534541" y="58168"/>
                    <a:pt x="2528826" y="63629"/>
                    <a:pt x="2521714" y="63502"/>
                  </a:cubicBezTo>
                  <a:lnTo>
                    <a:pt x="12448" y="25402"/>
                  </a:lnTo>
                  <a:cubicBezTo>
                    <a:pt x="5463" y="25275"/>
                    <a:pt x="-125" y="19560"/>
                    <a:pt x="2" y="12448"/>
                  </a:cubicBezTo>
                  <a:cubicBezTo>
                    <a:pt x="129" y="5336"/>
                    <a:pt x="5844" y="-125"/>
                    <a:pt x="12956" y="2"/>
                  </a:cubicBezTo>
                  <a:close/>
                </a:path>
              </a:pathLst>
            </a:custGeom>
            <a:solidFill>
              <a:srgbClr val="FFFFFF"/>
            </a:solidFill>
            <a:ln w="12700">
              <a:solidFill>
                <a:srgbClr val="000000"/>
              </a:solidFill>
            </a:ln>
          </p:spPr>
          <p:txBody>
            <a:bodyPr/>
            <a:lstStyle/>
            <a:p>
              <a:endParaRPr lang="en-US"/>
            </a:p>
          </p:txBody>
        </p:sp>
      </p:grpSp>
      <p:grpSp>
        <p:nvGrpSpPr>
          <p:cNvPr id="14" name="Group 14"/>
          <p:cNvGrpSpPr/>
          <p:nvPr/>
        </p:nvGrpSpPr>
        <p:grpSpPr>
          <a:xfrm>
            <a:off x="5604049" y="8747554"/>
            <a:ext cx="1901068" cy="47629"/>
            <a:chOff x="0" y="0"/>
            <a:chExt cx="2534757" cy="63505"/>
          </a:xfrm>
        </p:grpSpPr>
        <p:sp>
          <p:nvSpPr>
            <p:cNvPr id="15" name="Freeform 15"/>
            <p:cNvSpPr/>
            <p:nvPr/>
          </p:nvSpPr>
          <p:spPr>
            <a:xfrm>
              <a:off x="-2" y="-2"/>
              <a:ext cx="2534670" cy="63504"/>
            </a:xfrm>
            <a:custGeom>
              <a:avLst/>
              <a:gdLst/>
              <a:ahLst/>
              <a:cxnLst/>
              <a:rect l="l" t="t" r="r" b="b"/>
              <a:pathLst>
                <a:path w="2534670" h="63504">
                  <a:moveTo>
                    <a:pt x="12956" y="2"/>
                  </a:moveTo>
                  <a:lnTo>
                    <a:pt x="2522222" y="38102"/>
                  </a:lnTo>
                  <a:cubicBezTo>
                    <a:pt x="2529207" y="38229"/>
                    <a:pt x="2534795" y="43944"/>
                    <a:pt x="2534668" y="51056"/>
                  </a:cubicBezTo>
                  <a:cubicBezTo>
                    <a:pt x="2534541" y="58168"/>
                    <a:pt x="2528826" y="63629"/>
                    <a:pt x="2521714" y="63502"/>
                  </a:cubicBezTo>
                  <a:lnTo>
                    <a:pt x="12448" y="25402"/>
                  </a:lnTo>
                  <a:cubicBezTo>
                    <a:pt x="5463" y="25275"/>
                    <a:pt x="-125" y="19560"/>
                    <a:pt x="2" y="12448"/>
                  </a:cubicBezTo>
                  <a:cubicBezTo>
                    <a:pt x="129" y="5336"/>
                    <a:pt x="5844" y="-125"/>
                    <a:pt x="12956" y="2"/>
                  </a:cubicBezTo>
                  <a:close/>
                </a:path>
              </a:pathLst>
            </a:custGeom>
            <a:solidFill>
              <a:srgbClr val="FFFFFF"/>
            </a:solidFill>
            <a:ln w="12700">
              <a:solidFill>
                <a:srgbClr val="000000"/>
              </a:solidFill>
            </a:ln>
          </p:spPr>
          <p:txBody>
            <a:bodyPr/>
            <a:lstStyle/>
            <a:p>
              <a:endParaRPr lang="en-US"/>
            </a:p>
          </p:txBody>
        </p:sp>
      </p:grpSp>
      <p:grpSp>
        <p:nvGrpSpPr>
          <p:cNvPr id="16" name="Group 16"/>
          <p:cNvGrpSpPr/>
          <p:nvPr/>
        </p:nvGrpSpPr>
        <p:grpSpPr>
          <a:xfrm>
            <a:off x="5580236" y="6738234"/>
            <a:ext cx="47621" cy="2000739"/>
            <a:chOff x="0" y="0"/>
            <a:chExt cx="63495" cy="2667652"/>
          </a:xfrm>
        </p:grpSpPr>
        <p:sp>
          <p:nvSpPr>
            <p:cNvPr id="17" name="Freeform 17"/>
            <p:cNvSpPr/>
            <p:nvPr/>
          </p:nvSpPr>
          <p:spPr>
            <a:xfrm>
              <a:off x="-2" y="-2"/>
              <a:ext cx="63504" cy="2667637"/>
            </a:xfrm>
            <a:custGeom>
              <a:avLst/>
              <a:gdLst/>
              <a:ahLst/>
              <a:cxnLst/>
              <a:rect l="l" t="t" r="r" b="b"/>
              <a:pathLst>
                <a:path w="63504" h="2667637">
                  <a:moveTo>
                    <a:pt x="25402" y="12575"/>
                  </a:moveTo>
                  <a:lnTo>
                    <a:pt x="63502" y="2654810"/>
                  </a:lnTo>
                  <a:cubicBezTo>
                    <a:pt x="63629" y="2661795"/>
                    <a:pt x="58041" y="2667637"/>
                    <a:pt x="50929" y="2667637"/>
                  </a:cubicBezTo>
                  <a:cubicBezTo>
                    <a:pt x="43817" y="2667637"/>
                    <a:pt x="38102" y="2662176"/>
                    <a:pt x="38102" y="2655064"/>
                  </a:cubicBezTo>
                  <a:lnTo>
                    <a:pt x="2" y="12829"/>
                  </a:lnTo>
                  <a:cubicBezTo>
                    <a:pt x="-125" y="5844"/>
                    <a:pt x="5463" y="129"/>
                    <a:pt x="12575" y="2"/>
                  </a:cubicBezTo>
                  <a:cubicBezTo>
                    <a:pt x="19687" y="-125"/>
                    <a:pt x="25275" y="5463"/>
                    <a:pt x="25402" y="12575"/>
                  </a:cubicBezTo>
                  <a:close/>
                </a:path>
              </a:pathLst>
            </a:custGeom>
            <a:solidFill>
              <a:srgbClr val="FFFFFF"/>
            </a:solidFill>
            <a:ln w="12700">
              <a:solidFill>
                <a:srgbClr val="000000"/>
              </a:solidFill>
            </a:ln>
          </p:spPr>
          <p:txBody>
            <a:bodyPr/>
            <a:lstStyle/>
            <a:p>
              <a:endParaRPr lang="en-US"/>
            </a:p>
          </p:txBody>
        </p:sp>
      </p:grpSp>
      <p:grpSp>
        <p:nvGrpSpPr>
          <p:cNvPr id="18" name="Group 18"/>
          <p:cNvGrpSpPr/>
          <p:nvPr/>
        </p:nvGrpSpPr>
        <p:grpSpPr>
          <a:xfrm>
            <a:off x="1204482" y="5295849"/>
            <a:ext cx="748665" cy="744569"/>
            <a:chOff x="0" y="0"/>
            <a:chExt cx="998220" cy="992759"/>
          </a:xfrm>
        </p:grpSpPr>
        <p:sp>
          <p:nvSpPr>
            <p:cNvPr id="19" name="Freeform 19"/>
            <p:cNvSpPr/>
            <p:nvPr/>
          </p:nvSpPr>
          <p:spPr>
            <a:xfrm flipH="1">
              <a:off x="0" y="0"/>
              <a:ext cx="998220" cy="992759"/>
            </a:xfrm>
            <a:custGeom>
              <a:avLst/>
              <a:gdLst/>
              <a:ahLst/>
              <a:cxnLst/>
              <a:rect l="l" t="t" r="r" b="b"/>
              <a:pathLst>
                <a:path w="998220" h="992759">
                  <a:moveTo>
                    <a:pt x="998220" y="0"/>
                  </a:moveTo>
                  <a:lnTo>
                    <a:pt x="0" y="0"/>
                  </a:lnTo>
                  <a:lnTo>
                    <a:pt x="0" y="992759"/>
                  </a:lnTo>
                  <a:lnTo>
                    <a:pt x="998220" y="992759"/>
                  </a:lnTo>
                  <a:lnTo>
                    <a:pt x="998220" y="0"/>
                  </a:lnTo>
                  <a:close/>
                </a:path>
              </a:pathLst>
            </a:custGeom>
            <a:blipFill>
              <a:blip r:embed="rId4"/>
              <a:stretch>
                <a:fillRect t="-275" b="-275"/>
              </a:stretch>
            </a:blipFill>
          </p:spPr>
          <p:txBody>
            <a:bodyPr/>
            <a:lstStyle/>
            <a:p>
              <a:endParaRPr lang="en-US"/>
            </a:p>
          </p:txBody>
        </p:sp>
      </p:grpSp>
      <p:grpSp>
        <p:nvGrpSpPr>
          <p:cNvPr id="20" name="Group 20"/>
          <p:cNvGrpSpPr/>
          <p:nvPr/>
        </p:nvGrpSpPr>
        <p:grpSpPr>
          <a:xfrm>
            <a:off x="10963015" y="5295849"/>
            <a:ext cx="748665" cy="744569"/>
            <a:chOff x="0" y="0"/>
            <a:chExt cx="998220" cy="992759"/>
          </a:xfrm>
        </p:grpSpPr>
        <p:sp>
          <p:nvSpPr>
            <p:cNvPr id="21" name="Freeform 21"/>
            <p:cNvSpPr/>
            <p:nvPr/>
          </p:nvSpPr>
          <p:spPr>
            <a:xfrm flipH="1">
              <a:off x="0" y="0"/>
              <a:ext cx="998220" cy="992759"/>
            </a:xfrm>
            <a:custGeom>
              <a:avLst/>
              <a:gdLst/>
              <a:ahLst/>
              <a:cxnLst/>
              <a:rect l="l" t="t" r="r" b="b"/>
              <a:pathLst>
                <a:path w="998220" h="992759">
                  <a:moveTo>
                    <a:pt x="998220" y="0"/>
                  </a:moveTo>
                  <a:lnTo>
                    <a:pt x="0" y="0"/>
                  </a:lnTo>
                  <a:lnTo>
                    <a:pt x="0" y="992759"/>
                  </a:lnTo>
                  <a:lnTo>
                    <a:pt x="998220" y="992759"/>
                  </a:lnTo>
                  <a:lnTo>
                    <a:pt x="998220" y="0"/>
                  </a:lnTo>
                  <a:close/>
                </a:path>
              </a:pathLst>
            </a:custGeom>
            <a:blipFill>
              <a:blip r:embed="rId4"/>
              <a:stretch>
                <a:fillRect t="-275" b="-275"/>
              </a:stretch>
            </a:blipFill>
          </p:spPr>
          <p:txBody>
            <a:bodyPr/>
            <a:lstStyle/>
            <a:p>
              <a:endParaRPr lang="en-US"/>
            </a:p>
          </p:txBody>
        </p:sp>
      </p:grpSp>
      <p:grpSp>
        <p:nvGrpSpPr>
          <p:cNvPr id="22" name="Group 22"/>
          <p:cNvGrpSpPr/>
          <p:nvPr/>
        </p:nvGrpSpPr>
        <p:grpSpPr>
          <a:xfrm>
            <a:off x="6145755" y="7259025"/>
            <a:ext cx="748665" cy="744569"/>
            <a:chOff x="0" y="0"/>
            <a:chExt cx="998220" cy="992759"/>
          </a:xfrm>
        </p:grpSpPr>
        <p:sp>
          <p:nvSpPr>
            <p:cNvPr id="23" name="Freeform 23"/>
            <p:cNvSpPr/>
            <p:nvPr/>
          </p:nvSpPr>
          <p:spPr>
            <a:xfrm flipH="1">
              <a:off x="0" y="0"/>
              <a:ext cx="998220" cy="992759"/>
            </a:xfrm>
            <a:custGeom>
              <a:avLst/>
              <a:gdLst/>
              <a:ahLst/>
              <a:cxnLst/>
              <a:rect l="l" t="t" r="r" b="b"/>
              <a:pathLst>
                <a:path w="998220" h="992759">
                  <a:moveTo>
                    <a:pt x="998220" y="0"/>
                  </a:moveTo>
                  <a:lnTo>
                    <a:pt x="0" y="0"/>
                  </a:lnTo>
                  <a:lnTo>
                    <a:pt x="0" y="992759"/>
                  </a:lnTo>
                  <a:lnTo>
                    <a:pt x="998220" y="992759"/>
                  </a:lnTo>
                  <a:lnTo>
                    <a:pt x="998220" y="0"/>
                  </a:lnTo>
                  <a:close/>
                </a:path>
              </a:pathLst>
            </a:custGeom>
            <a:blipFill>
              <a:blip r:embed="rId4"/>
              <a:stretch>
                <a:fillRect t="-275" b="-275"/>
              </a:stretch>
            </a:blipFill>
          </p:spPr>
          <p:txBody>
            <a:bodyPr/>
            <a:lstStyle/>
            <a:p>
              <a:endParaRPr lang="en-US"/>
            </a:p>
          </p:txBody>
        </p:sp>
      </p:grpSp>
      <p:sp>
        <p:nvSpPr>
          <p:cNvPr id="24" name="Freeform 24"/>
          <p:cNvSpPr/>
          <p:nvPr/>
        </p:nvSpPr>
        <p:spPr>
          <a:xfrm>
            <a:off x="728265" y="2510810"/>
            <a:ext cx="2024162" cy="1626729"/>
          </a:xfrm>
          <a:custGeom>
            <a:avLst/>
            <a:gdLst/>
            <a:ahLst/>
            <a:cxnLst/>
            <a:rect l="l" t="t" r="r" b="b"/>
            <a:pathLst>
              <a:path w="2024162" h="1626729">
                <a:moveTo>
                  <a:pt x="0" y="0"/>
                </a:moveTo>
                <a:lnTo>
                  <a:pt x="2024162" y="0"/>
                </a:lnTo>
                <a:lnTo>
                  <a:pt x="2024162" y="1626729"/>
                </a:lnTo>
                <a:lnTo>
                  <a:pt x="0" y="1626729"/>
                </a:lnTo>
                <a:lnTo>
                  <a:pt x="0" y="0"/>
                </a:lnTo>
                <a:close/>
              </a:path>
            </a:pathLst>
          </a:custGeom>
          <a:blipFill>
            <a:blip r:embed="rId5">
              <a:extLst>
                <a:ext uri="{96DAC541-7B7A-43D3-8B79-37D633B846F1}">
                  <asvg:svgBlip xmlns:asvg="http://schemas.microsoft.com/office/drawing/2016/SVG/main" r:embed="rId6"/>
                </a:ext>
              </a:extLst>
            </a:blip>
            <a:stretch>
              <a:fillRect l="-52" r="-52"/>
            </a:stretch>
          </a:blipFill>
        </p:spPr>
        <p:txBody>
          <a:bodyPr/>
          <a:lstStyle/>
          <a:p>
            <a:endParaRPr lang="en-US"/>
          </a:p>
        </p:txBody>
      </p:sp>
      <p:sp>
        <p:nvSpPr>
          <p:cNvPr id="25" name="TextBox 25"/>
          <p:cNvSpPr txBox="1"/>
          <p:nvPr/>
        </p:nvSpPr>
        <p:spPr>
          <a:xfrm>
            <a:off x="408022" y="201879"/>
            <a:ext cx="11892125" cy="1512570"/>
          </a:xfrm>
          <a:prstGeom prst="rect">
            <a:avLst/>
          </a:prstGeom>
        </p:spPr>
        <p:txBody>
          <a:bodyPr lIns="0" tIns="0" rIns="0" bIns="0" rtlCol="0" anchor="t">
            <a:spAutoFit/>
          </a:bodyPr>
          <a:lstStyle/>
          <a:p>
            <a:pPr algn="l">
              <a:lnSpc>
                <a:spcPts val="11040"/>
              </a:lnSpc>
            </a:pPr>
            <a:r>
              <a:rPr lang="en-US" sz="8000" b="1">
                <a:solidFill>
                  <a:srgbClr val="FFFFFF"/>
                </a:solidFill>
                <a:latin typeface="Calibri (MS) Bold"/>
                <a:ea typeface="Calibri (MS) Bold"/>
                <a:cs typeface="Calibri (MS) Bold"/>
                <a:sym typeface="Calibri (MS) Bold"/>
              </a:rPr>
              <a:t>Blockchain Objectives</a:t>
            </a:r>
          </a:p>
        </p:txBody>
      </p:sp>
      <p:sp>
        <p:nvSpPr>
          <p:cNvPr id="26" name="TextBox 26"/>
          <p:cNvSpPr txBox="1"/>
          <p:nvPr/>
        </p:nvSpPr>
        <p:spPr>
          <a:xfrm>
            <a:off x="7440118" y="7000509"/>
            <a:ext cx="9249087" cy="1488694"/>
          </a:xfrm>
          <a:prstGeom prst="rect">
            <a:avLst/>
          </a:prstGeom>
        </p:spPr>
        <p:txBody>
          <a:bodyPr lIns="0" tIns="0" rIns="0" bIns="0" rtlCol="0" anchor="t">
            <a:spAutoFit/>
          </a:bodyPr>
          <a:lstStyle/>
          <a:p>
            <a:pPr algn="l">
              <a:lnSpc>
                <a:spcPts val="5738"/>
              </a:lnSpc>
            </a:pPr>
            <a:r>
              <a:rPr lang="en-US" sz="3800" dirty="0">
                <a:solidFill>
                  <a:srgbClr val="FFFFFF"/>
                </a:solidFill>
                <a:latin typeface="Calibri (MS)"/>
                <a:ea typeface="Calibri (MS)"/>
                <a:cs typeface="Calibri (MS)"/>
                <a:sym typeface="Calibri (MS)"/>
              </a:rPr>
              <a:t>Reduce data disputes between airlines and airports.</a:t>
            </a:r>
          </a:p>
        </p:txBody>
      </p:sp>
      <p:sp>
        <p:nvSpPr>
          <p:cNvPr id="27" name="TextBox 27"/>
          <p:cNvSpPr txBox="1"/>
          <p:nvPr/>
        </p:nvSpPr>
        <p:spPr>
          <a:xfrm>
            <a:off x="12064662" y="5028152"/>
            <a:ext cx="5802402" cy="1488694"/>
          </a:xfrm>
          <a:prstGeom prst="rect">
            <a:avLst/>
          </a:prstGeom>
        </p:spPr>
        <p:txBody>
          <a:bodyPr lIns="0" tIns="0" rIns="0" bIns="0" rtlCol="0" anchor="t">
            <a:spAutoFit/>
          </a:bodyPr>
          <a:lstStyle/>
          <a:p>
            <a:pPr algn="l">
              <a:lnSpc>
                <a:spcPts val="5738"/>
              </a:lnSpc>
            </a:pPr>
            <a:r>
              <a:rPr lang="en-US" sz="3800" dirty="0">
                <a:solidFill>
                  <a:srgbClr val="FFFFFF"/>
                </a:solidFill>
                <a:latin typeface="Calibri (MS)"/>
                <a:ea typeface="Calibri (MS)"/>
                <a:cs typeface="Calibri (MS)"/>
                <a:sym typeface="Calibri (MS)"/>
              </a:rPr>
              <a:t>Reduce operational and compensation disputes.</a:t>
            </a:r>
          </a:p>
        </p:txBody>
      </p:sp>
      <p:sp>
        <p:nvSpPr>
          <p:cNvPr id="28" name="TextBox 28"/>
          <p:cNvSpPr txBox="1"/>
          <p:nvPr/>
        </p:nvSpPr>
        <p:spPr>
          <a:xfrm>
            <a:off x="2307345" y="5027823"/>
            <a:ext cx="9249087" cy="1407821"/>
          </a:xfrm>
          <a:prstGeom prst="rect">
            <a:avLst/>
          </a:prstGeom>
        </p:spPr>
        <p:txBody>
          <a:bodyPr lIns="0" tIns="0" rIns="0" bIns="0" rtlCol="0" anchor="t">
            <a:spAutoFit/>
          </a:bodyPr>
          <a:lstStyle/>
          <a:p>
            <a:pPr algn="l">
              <a:lnSpc>
                <a:spcPts val="5738"/>
              </a:lnSpc>
            </a:pPr>
            <a:r>
              <a:rPr lang="en-US" sz="3800" dirty="0">
                <a:solidFill>
                  <a:srgbClr val="FFFFFF"/>
                </a:solidFill>
                <a:latin typeface="Calibri (MS)"/>
                <a:ea typeface="Calibri (MS)"/>
                <a:cs typeface="Calibri (MS)"/>
                <a:sym typeface="Calibri (MS)"/>
              </a:rPr>
              <a:t>Improve real-time </a:t>
            </a:r>
          </a:p>
          <a:p>
            <a:pPr algn="l">
              <a:lnSpc>
                <a:spcPts val="5738"/>
              </a:lnSpc>
            </a:pPr>
            <a:r>
              <a:rPr lang="en-US" sz="3800" dirty="0">
                <a:solidFill>
                  <a:srgbClr val="FFFFFF"/>
                </a:solidFill>
                <a:latin typeface="Calibri (MS)"/>
                <a:ea typeface="Calibri (MS)"/>
                <a:cs typeface="Calibri (MS)"/>
                <a:sym typeface="Calibri (MS)"/>
              </a:rPr>
              <a:t>operational coordination.</a:t>
            </a:r>
          </a:p>
        </p:txBody>
      </p:sp>
      <p:sp>
        <p:nvSpPr>
          <p:cNvPr id="29" name="TextBox 29"/>
          <p:cNvSpPr txBox="1"/>
          <p:nvPr/>
        </p:nvSpPr>
        <p:spPr>
          <a:xfrm>
            <a:off x="2752427" y="2005872"/>
            <a:ext cx="15271236" cy="2212594"/>
          </a:xfrm>
          <a:prstGeom prst="rect">
            <a:avLst/>
          </a:prstGeom>
        </p:spPr>
        <p:txBody>
          <a:bodyPr lIns="0" tIns="0" rIns="0" bIns="0" rtlCol="0" anchor="t">
            <a:spAutoFit/>
          </a:bodyPr>
          <a:lstStyle/>
          <a:p>
            <a:pPr algn="just">
              <a:lnSpc>
                <a:spcPts val="5738"/>
              </a:lnSpc>
            </a:pPr>
            <a:r>
              <a:rPr lang="en-US" sz="3800" dirty="0">
                <a:solidFill>
                  <a:srgbClr val="FFFFFF"/>
                </a:solidFill>
                <a:latin typeface="Calibri (MS)"/>
                <a:ea typeface="Calibri (MS)"/>
                <a:cs typeface="Calibri (MS)"/>
                <a:sym typeface="Calibri (MS)"/>
              </a:rPr>
              <a:t>The primary objective of the project was to determine whether the blockchain technology would be able to generate a single source of truth regarding flight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2" y="-270483"/>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844634" y="3492841"/>
            <a:ext cx="3301317" cy="3301317"/>
          </a:xfrm>
          <a:custGeom>
            <a:avLst/>
            <a:gdLst/>
            <a:ahLst/>
            <a:cxnLst/>
            <a:rect l="l" t="t" r="r" b="b"/>
            <a:pathLst>
              <a:path w="3301317" h="3301317">
                <a:moveTo>
                  <a:pt x="0" y="0"/>
                </a:moveTo>
                <a:lnTo>
                  <a:pt x="3301317" y="0"/>
                </a:lnTo>
                <a:lnTo>
                  <a:pt x="3301317" y="3301317"/>
                </a:lnTo>
                <a:lnTo>
                  <a:pt x="0" y="3301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6676405" y="3492841"/>
            <a:ext cx="3301317" cy="3301317"/>
          </a:xfrm>
          <a:custGeom>
            <a:avLst/>
            <a:gdLst/>
            <a:ahLst/>
            <a:cxnLst/>
            <a:rect l="l" t="t" r="r" b="b"/>
            <a:pathLst>
              <a:path w="3301317" h="3301317">
                <a:moveTo>
                  <a:pt x="0" y="0"/>
                </a:moveTo>
                <a:lnTo>
                  <a:pt x="3301317" y="0"/>
                </a:lnTo>
                <a:lnTo>
                  <a:pt x="3301317" y="3301317"/>
                </a:lnTo>
                <a:lnTo>
                  <a:pt x="0" y="3301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2508175" y="3492841"/>
            <a:ext cx="3301317" cy="3301317"/>
          </a:xfrm>
          <a:custGeom>
            <a:avLst/>
            <a:gdLst/>
            <a:ahLst/>
            <a:cxnLst/>
            <a:rect l="l" t="t" r="r" b="b"/>
            <a:pathLst>
              <a:path w="3301317" h="3301317">
                <a:moveTo>
                  <a:pt x="0" y="0"/>
                </a:moveTo>
                <a:lnTo>
                  <a:pt x="3301317" y="0"/>
                </a:lnTo>
                <a:lnTo>
                  <a:pt x="3301317" y="3301317"/>
                </a:lnTo>
                <a:lnTo>
                  <a:pt x="0" y="33013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4248002" y="4113422"/>
            <a:ext cx="1420797" cy="2060156"/>
          </a:xfrm>
          <a:custGeom>
            <a:avLst/>
            <a:gdLst/>
            <a:ahLst/>
            <a:cxnLst/>
            <a:rect l="l" t="t" r="r" b="b"/>
            <a:pathLst>
              <a:path w="1420797" h="2060156">
                <a:moveTo>
                  <a:pt x="0" y="0"/>
                </a:moveTo>
                <a:lnTo>
                  <a:pt x="1420797" y="0"/>
                </a:lnTo>
                <a:lnTo>
                  <a:pt x="1420797" y="2060156"/>
                </a:lnTo>
                <a:lnTo>
                  <a:pt x="0" y="2060156"/>
                </a:lnTo>
                <a:lnTo>
                  <a:pt x="0" y="0"/>
                </a:lnTo>
                <a:close/>
              </a:path>
            </a:pathLst>
          </a:custGeom>
          <a:blipFill>
            <a:blip r:embed="rId6">
              <a:extLst>
                <a:ext uri="{96DAC541-7B7A-43D3-8B79-37D633B846F1}">
                  <asvg:svgBlip xmlns:asvg="http://schemas.microsoft.com/office/drawing/2016/SVG/main" r:embed="rId7"/>
                </a:ext>
              </a:extLst>
            </a:blip>
            <a:stretch>
              <a:fillRect l="-115" r="-115"/>
            </a:stretch>
          </a:blipFill>
        </p:spPr>
        <p:txBody>
          <a:bodyPr/>
          <a:lstStyle/>
          <a:p>
            <a:endParaRPr lang="en-US"/>
          </a:p>
        </p:txBody>
      </p:sp>
      <p:sp>
        <p:nvSpPr>
          <p:cNvPr id="8" name="TextBox 8"/>
          <p:cNvSpPr txBox="1"/>
          <p:nvPr/>
        </p:nvSpPr>
        <p:spPr>
          <a:xfrm>
            <a:off x="844634" y="-8573"/>
            <a:ext cx="15690766" cy="1512570"/>
          </a:xfrm>
          <a:prstGeom prst="rect">
            <a:avLst/>
          </a:prstGeom>
        </p:spPr>
        <p:txBody>
          <a:bodyPr lIns="0" tIns="0" rIns="0" bIns="0" rtlCol="0" anchor="t">
            <a:spAutoFit/>
          </a:bodyPr>
          <a:lstStyle/>
          <a:p>
            <a:pPr algn="l">
              <a:lnSpc>
                <a:spcPts val="11040"/>
              </a:lnSpc>
            </a:pPr>
            <a:r>
              <a:rPr lang="en-US" sz="8000" b="1" dirty="0">
                <a:solidFill>
                  <a:srgbClr val="FFFFFF"/>
                </a:solidFill>
                <a:latin typeface="Calibri (MS) Bold"/>
                <a:ea typeface="Calibri (MS) Bold"/>
                <a:cs typeface="Calibri (MS) Bold"/>
                <a:sym typeface="Calibri (MS) Bold"/>
              </a:rPr>
              <a:t>Timeline of Implementation</a:t>
            </a:r>
          </a:p>
        </p:txBody>
      </p:sp>
      <p:sp>
        <p:nvSpPr>
          <p:cNvPr id="9" name="TextBox 9"/>
          <p:cNvSpPr txBox="1"/>
          <p:nvPr/>
        </p:nvSpPr>
        <p:spPr>
          <a:xfrm>
            <a:off x="1684584" y="3893911"/>
            <a:ext cx="1930653" cy="1953768"/>
          </a:xfrm>
          <a:prstGeom prst="rect">
            <a:avLst/>
          </a:prstGeom>
        </p:spPr>
        <p:txBody>
          <a:bodyPr lIns="0" tIns="0" rIns="0" bIns="0" rtlCol="0" anchor="t">
            <a:spAutoFit/>
          </a:bodyPr>
          <a:lstStyle/>
          <a:p>
            <a:pPr algn="l">
              <a:lnSpc>
                <a:spcPts val="7866"/>
              </a:lnSpc>
            </a:pPr>
            <a:r>
              <a:rPr lang="en-US" sz="4000" b="1" dirty="0">
                <a:solidFill>
                  <a:srgbClr val="BFBEBE"/>
                </a:solidFill>
                <a:latin typeface="Calibri (MS) Bold"/>
                <a:ea typeface="Calibri (MS) Bold"/>
                <a:cs typeface="Calibri (MS) Bold"/>
                <a:sym typeface="Calibri (MS) Bold"/>
              </a:rPr>
              <a:t>2017 -</a:t>
            </a:r>
          </a:p>
          <a:p>
            <a:pPr algn="l">
              <a:lnSpc>
                <a:spcPts val="7866"/>
              </a:lnSpc>
            </a:pPr>
            <a:r>
              <a:rPr lang="en-US" sz="4000" b="1" dirty="0">
                <a:solidFill>
                  <a:srgbClr val="BFBEBE"/>
                </a:solidFill>
                <a:latin typeface="Calibri (MS) Bold"/>
                <a:ea typeface="Calibri (MS) Bold"/>
                <a:cs typeface="Calibri (MS) Bold"/>
                <a:sym typeface="Calibri (MS) Bold"/>
              </a:rPr>
              <a:t>2018</a:t>
            </a:r>
          </a:p>
        </p:txBody>
      </p:sp>
      <p:sp>
        <p:nvSpPr>
          <p:cNvPr id="10" name="TextBox 10"/>
          <p:cNvSpPr txBox="1"/>
          <p:nvPr/>
        </p:nvSpPr>
        <p:spPr>
          <a:xfrm>
            <a:off x="440331" y="2448149"/>
            <a:ext cx="5228467" cy="569595"/>
          </a:xfrm>
          <a:prstGeom prst="rect">
            <a:avLst/>
          </a:prstGeom>
        </p:spPr>
        <p:txBody>
          <a:bodyPr lIns="0" tIns="0" rIns="0" bIns="0" rtlCol="0" anchor="t">
            <a:spAutoFit/>
          </a:bodyPr>
          <a:lstStyle/>
          <a:p>
            <a:pPr algn="l">
              <a:lnSpc>
                <a:spcPts val="4140"/>
              </a:lnSpc>
            </a:pPr>
            <a:r>
              <a:rPr lang="en-US" sz="3000" b="1">
                <a:solidFill>
                  <a:srgbClr val="FFFFFF"/>
                </a:solidFill>
                <a:latin typeface="Calibri (MS) Bold"/>
                <a:ea typeface="Calibri (MS) Bold"/>
                <a:cs typeface="Calibri (MS) Bold"/>
                <a:sym typeface="Calibri (MS) Bold"/>
              </a:rPr>
              <a:t>Phase 1 - Proof of Concept</a:t>
            </a:r>
          </a:p>
        </p:txBody>
      </p:sp>
      <p:sp>
        <p:nvSpPr>
          <p:cNvPr id="11" name="TextBox 11"/>
          <p:cNvSpPr txBox="1"/>
          <p:nvPr/>
        </p:nvSpPr>
        <p:spPr>
          <a:xfrm>
            <a:off x="6612812" y="2448149"/>
            <a:ext cx="5062375" cy="569595"/>
          </a:xfrm>
          <a:prstGeom prst="rect">
            <a:avLst/>
          </a:prstGeom>
        </p:spPr>
        <p:txBody>
          <a:bodyPr lIns="0" tIns="0" rIns="0" bIns="0" rtlCol="0" anchor="t">
            <a:spAutoFit/>
          </a:bodyPr>
          <a:lstStyle/>
          <a:p>
            <a:pPr algn="l">
              <a:lnSpc>
                <a:spcPts val="4140"/>
              </a:lnSpc>
            </a:pPr>
            <a:r>
              <a:rPr lang="en-US" sz="3000" b="1">
                <a:solidFill>
                  <a:srgbClr val="FFFFFF"/>
                </a:solidFill>
                <a:latin typeface="Calibri (MS) Bold"/>
                <a:ea typeface="Calibri (MS) Bold"/>
                <a:cs typeface="Calibri (MS) Bold"/>
                <a:sym typeface="Calibri (MS) Bold"/>
              </a:rPr>
              <a:t>Phase 2 - Scaling Barriers</a:t>
            </a:r>
          </a:p>
        </p:txBody>
      </p:sp>
      <p:sp>
        <p:nvSpPr>
          <p:cNvPr id="12" name="TextBox 12"/>
          <p:cNvSpPr txBox="1"/>
          <p:nvPr/>
        </p:nvSpPr>
        <p:spPr>
          <a:xfrm>
            <a:off x="6838419" y="6678298"/>
            <a:ext cx="3306074" cy="2391448"/>
          </a:xfrm>
          <a:prstGeom prst="rect">
            <a:avLst/>
          </a:prstGeom>
        </p:spPr>
        <p:txBody>
          <a:bodyPr lIns="0" tIns="0" rIns="0" bIns="0" rtlCol="0" anchor="t">
            <a:spAutoFit/>
          </a:bodyPr>
          <a:lstStyle/>
          <a:p>
            <a:pPr algn="l">
              <a:lnSpc>
                <a:spcPts val="4703"/>
              </a:lnSpc>
            </a:pPr>
            <a:r>
              <a:rPr lang="en-US" sz="2799">
                <a:solidFill>
                  <a:srgbClr val="FFFFFF"/>
                </a:solidFill>
                <a:latin typeface="Calibri (MS)"/>
                <a:ea typeface="Calibri (MS)"/>
                <a:cs typeface="Calibri (MS)"/>
                <a:sym typeface="Calibri (MS)"/>
              </a:rPr>
              <a:t>• Aviation Blockchain</a:t>
            </a:r>
          </a:p>
          <a:p>
            <a:pPr algn="l">
              <a:lnSpc>
                <a:spcPts val="4703"/>
              </a:lnSpc>
            </a:pPr>
            <a:r>
              <a:rPr lang="en-US" sz="2799">
                <a:solidFill>
                  <a:srgbClr val="FFFFFF"/>
                </a:solidFill>
                <a:latin typeface="Calibri (MS)"/>
                <a:ea typeface="Calibri (MS)"/>
                <a:cs typeface="Calibri (MS)"/>
                <a:sym typeface="Calibri (MS)"/>
              </a:rPr>
              <a:t>• Sandbox </a:t>
            </a:r>
          </a:p>
          <a:p>
            <a:pPr algn="l">
              <a:lnSpc>
                <a:spcPts val="4704"/>
              </a:lnSpc>
            </a:pPr>
            <a:r>
              <a:rPr lang="en-US" sz="2799">
                <a:solidFill>
                  <a:srgbClr val="FFFFFF"/>
                </a:solidFill>
                <a:latin typeface="Calibri (MS)"/>
                <a:ea typeface="Calibri (MS)"/>
                <a:cs typeface="Calibri (MS)"/>
                <a:sym typeface="Calibri (MS)"/>
              </a:rPr>
              <a:t>• Legacy integration challanges</a:t>
            </a:r>
          </a:p>
        </p:txBody>
      </p:sp>
      <p:sp>
        <p:nvSpPr>
          <p:cNvPr id="13" name="TextBox 13"/>
          <p:cNvSpPr txBox="1"/>
          <p:nvPr/>
        </p:nvSpPr>
        <p:spPr>
          <a:xfrm>
            <a:off x="844634" y="6689061"/>
            <a:ext cx="3306074" cy="2391448"/>
          </a:xfrm>
          <a:prstGeom prst="rect">
            <a:avLst/>
          </a:prstGeom>
        </p:spPr>
        <p:txBody>
          <a:bodyPr lIns="0" tIns="0" rIns="0" bIns="0" rtlCol="0" anchor="t">
            <a:spAutoFit/>
          </a:bodyPr>
          <a:lstStyle/>
          <a:p>
            <a:pPr algn="l">
              <a:lnSpc>
                <a:spcPts val="4703"/>
              </a:lnSpc>
            </a:pPr>
            <a:r>
              <a:rPr lang="en-US" sz="2799">
                <a:solidFill>
                  <a:srgbClr val="FFFFFF"/>
                </a:solidFill>
                <a:latin typeface="Calibri (MS)"/>
                <a:ea typeface="Calibri (MS)"/>
                <a:cs typeface="Calibri (MS)"/>
                <a:sym typeface="Calibri (MS)"/>
              </a:rPr>
              <a:t>• Live pilot with BA, Heathrow &amp; Geneva</a:t>
            </a:r>
          </a:p>
          <a:p>
            <a:pPr algn="l">
              <a:lnSpc>
                <a:spcPts val="4704"/>
              </a:lnSpc>
            </a:pPr>
            <a:r>
              <a:rPr lang="en-US" sz="2799">
                <a:solidFill>
                  <a:srgbClr val="FFFFFF"/>
                </a:solidFill>
                <a:latin typeface="Calibri (MS)"/>
                <a:ea typeface="Calibri (MS)"/>
                <a:cs typeface="Calibri (MS)"/>
                <a:sym typeface="Calibri (MS)"/>
              </a:rPr>
              <a:t>• Brussels demo of auto compensation</a:t>
            </a:r>
          </a:p>
        </p:txBody>
      </p:sp>
      <p:sp>
        <p:nvSpPr>
          <p:cNvPr id="14" name="TextBox 14"/>
          <p:cNvSpPr txBox="1"/>
          <p:nvPr/>
        </p:nvSpPr>
        <p:spPr>
          <a:xfrm>
            <a:off x="12561013" y="2448149"/>
            <a:ext cx="4778898" cy="569595"/>
          </a:xfrm>
          <a:prstGeom prst="rect">
            <a:avLst/>
          </a:prstGeom>
        </p:spPr>
        <p:txBody>
          <a:bodyPr lIns="0" tIns="0" rIns="0" bIns="0" rtlCol="0" anchor="t">
            <a:spAutoFit/>
          </a:bodyPr>
          <a:lstStyle/>
          <a:p>
            <a:pPr algn="l">
              <a:lnSpc>
                <a:spcPts val="4140"/>
              </a:lnSpc>
            </a:pPr>
            <a:r>
              <a:rPr lang="en-US" sz="3000" b="1">
                <a:solidFill>
                  <a:srgbClr val="FFFFFF"/>
                </a:solidFill>
                <a:latin typeface="Calibri (MS) Bold"/>
                <a:ea typeface="Calibri (MS) Bold"/>
                <a:cs typeface="Calibri (MS) Bold"/>
                <a:sym typeface="Calibri (MS) Bold"/>
              </a:rPr>
              <a:t>Phase 3 - Strategic Shift</a:t>
            </a:r>
          </a:p>
        </p:txBody>
      </p:sp>
      <p:sp>
        <p:nvSpPr>
          <p:cNvPr id="15" name="TextBox 15"/>
          <p:cNvSpPr txBox="1"/>
          <p:nvPr/>
        </p:nvSpPr>
        <p:spPr>
          <a:xfrm>
            <a:off x="12830543" y="6689061"/>
            <a:ext cx="3306074" cy="2391448"/>
          </a:xfrm>
          <a:prstGeom prst="rect">
            <a:avLst/>
          </a:prstGeom>
        </p:spPr>
        <p:txBody>
          <a:bodyPr lIns="0" tIns="0" rIns="0" bIns="0" rtlCol="0" anchor="t">
            <a:spAutoFit/>
          </a:bodyPr>
          <a:lstStyle/>
          <a:p>
            <a:pPr algn="l">
              <a:lnSpc>
                <a:spcPts val="4703"/>
              </a:lnSpc>
            </a:pPr>
            <a:r>
              <a:rPr lang="en-US" sz="2799">
                <a:solidFill>
                  <a:srgbClr val="FFFFFF"/>
                </a:solidFill>
                <a:latin typeface="Calibri (MS)"/>
                <a:ea typeface="Calibri (MS)"/>
                <a:cs typeface="Calibri (MS)"/>
                <a:sym typeface="Calibri (MS)"/>
              </a:rPr>
              <a:t>• COVID-19 crisis response</a:t>
            </a:r>
          </a:p>
          <a:p>
            <a:pPr algn="l">
              <a:lnSpc>
                <a:spcPts val="4704"/>
              </a:lnSpc>
            </a:pPr>
            <a:r>
              <a:rPr lang="en-US" sz="2799">
                <a:solidFill>
                  <a:srgbClr val="FFFFFF"/>
                </a:solidFill>
                <a:latin typeface="Calibri (MS)"/>
                <a:ea typeface="Calibri (MS)"/>
                <a:cs typeface="Calibri (MS)"/>
                <a:sym typeface="Calibri (MS)"/>
              </a:rPr>
              <a:t>• Repositioned as experimental portfolio</a:t>
            </a:r>
          </a:p>
        </p:txBody>
      </p:sp>
      <p:sp>
        <p:nvSpPr>
          <p:cNvPr id="16" name="TextBox 16"/>
          <p:cNvSpPr txBox="1"/>
          <p:nvPr/>
        </p:nvSpPr>
        <p:spPr>
          <a:xfrm>
            <a:off x="7421446" y="3893911"/>
            <a:ext cx="1959606" cy="1953768"/>
          </a:xfrm>
          <a:prstGeom prst="rect">
            <a:avLst/>
          </a:prstGeom>
        </p:spPr>
        <p:txBody>
          <a:bodyPr lIns="0" tIns="0" rIns="0" bIns="0" rtlCol="0" anchor="t">
            <a:spAutoFit/>
          </a:bodyPr>
          <a:lstStyle/>
          <a:p>
            <a:pPr algn="l">
              <a:lnSpc>
                <a:spcPts val="7866"/>
              </a:lnSpc>
            </a:pPr>
            <a:r>
              <a:rPr lang="en-US" sz="4000" b="1" dirty="0">
                <a:solidFill>
                  <a:srgbClr val="BFBEBE"/>
                </a:solidFill>
                <a:latin typeface="Calibri (MS) Bold"/>
                <a:ea typeface="Calibri (MS) Bold"/>
                <a:cs typeface="Calibri (MS) Bold"/>
                <a:sym typeface="Calibri (MS) Bold"/>
              </a:rPr>
              <a:t>2018 -</a:t>
            </a:r>
          </a:p>
          <a:p>
            <a:pPr algn="l">
              <a:lnSpc>
                <a:spcPts val="7866"/>
              </a:lnSpc>
            </a:pPr>
            <a:r>
              <a:rPr lang="en-US" sz="4000" b="1" dirty="0">
                <a:solidFill>
                  <a:srgbClr val="BFBEBE"/>
                </a:solidFill>
                <a:latin typeface="Calibri (MS) Bold"/>
                <a:ea typeface="Calibri (MS) Bold"/>
                <a:cs typeface="Calibri (MS) Bold"/>
                <a:sym typeface="Calibri (MS) Bold"/>
              </a:rPr>
              <a:t>2020</a:t>
            </a:r>
          </a:p>
        </p:txBody>
      </p:sp>
      <p:sp>
        <p:nvSpPr>
          <p:cNvPr id="17" name="TextBox 17"/>
          <p:cNvSpPr txBox="1"/>
          <p:nvPr/>
        </p:nvSpPr>
        <p:spPr>
          <a:xfrm>
            <a:off x="13174663" y="3893911"/>
            <a:ext cx="2116715" cy="1953768"/>
          </a:xfrm>
          <a:prstGeom prst="rect">
            <a:avLst/>
          </a:prstGeom>
        </p:spPr>
        <p:txBody>
          <a:bodyPr lIns="0" tIns="0" rIns="0" bIns="0" rtlCol="0" anchor="t">
            <a:spAutoFit/>
          </a:bodyPr>
          <a:lstStyle/>
          <a:p>
            <a:pPr algn="l">
              <a:lnSpc>
                <a:spcPts val="7866"/>
              </a:lnSpc>
            </a:pPr>
            <a:r>
              <a:rPr lang="en-US" sz="4000" b="1" dirty="0">
                <a:solidFill>
                  <a:srgbClr val="BFBEBE"/>
                </a:solidFill>
                <a:latin typeface="Calibri (MS) Bold"/>
                <a:ea typeface="Calibri (MS) Bold"/>
                <a:cs typeface="Calibri (MS) Bold"/>
                <a:sym typeface="Calibri (MS) Bold"/>
              </a:rPr>
              <a:t>2020 -</a:t>
            </a:r>
          </a:p>
          <a:p>
            <a:pPr algn="l">
              <a:lnSpc>
                <a:spcPts val="7866"/>
              </a:lnSpc>
            </a:pPr>
            <a:r>
              <a:rPr lang="en-US" sz="4000" b="1" dirty="0">
                <a:solidFill>
                  <a:srgbClr val="BFBEBE"/>
                </a:solidFill>
                <a:latin typeface="Calibri (MS) Bold"/>
                <a:ea typeface="Calibri (MS) Bold"/>
                <a:cs typeface="Calibri (MS) Bold"/>
                <a:sym typeface="Calibri (MS) Bold"/>
              </a:rPr>
              <a:t>Now</a:t>
            </a:r>
          </a:p>
        </p:txBody>
      </p:sp>
      <p:sp>
        <p:nvSpPr>
          <p:cNvPr id="18" name="Freeform 18"/>
          <p:cNvSpPr/>
          <p:nvPr/>
        </p:nvSpPr>
        <p:spPr>
          <a:xfrm>
            <a:off x="10532550" y="4113422"/>
            <a:ext cx="1420797" cy="2060156"/>
          </a:xfrm>
          <a:custGeom>
            <a:avLst/>
            <a:gdLst/>
            <a:ahLst/>
            <a:cxnLst/>
            <a:rect l="l" t="t" r="r" b="b"/>
            <a:pathLst>
              <a:path w="1420797" h="2060156">
                <a:moveTo>
                  <a:pt x="0" y="0"/>
                </a:moveTo>
                <a:lnTo>
                  <a:pt x="1420797" y="0"/>
                </a:lnTo>
                <a:lnTo>
                  <a:pt x="1420797" y="2060156"/>
                </a:lnTo>
                <a:lnTo>
                  <a:pt x="0" y="2060156"/>
                </a:lnTo>
                <a:lnTo>
                  <a:pt x="0" y="0"/>
                </a:lnTo>
                <a:close/>
              </a:path>
            </a:pathLst>
          </a:custGeom>
          <a:blipFill>
            <a:blip r:embed="rId6">
              <a:extLst>
                <a:ext uri="{96DAC541-7B7A-43D3-8B79-37D633B846F1}">
                  <asvg:svgBlip xmlns:asvg="http://schemas.microsoft.com/office/drawing/2016/SVG/main" r:embed="rId7"/>
                </a:ext>
              </a:extLst>
            </a:blip>
            <a:stretch>
              <a:fillRect l="-115" r="-115"/>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216313" y="20574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aphicFrame>
        <p:nvGraphicFramePr>
          <p:cNvPr id="4" name="Table 4"/>
          <p:cNvGraphicFramePr>
            <a:graphicFrameLocks noGrp="1"/>
          </p:cNvGraphicFramePr>
          <p:nvPr>
            <p:extLst>
              <p:ext uri="{D42A27DB-BD31-4B8C-83A1-F6EECF244321}">
                <p14:modId xmlns:p14="http://schemas.microsoft.com/office/powerpoint/2010/main" val="3423500850"/>
              </p:ext>
            </p:extLst>
          </p:nvPr>
        </p:nvGraphicFramePr>
        <p:xfrm>
          <a:off x="5410200" y="1086584"/>
          <a:ext cx="9062564" cy="3962679"/>
        </p:xfrm>
        <a:graphic>
          <a:graphicData uri="http://schemas.openxmlformats.org/drawingml/2006/table">
            <a:tbl>
              <a:tblPr/>
              <a:tblGrid>
                <a:gridCol w="2265641">
                  <a:extLst>
                    <a:ext uri="{9D8B030D-6E8A-4147-A177-3AD203B41FA5}">
                      <a16:colId xmlns:a16="http://schemas.microsoft.com/office/drawing/2014/main" val="20000"/>
                    </a:ext>
                  </a:extLst>
                </a:gridCol>
                <a:gridCol w="2265641">
                  <a:extLst>
                    <a:ext uri="{9D8B030D-6E8A-4147-A177-3AD203B41FA5}">
                      <a16:colId xmlns:a16="http://schemas.microsoft.com/office/drawing/2014/main" val="20001"/>
                    </a:ext>
                  </a:extLst>
                </a:gridCol>
                <a:gridCol w="2265641">
                  <a:extLst>
                    <a:ext uri="{9D8B030D-6E8A-4147-A177-3AD203B41FA5}">
                      <a16:colId xmlns:a16="http://schemas.microsoft.com/office/drawing/2014/main" val="20002"/>
                    </a:ext>
                  </a:extLst>
                </a:gridCol>
                <a:gridCol w="2265641">
                  <a:extLst>
                    <a:ext uri="{9D8B030D-6E8A-4147-A177-3AD203B41FA5}">
                      <a16:colId xmlns:a16="http://schemas.microsoft.com/office/drawing/2014/main" val="20003"/>
                    </a:ext>
                  </a:extLst>
                </a:gridCol>
              </a:tblGrid>
              <a:tr h="543617">
                <a:tc>
                  <a:txBody>
                    <a:bodyPr/>
                    <a:lstStyle/>
                    <a:p>
                      <a:pPr algn="l">
                        <a:lnSpc>
                          <a:spcPts val="1439"/>
                        </a:lnSpc>
                        <a:defRPr/>
                      </a:pPr>
                      <a:r>
                        <a:rPr lang="en-US" sz="1600" b="1">
                          <a:solidFill>
                            <a:schemeClr val="bg1"/>
                          </a:solidFill>
                          <a:latin typeface="Calibri (MS) Bold"/>
                          <a:ea typeface="Calibri (MS) Bold"/>
                          <a:cs typeface="Calibri (MS) Bold"/>
                          <a:sym typeface="Calibri (MS) Bold"/>
                        </a:rPr>
                        <a:t>Source</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Type</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Reliability</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Comparative Finding (Triangulation Role)</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724823">
                <a:tc>
                  <a:txBody>
                    <a:bodyPr/>
                    <a:lstStyle/>
                    <a:p>
                      <a:pPr algn="l">
                        <a:lnSpc>
                          <a:spcPts val="1439"/>
                        </a:lnSpc>
                        <a:defRPr/>
                      </a:pPr>
                      <a:r>
                        <a:rPr lang="en-US" sz="1600" b="1">
                          <a:solidFill>
                            <a:schemeClr val="bg1"/>
                          </a:solidFill>
                          <a:latin typeface="Calibri (MS) Bold"/>
                          <a:ea typeface="Calibri (MS) Bold"/>
                          <a:cs typeface="Calibri (MS) Bold"/>
                          <a:sym typeface="Calibri (MS) Bold"/>
                        </a:rPr>
                        <a:t>SITA Lab White Paper (2017)</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dirty="0">
                          <a:solidFill>
                            <a:schemeClr val="bg1"/>
                          </a:solidFill>
                          <a:latin typeface="Calibri (MS)"/>
                          <a:ea typeface="Calibri (MS)"/>
                          <a:cs typeface="Calibri (MS)"/>
                          <a:sym typeface="Calibri (MS)"/>
                        </a:rPr>
                        <a:t>Internal Report</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dirty="0">
                          <a:solidFill>
                            <a:schemeClr val="bg1"/>
                          </a:solidFill>
                          <a:latin typeface="Calibri (MS)"/>
                          <a:ea typeface="Calibri (MS)"/>
                          <a:cs typeface="Calibri (MS)"/>
                          <a:sym typeface="Calibri (MS)"/>
                        </a:rPr>
                        <a:t>High (Primary)</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Baseline Claim:</a:t>
                      </a:r>
                      <a:r>
                        <a:rPr lang="en-US" sz="1600" dirty="0">
                          <a:solidFill>
                            <a:schemeClr val="bg1"/>
                          </a:solidFill>
                          <a:latin typeface="Calibri (MS)"/>
                          <a:ea typeface="Calibri (MS)"/>
                          <a:cs typeface="Calibri (MS)"/>
                          <a:sym typeface="Calibri (MS)"/>
                        </a:rPr>
                        <a:t> 2M+ validated transactions; had specified the smart contract logic.</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10001"/>
                  </a:ext>
                </a:extLst>
              </a:tr>
              <a:tr h="724823">
                <a:tc>
                  <a:txBody>
                    <a:bodyPr/>
                    <a:lstStyle/>
                    <a:p>
                      <a:pPr algn="l">
                        <a:lnSpc>
                          <a:spcPts val="1439"/>
                        </a:lnSpc>
                        <a:defRPr/>
                      </a:pPr>
                      <a:r>
                        <a:rPr lang="en-US" sz="1600" b="1">
                          <a:solidFill>
                            <a:schemeClr val="bg1"/>
                          </a:solidFill>
                          <a:latin typeface="Calibri (MS) Bold"/>
                          <a:ea typeface="Calibri (MS) Bold"/>
                          <a:cs typeface="Calibri (MS) Bold"/>
                          <a:sym typeface="Calibri (MS) Bold"/>
                        </a:rPr>
                        <a:t>SITA GitHub Repo</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a:solidFill>
                            <a:schemeClr val="bg1"/>
                          </a:solidFill>
                          <a:latin typeface="Calibri (MS)"/>
                          <a:ea typeface="Calibri (MS)"/>
                          <a:cs typeface="Calibri (MS)"/>
                          <a:sym typeface="Calibri (MS)"/>
                        </a:rPr>
                        <a:t>Codebase</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a:solidFill>
                            <a:schemeClr val="bg1"/>
                          </a:solidFill>
                          <a:latin typeface="Calibri (MS)"/>
                          <a:ea typeface="Calibri (MS)"/>
                          <a:cs typeface="Calibri (MS)"/>
                          <a:sym typeface="Calibri (MS)"/>
                        </a:rPr>
                        <a:t>High (Verifiable)</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Verification:</a:t>
                      </a:r>
                      <a:r>
                        <a:rPr lang="en-US" sz="1600" dirty="0">
                          <a:solidFill>
                            <a:schemeClr val="bg1"/>
                          </a:solidFill>
                          <a:latin typeface="Calibri (MS)"/>
                          <a:ea typeface="Calibri (MS)"/>
                          <a:cs typeface="Calibri (MS)"/>
                          <a:sym typeface="Calibri (MS)"/>
                        </a:rPr>
                        <a:t> Makes sure that Hyperledger Fabric (Private) architecture is used.</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10002"/>
                  </a:ext>
                </a:extLst>
              </a:tr>
              <a:tr h="874121">
                <a:tc>
                  <a:txBody>
                    <a:bodyPr/>
                    <a:lstStyle/>
                    <a:p>
                      <a:pPr algn="l">
                        <a:lnSpc>
                          <a:spcPts val="1439"/>
                        </a:lnSpc>
                        <a:defRPr/>
                      </a:pPr>
                      <a:r>
                        <a:rPr lang="en-US" sz="1600" b="1">
                          <a:solidFill>
                            <a:schemeClr val="bg1"/>
                          </a:solidFill>
                          <a:latin typeface="Calibri (MS) Bold"/>
                          <a:ea typeface="Calibri (MS) Bold"/>
                          <a:cs typeface="Calibri (MS) Bold"/>
                          <a:sym typeface="Calibri (MS) Bold"/>
                        </a:rPr>
                        <a:t>SITA Blog (2019)</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a:solidFill>
                            <a:schemeClr val="bg1"/>
                          </a:solidFill>
                          <a:latin typeface="Calibri (MS)"/>
                          <a:ea typeface="Calibri (MS)"/>
                          <a:cs typeface="Calibri (MS)"/>
                          <a:sym typeface="Calibri (MS)"/>
                        </a:rPr>
                        <a:t>Corporate Comms</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a:solidFill>
                            <a:schemeClr val="bg1"/>
                          </a:solidFill>
                          <a:latin typeface="Calibri (MS)"/>
                          <a:ea typeface="Calibri (MS)"/>
                          <a:cs typeface="Calibri (MS)"/>
                          <a:sym typeface="Calibri (MS)"/>
                        </a:rPr>
                        <a:t>Medium (Bias Check)</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kern="1200" dirty="0">
                          <a:solidFill>
                            <a:schemeClr val="bg1"/>
                          </a:solidFill>
                          <a:effectLst/>
                          <a:latin typeface="Calibri (MS)" panose="020B0604020202020204" charset="0"/>
                          <a:ea typeface="+mn-ea"/>
                          <a:cs typeface="Calibri (MS)" panose="020B0604020202020204" charset="0"/>
                        </a:rPr>
                        <a:t>Change in Narrative Shift in admissions to the barriers to governance rather than tech.</a:t>
                      </a:r>
                      <a:endParaRPr lang="en-US" sz="1600" dirty="0">
                        <a:solidFill>
                          <a:schemeClr val="bg1"/>
                        </a:solidFill>
                        <a:latin typeface="Calibri (MS)" panose="020B0604020202020204" charset="0"/>
                        <a:cs typeface="Calibri (MS)" panose="020B0604020202020204" charset="0"/>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10003"/>
                  </a:ext>
                </a:extLst>
              </a:tr>
              <a:tr h="874121">
                <a:tc>
                  <a:txBody>
                    <a:bodyPr/>
                    <a:lstStyle/>
                    <a:p>
                      <a:pPr algn="l">
                        <a:lnSpc>
                          <a:spcPts val="1439"/>
                        </a:lnSpc>
                        <a:defRPr/>
                      </a:pPr>
                      <a:r>
                        <a:rPr lang="en-US" sz="1600" b="1">
                          <a:solidFill>
                            <a:schemeClr val="bg1"/>
                          </a:solidFill>
                          <a:latin typeface="Calibri (MS) Bold"/>
                          <a:ea typeface="Calibri (MS) Bold"/>
                          <a:cs typeface="Calibri (MS) Bold"/>
                          <a:sym typeface="Calibri (MS) Bold"/>
                        </a:rPr>
                        <a:t>SITA Press Release (2018)</a:t>
                      </a:r>
                      <a:endParaRPr lang="en-US" sz="160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dirty="0">
                          <a:solidFill>
                            <a:schemeClr val="bg1"/>
                          </a:solidFill>
                          <a:latin typeface="Calibri (MS)"/>
                          <a:ea typeface="Calibri (MS)"/>
                          <a:cs typeface="Calibri (MS)"/>
                          <a:sym typeface="Calibri (MS)"/>
                        </a:rPr>
                        <a:t>PR</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dirty="0">
                          <a:solidFill>
                            <a:schemeClr val="bg1"/>
                          </a:solidFill>
                          <a:latin typeface="Calibri (MS)"/>
                          <a:ea typeface="Calibri (MS)"/>
                          <a:cs typeface="Calibri (MS)"/>
                          <a:sym typeface="Calibri (MS)"/>
                        </a:rPr>
                        <a:t>Medium</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Extension:</a:t>
                      </a:r>
                      <a:r>
                        <a:rPr lang="en-US" sz="1600" dirty="0">
                          <a:solidFill>
                            <a:schemeClr val="bg1"/>
                          </a:solidFill>
                          <a:latin typeface="Calibri (MS)"/>
                          <a:ea typeface="Calibri (MS)"/>
                          <a:cs typeface="Calibri (MS)"/>
                          <a:sym typeface="Calibri (MS)"/>
                        </a:rPr>
                        <a:t> Announced expansion to "Aviation Sandbox" (validates scalability).</a:t>
                      </a:r>
                      <a:endParaRPr lang="en-US" sz="1600" dirty="0">
                        <a:solidFill>
                          <a:schemeClr val="bg1"/>
                        </a:solidFill>
                      </a:endParaRPr>
                    </a:p>
                  </a:txBody>
                  <a:tcPr marL="57533" marR="57533" marT="57533" marB="57533"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7030A0"/>
                    </a:solidFill>
                  </a:tcPr>
                </a:tc>
                <a:extLst>
                  <a:ext uri="{0D108BD9-81ED-4DB2-BD59-A6C34878D82A}">
                    <a16:rowId xmlns:a16="http://schemas.microsoft.com/office/drawing/2014/main" val="10004"/>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447156843"/>
              </p:ext>
            </p:extLst>
          </p:nvPr>
        </p:nvGraphicFramePr>
        <p:xfrm>
          <a:off x="5433060" y="5234025"/>
          <a:ext cx="9062564" cy="4690928"/>
        </p:xfrm>
        <a:graphic>
          <a:graphicData uri="http://schemas.openxmlformats.org/drawingml/2006/table">
            <a:tbl>
              <a:tblPr/>
              <a:tblGrid>
                <a:gridCol w="2265641">
                  <a:extLst>
                    <a:ext uri="{9D8B030D-6E8A-4147-A177-3AD203B41FA5}">
                      <a16:colId xmlns:a16="http://schemas.microsoft.com/office/drawing/2014/main" val="20000"/>
                    </a:ext>
                  </a:extLst>
                </a:gridCol>
                <a:gridCol w="2265641">
                  <a:extLst>
                    <a:ext uri="{9D8B030D-6E8A-4147-A177-3AD203B41FA5}">
                      <a16:colId xmlns:a16="http://schemas.microsoft.com/office/drawing/2014/main" val="20001"/>
                    </a:ext>
                  </a:extLst>
                </a:gridCol>
                <a:gridCol w="2265641">
                  <a:extLst>
                    <a:ext uri="{9D8B030D-6E8A-4147-A177-3AD203B41FA5}">
                      <a16:colId xmlns:a16="http://schemas.microsoft.com/office/drawing/2014/main" val="20002"/>
                    </a:ext>
                  </a:extLst>
                </a:gridCol>
                <a:gridCol w="2265641">
                  <a:extLst>
                    <a:ext uri="{9D8B030D-6E8A-4147-A177-3AD203B41FA5}">
                      <a16:colId xmlns:a16="http://schemas.microsoft.com/office/drawing/2014/main" val="20003"/>
                    </a:ext>
                  </a:extLst>
                </a:gridCol>
              </a:tblGrid>
              <a:tr h="560695">
                <a:tc>
                  <a:txBody>
                    <a:bodyPr/>
                    <a:lstStyle/>
                    <a:p>
                      <a:pPr algn="l">
                        <a:lnSpc>
                          <a:spcPts val="1439"/>
                        </a:lnSpc>
                        <a:defRPr/>
                      </a:pPr>
                      <a:r>
                        <a:rPr lang="en-US" sz="1600" b="1">
                          <a:solidFill>
                            <a:schemeClr val="bg1"/>
                          </a:solidFill>
                          <a:latin typeface="Calibri (MS) Bold"/>
                          <a:ea typeface="Calibri (MS) Bold"/>
                          <a:cs typeface="Calibri (MS) Bold"/>
                          <a:sym typeface="Calibri (MS) Bold"/>
                        </a:rPr>
                        <a:t>Source</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Type</a:t>
                      </a:r>
                      <a:endParaRPr lang="en-US" sz="1600" dirty="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Reliability</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Comparative Finding (Triangulation Role)</a:t>
                      </a:r>
                      <a:endParaRPr lang="en-US" sz="1600" dirty="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962891">
                <a:tc>
                  <a:txBody>
                    <a:bodyPr/>
                    <a:lstStyle/>
                    <a:p>
                      <a:pPr algn="l">
                        <a:lnSpc>
                          <a:spcPts val="1439"/>
                        </a:lnSpc>
                        <a:defRPr/>
                      </a:pPr>
                      <a:r>
                        <a:rPr lang="en-US" sz="1600" b="1">
                          <a:solidFill>
                            <a:schemeClr val="bg1"/>
                          </a:solidFill>
                          <a:latin typeface="Calibri (MS) Bold"/>
                          <a:ea typeface="Calibri (MS) Bold"/>
                          <a:cs typeface="Calibri (MS) Bold"/>
                          <a:sym typeface="Calibri (MS) Bold"/>
                        </a:rPr>
                        <a:t>IATA White Paper (2018)</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a:solidFill>
                            <a:schemeClr val="bg1"/>
                          </a:solidFill>
                          <a:latin typeface="Calibri (MS)"/>
                          <a:ea typeface="Calibri (MS)"/>
                          <a:cs typeface="Calibri (MS)"/>
                          <a:sym typeface="Calibri (MS)"/>
                        </a:rPr>
                        <a:t>Standard</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a:solidFill>
                            <a:schemeClr val="bg1"/>
                          </a:solidFill>
                          <a:latin typeface="Calibri (MS)"/>
                          <a:ea typeface="Calibri (MS)"/>
                          <a:cs typeface="Calibri (MS)"/>
                          <a:sym typeface="Calibri (MS)"/>
                        </a:rPr>
                        <a:t>High (Global)</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marL="0" marR="0" lvl="0" indent="0" algn="l" defTabSz="914400" rtl="0" eaLnBrk="1" fontAlgn="auto" latinLnBrk="0" hangingPunct="1">
                        <a:lnSpc>
                          <a:spcPts val="1439"/>
                        </a:lnSpc>
                        <a:spcBef>
                          <a:spcPts val="0"/>
                        </a:spcBef>
                        <a:spcAft>
                          <a:spcPts val="0"/>
                        </a:spcAft>
                        <a:buClrTx/>
                        <a:buSzTx/>
                        <a:buFontTx/>
                        <a:buNone/>
                        <a:tabLst/>
                        <a:defRPr/>
                      </a:pPr>
                      <a:r>
                        <a:rPr lang="en-US" sz="1800" kern="1200" dirty="0">
                          <a:solidFill>
                            <a:schemeClr val="bg1"/>
                          </a:solidFill>
                          <a:effectLst/>
                          <a:latin typeface="Calibri (MS)" panose="020B0604020202020204" charset="0"/>
                          <a:ea typeface="+mn-ea"/>
                          <a:cs typeface="Calibri (MS)" panose="020B0604020202020204" charset="0"/>
                        </a:rPr>
                        <a:t>Concedes: Name of </a:t>
                      </a:r>
                      <a:r>
                        <a:rPr lang="en-US" sz="1800" kern="1200" dirty="0" err="1">
                          <a:solidFill>
                            <a:schemeClr val="bg1"/>
                          </a:solidFill>
                          <a:effectLst/>
                          <a:latin typeface="Calibri (MS)" panose="020B0604020202020204" charset="0"/>
                          <a:ea typeface="+mn-ea"/>
                          <a:cs typeface="Calibri (MS)" panose="020B0604020202020204" charset="0"/>
                        </a:rPr>
                        <a:t>FlightChain</a:t>
                      </a:r>
                      <a:r>
                        <a:rPr lang="en-US" sz="1800" kern="1200" dirty="0">
                          <a:solidFill>
                            <a:schemeClr val="bg1"/>
                          </a:solidFill>
                          <a:effectLst/>
                          <a:latin typeface="Calibri (MS)" panose="020B0604020202020204" charset="0"/>
                          <a:ea typeface="+mn-ea"/>
                          <a:cs typeface="Calibri (MS)" panose="020B0604020202020204" charset="0"/>
                        </a:rPr>
                        <a:t>: an important case; demands </a:t>
                      </a:r>
                      <a:r>
                        <a:rPr lang="en-US" sz="1800" kern="1200" dirty="0" err="1">
                          <a:solidFill>
                            <a:schemeClr val="bg1"/>
                          </a:solidFill>
                          <a:effectLst/>
                          <a:latin typeface="Calibri (MS)" panose="020B0604020202020204" charset="0"/>
                          <a:ea typeface="+mn-ea"/>
                          <a:cs typeface="Calibri (MS)" panose="020B0604020202020204" charset="0"/>
                        </a:rPr>
                        <a:t>centralised</a:t>
                      </a:r>
                      <a:r>
                        <a:rPr lang="en-US" sz="1800" kern="1200" dirty="0">
                          <a:solidFill>
                            <a:schemeClr val="bg1"/>
                          </a:solidFill>
                          <a:effectLst/>
                          <a:latin typeface="Calibri (MS)" panose="020B0604020202020204" charset="0"/>
                          <a:ea typeface="+mn-ea"/>
                          <a:cs typeface="Calibri (MS)" panose="020B0604020202020204" charset="0"/>
                        </a:rPr>
                        <a:t> control.</a:t>
                      </a: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0001"/>
                  </a:ext>
                </a:extLst>
              </a:tr>
              <a:tr h="1179948">
                <a:tc>
                  <a:txBody>
                    <a:bodyPr/>
                    <a:lstStyle/>
                    <a:p>
                      <a:pPr algn="l">
                        <a:lnSpc>
                          <a:spcPts val="1439"/>
                        </a:lnSpc>
                        <a:defRPr/>
                      </a:pPr>
                      <a:r>
                        <a:rPr lang="en-US" sz="1600" b="1">
                          <a:solidFill>
                            <a:schemeClr val="bg1"/>
                          </a:solidFill>
                          <a:latin typeface="Calibri (MS) Bold"/>
                          <a:ea typeface="Calibri (MS) Bold"/>
                          <a:cs typeface="Calibri (MS) Bold"/>
                          <a:sym typeface="Calibri (MS) Bold"/>
                        </a:rPr>
                        <a:t>ACI World (2019)</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a:solidFill>
                            <a:schemeClr val="bg1"/>
                          </a:solidFill>
                          <a:latin typeface="Calibri (MS)"/>
                          <a:ea typeface="Calibri (MS)"/>
                          <a:cs typeface="Calibri (MS)"/>
                          <a:sym typeface="Calibri (MS)"/>
                        </a:rPr>
                        <a:t>Guidance</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a:solidFill>
                            <a:schemeClr val="bg1"/>
                          </a:solidFill>
                          <a:latin typeface="Calibri (MS)"/>
                          <a:ea typeface="Calibri (MS)"/>
                          <a:cs typeface="Calibri (MS)"/>
                          <a:sym typeface="Calibri (MS)"/>
                        </a:rPr>
                        <a:t>High</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Agrees:</a:t>
                      </a:r>
                      <a:r>
                        <a:rPr lang="en-US" sz="1600" dirty="0">
                          <a:solidFill>
                            <a:schemeClr val="bg1"/>
                          </a:solidFill>
                          <a:latin typeface="Calibri (MS)"/>
                          <a:ea typeface="Calibri (MS)"/>
                          <a:cs typeface="Calibri (MS)"/>
                          <a:sym typeface="Calibri (MS)"/>
                        </a:rPr>
                        <a:t> Critical infrastructure (AODB) requires permissioned/private access.</a:t>
                      </a:r>
                      <a:endParaRPr lang="en-US" sz="1600" dirty="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0002"/>
                  </a:ext>
                </a:extLst>
              </a:tr>
              <a:tr h="962891">
                <a:tc>
                  <a:txBody>
                    <a:bodyPr/>
                    <a:lstStyle/>
                    <a:p>
                      <a:pPr algn="l">
                        <a:lnSpc>
                          <a:spcPts val="1439"/>
                        </a:lnSpc>
                        <a:defRPr/>
                      </a:pPr>
                      <a:r>
                        <a:rPr lang="en-US" sz="1600" b="1">
                          <a:solidFill>
                            <a:schemeClr val="bg1"/>
                          </a:solidFill>
                          <a:latin typeface="Calibri (MS) Bold"/>
                          <a:ea typeface="Calibri (MS) Bold"/>
                          <a:cs typeface="Calibri (MS) Bold"/>
                          <a:sym typeface="Calibri (MS) Bold"/>
                        </a:rPr>
                        <a:t>TRB / ACRP (2019)</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a:solidFill>
                            <a:schemeClr val="bg1"/>
                          </a:solidFill>
                          <a:latin typeface="Calibri (MS)"/>
                          <a:ea typeface="Calibri (MS)"/>
                          <a:cs typeface="Calibri (MS)"/>
                          <a:sym typeface="Calibri (MS)"/>
                        </a:rPr>
                        <a:t>Gov Research</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dirty="0">
                          <a:solidFill>
                            <a:schemeClr val="bg1"/>
                          </a:solidFill>
                          <a:latin typeface="Calibri (MS)"/>
                          <a:ea typeface="Calibri (MS)"/>
                          <a:cs typeface="Calibri (MS)"/>
                          <a:sym typeface="Calibri (MS)"/>
                        </a:rPr>
                        <a:t>High</a:t>
                      </a:r>
                      <a:endParaRPr lang="en-US" sz="1600" dirty="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Gap Identified:</a:t>
                      </a:r>
                      <a:r>
                        <a:rPr lang="en-US" sz="1600">
                          <a:solidFill>
                            <a:schemeClr val="bg1"/>
                          </a:solidFill>
                          <a:latin typeface="Calibri (MS)"/>
                          <a:ea typeface="Calibri (MS)"/>
                          <a:cs typeface="Calibri (MS)"/>
                          <a:sym typeface="Calibri (MS)"/>
                        </a:rPr>
                        <a:t> Smart contracts lack legal status despite technical readiness.</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0003"/>
                  </a:ext>
                </a:extLst>
              </a:tr>
              <a:tr h="962891">
                <a:tc>
                  <a:txBody>
                    <a:bodyPr/>
                    <a:lstStyle/>
                    <a:p>
                      <a:pPr algn="l">
                        <a:lnSpc>
                          <a:spcPts val="1439"/>
                        </a:lnSpc>
                        <a:defRPr/>
                      </a:pPr>
                      <a:r>
                        <a:rPr lang="en-US" sz="1600" b="1">
                          <a:solidFill>
                            <a:schemeClr val="bg1"/>
                          </a:solidFill>
                          <a:latin typeface="Calibri (MS) Bold"/>
                          <a:ea typeface="Calibri (MS) Bold"/>
                          <a:cs typeface="Calibri (MS) Bold"/>
                          <a:sym typeface="Calibri (MS) Bold"/>
                        </a:rPr>
                        <a:t>IATA "AIR" Paper</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a:solidFill>
                            <a:schemeClr val="bg1"/>
                          </a:solidFill>
                          <a:latin typeface="Calibri (MS)"/>
                          <a:ea typeface="Calibri (MS)"/>
                          <a:cs typeface="Calibri (MS)"/>
                          <a:sym typeface="Calibri (MS)"/>
                        </a:rPr>
                        <a:t>Strategic Doc</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a:solidFill>
                            <a:schemeClr val="bg1"/>
                          </a:solidFill>
                          <a:latin typeface="Calibri (MS)"/>
                          <a:ea typeface="Calibri (MS)"/>
                          <a:cs typeface="Calibri (MS)"/>
                          <a:sym typeface="Calibri (MS)"/>
                        </a:rPr>
                        <a:t>High</a:t>
                      </a:r>
                      <a:endParaRPr lang="en-US" sz="160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Context:</a:t>
                      </a:r>
                      <a:r>
                        <a:rPr lang="en-US" sz="1600" dirty="0">
                          <a:solidFill>
                            <a:schemeClr val="bg1"/>
                          </a:solidFill>
                          <a:latin typeface="Calibri (MS)"/>
                          <a:ea typeface="Calibri (MS)"/>
                          <a:cs typeface="Calibri (MS)"/>
                          <a:sym typeface="Calibri (MS)"/>
                        </a:rPr>
                        <a:t> Validates the commercial need for data collaboration (retailing).</a:t>
                      </a:r>
                      <a:endParaRPr lang="en-US" sz="1600" dirty="0">
                        <a:solidFill>
                          <a:schemeClr val="bg1"/>
                        </a:solidFill>
                      </a:endParaRPr>
                    </a:p>
                  </a:txBody>
                  <a:tcPr marL="59814" marR="59814" marT="59814" marB="59814"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0004"/>
                  </a:ext>
                </a:extLst>
              </a:tr>
            </a:tbl>
          </a:graphicData>
        </a:graphic>
      </p:graphicFrame>
      <p:sp>
        <p:nvSpPr>
          <p:cNvPr id="6" name="TextBox 6"/>
          <p:cNvSpPr txBox="1"/>
          <p:nvPr/>
        </p:nvSpPr>
        <p:spPr>
          <a:xfrm>
            <a:off x="1524000" y="6845272"/>
            <a:ext cx="3429000" cy="839782"/>
          </a:xfrm>
          <a:prstGeom prst="rect">
            <a:avLst/>
          </a:prstGeom>
        </p:spPr>
        <p:txBody>
          <a:bodyPr wrap="square" lIns="0" tIns="0" rIns="0" bIns="0" rtlCol="0" anchor="t">
            <a:spAutoFit/>
          </a:bodyPr>
          <a:lstStyle/>
          <a:p>
            <a:pPr algn="l">
              <a:lnSpc>
                <a:spcPts val="2160"/>
              </a:lnSpc>
            </a:pPr>
            <a:r>
              <a:rPr lang="en-US" sz="1800" b="1" dirty="0">
                <a:solidFill>
                  <a:schemeClr val="bg1"/>
                </a:solidFill>
                <a:latin typeface="Aptos"/>
                <a:ea typeface="Aptos"/>
                <a:cs typeface="Aptos"/>
                <a:sym typeface="Aptos"/>
              </a:rPr>
              <a:t>Category 2: Governing/Industry Authority 4 sources (IATA, ACI, TRB)</a:t>
            </a:r>
          </a:p>
        </p:txBody>
      </p:sp>
      <p:sp>
        <p:nvSpPr>
          <p:cNvPr id="7" name="TextBox 7"/>
          <p:cNvSpPr txBox="1"/>
          <p:nvPr/>
        </p:nvSpPr>
        <p:spPr>
          <a:xfrm>
            <a:off x="1741014" y="2137320"/>
            <a:ext cx="3429000" cy="974626"/>
          </a:xfrm>
          <a:prstGeom prst="rect">
            <a:avLst/>
          </a:prstGeom>
        </p:spPr>
        <p:txBody>
          <a:bodyPr wrap="square" lIns="0" tIns="0" rIns="0" bIns="0" rtlCol="0" anchor="t">
            <a:spAutoFit/>
          </a:bodyPr>
          <a:lstStyle/>
          <a:p>
            <a:pPr algn="l">
              <a:lnSpc>
                <a:spcPts val="1938"/>
              </a:lnSpc>
            </a:pPr>
            <a:r>
              <a:rPr lang="en-US" b="1" dirty="0">
                <a:solidFill>
                  <a:schemeClr val="bg1"/>
                </a:solidFill>
                <a:latin typeface="Calibri (MS)"/>
                <a:ea typeface="Calibri (MS)"/>
                <a:cs typeface="Calibri (MS)"/>
                <a:sym typeface="Calibri (MS)"/>
              </a:rPr>
              <a:t>Category 1: Company Documents (Primary Data): 4 sources (SITA Lab, GitHub, Press Releases).</a:t>
            </a:r>
          </a:p>
          <a:p>
            <a:pPr algn="l">
              <a:lnSpc>
                <a:spcPts val="1938"/>
              </a:lnSpc>
            </a:pPr>
            <a:endParaRPr lang="en-US" b="1" dirty="0">
              <a:solidFill>
                <a:schemeClr val="bg1"/>
              </a:solidFill>
              <a:latin typeface="Calibri (MS)"/>
              <a:ea typeface="Calibri (MS)"/>
              <a:cs typeface="Calibri (MS)"/>
              <a:sym typeface="Calibri (MS)"/>
            </a:endParaRPr>
          </a:p>
        </p:txBody>
      </p:sp>
      <p:sp>
        <p:nvSpPr>
          <p:cNvPr id="8" name="TextBox 8">
            <a:extLst>
              <a:ext uri="{FF2B5EF4-FFF2-40B4-BE49-F238E27FC236}">
                <a16:creationId xmlns:a16="http://schemas.microsoft.com/office/drawing/2014/main" id="{9DCD25A1-8FBF-6EEA-328A-1A41A2569757}"/>
              </a:ext>
            </a:extLst>
          </p:cNvPr>
          <p:cNvSpPr txBox="1"/>
          <p:nvPr/>
        </p:nvSpPr>
        <p:spPr>
          <a:xfrm>
            <a:off x="990600" y="-278078"/>
            <a:ext cx="15690766" cy="1261114"/>
          </a:xfrm>
          <a:prstGeom prst="rect">
            <a:avLst/>
          </a:prstGeom>
        </p:spPr>
        <p:txBody>
          <a:bodyPr lIns="0" tIns="0" rIns="0" bIns="0" rtlCol="0" anchor="t">
            <a:spAutoFit/>
          </a:bodyPr>
          <a:lstStyle/>
          <a:p>
            <a:pPr algn="l">
              <a:lnSpc>
                <a:spcPts val="11040"/>
              </a:lnSpc>
            </a:pPr>
            <a:r>
              <a:rPr lang="en-US" sz="6000" b="1" dirty="0">
                <a:solidFill>
                  <a:srgbClr val="FFFFFF"/>
                </a:solidFill>
                <a:latin typeface="Calibri (MS) Bold"/>
                <a:ea typeface="Calibri (MS) Bold"/>
                <a:cs typeface="Calibri (MS) Bold"/>
                <a:sym typeface="Calibri (MS) Bold"/>
              </a:rPr>
              <a:t>Evidence Base &amp; Triangulation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64901" y="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aphicFrame>
        <p:nvGraphicFramePr>
          <p:cNvPr id="4" name="Table 4"/>
          <p:cNvGraphicFramePr>
            <a:graphicFrameLocks noGrp="1"/>
          </p:cNvGraphicFramePr>
          <p:nvPr>
            <p:extLst>
              <p:ext uri="{D42A27DB-BD31-4B8C-83A1-F6EECF244321}">
                <p14:modId xmlns:p14="http://schemas.microsoft.com/office/powerpoint/2010/main" val="3210979096"/>
              </p:ext>
            </p:extLst>
          </p:nvPr>
        </p:nvGraphicFramePr>
        <p:xfrm>
          <a:off x="4711371" y="1013115"/>
          <a:ext cx="8166428" cy="4493484"/>
        </p:xfrm>
        <a:graphic>
          <a:graphicData uri="http://schemas.openxmlformats.org/drawingml/2006/table">
            <a:tbl>
              <a:tblPr/>
              <a:tblGrid>
                <a:gridCol w="2041607">
                  <a:extLst>
                    <a:ext uri="{9D8B030D-6E8A-4147-A177-3AD203B41FA5}">
                      <a16:colId xmlns:a16="http://schemas.microsoft.com/office/drawing/2014/main" val="20000"/>
                    </a:ext>
                  </a:extLst>
                </a:gridCol>
                <a:gridCol w="2041607">
                  <a:extLst>
                    <a:ext uri="{9D8B030D-6E8A-4147-A177-3AD203B41FA5}">
                      <a16:colId xmlns:a16="http://schemas.microsoft.com/office/drawing/2014/main" val="20001"/>
                    </a:ext>
                  </a:extLst>
                </a:gridCol>
                <a:gridCol w="2041607">
                  <a:extLst>
                    <a:ext uri="{9D8B030D-6E8A-4147-A177-3AD203B41FA5}">
                      <a16:colId xmlns:a16="http://schemas.microsoft.com/office/drawing/2014/main" val="20002"/>
                    </a:ext>
                  </a:extLst>
                </a:gridCol>
                <a:gridCol w="2041607">
                  <a:extLst>
                    <a:ext uri="{9D8B030D-6E8A-4147-A177-3AD203B41FA5}">
                      <a16:colId xmlns:a16="http://schemas.microsoft.com/office/drawing/2014/main" val="20003"/>
                    </a:ext>
                  </a:extLst>
                </a:gridCol>
              </a:tblGrid>
              <a:tr h="543546">
                <a:tc>
                  <a:txBody>
                    <a:bodyPr/>
                    <a:lstStyle/>
                    <a:p>
                      <a:pPr algn="l">
                        <a:lnSpc>
                          <a:spcPts val="1439"/>
                        </a:lnSpc>
                        <a:defRPr/>
                      </a:pPr>
                      <a:r>
                        <a:rPr lang="en-US" sz="1600" b="1">
                          <a:solidFill>
                            <a:schemeClr val="bg1"/>
                          </a:solidFill>
                          <a:latin typeface="Calibri (MS) Bold"/>
                          <a:ea typeface="Calibri (MS) Bold"/>
                          <a:cs typeface="Calibri (MS) Bold"/>
                          <a:sym typeface="Calibri (MS) Bold"/>
                        </a:rPr>
                        <a:t>Source</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Type</a:t>
                      </a:r>
                      <a:endParaRPr lang="en-US" sz="1600" dirty="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Reliability</a:t>
                      </a:r>
                      <a:endParaRPr lang="en-US" sz="1600" dirty="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Comparative Finding (Triangulation Role)</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724728">
                <a:tc>
                  <a:txBody>
                    <a:bodyPr/>
                    <a:lstStyle/>
                    <a:p>
                      <a:pPr algn="l">
                        <a:lnSpc>
                          <a:spcPts val="1439"/>
                        </a:lnSpc>
                        <a:defRPr/>
                      </a:pPr>
                      <a:r>
                        <a:rPr lang="en-US" sz="1600" b="1">
                          <a:solidFill>
                            <a:schemeClr val="bg1"/>
                          </a:solidFill>
                          <a:latin typeface="Calibri (MS) Bold"/>
                          <a:ea typeface="Calibri (MS) Bold"/>
                          <a:cs typeface="Calibri (MS) Bold"/>
                          <a:sym typeface="Calibri (MS) Bold"/>
                        </a:rPr>
                        <a:t>TAdviser</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Tech Database</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High (Fact-based)</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Verifies:</a:t>
                      </a:r>
                      <a:r>
                        <a:rPr lang="en-US" sz="1600">
                          <a:solidFill>
                            <a:schemeClr val="bg1"/>
                          </a:solidFill>
                          <a:latin typeface="Calibri (MS)"/>
                          <a:ea typeface="Calibri (MS)"/>
                          <a:cs typeface="Calibri (MS)"/>
                          <a:sym typeface="Calibri (MS)"/>
                        </a:rPr>
                        <a:t> Independent profile of system specs and throughput metrics.</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724728">
                <a:tc>
                  <a:txBody>
                    <a:bodyPr/>
                    <a:lstStyle/>
                    <a:p>
                      <a:pPr algn="l">
                        <a:lnSpc>
                          <a:spcPts val="1439"/>
                        </a:lnSpc>
                        <a:defRPr/>
                      </a:pPr>
                      <a:r>
                        <a:rPr lang="en-US" sz="1600" b="1">
                          <a:solidFill>
                            <a:schemeClr val="bg1"/>
                          </a:solidFill>
                          <a:latin typeface="Calibri (MS) Bold"/>
                          <a:ea typeface="Calibri (MS) Bold"/>
                          <a:cs typeface="Calibri (MS) Bold"/>
                          <a:sym typeface="Calibri (MS) Bold"/>
                        </a:rPr>
                        <a:t>PhocusWire (2017)</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Tech News</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Medium</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Verifies:</a:t>
                      </a:r>
                      <a:r>
                        <a:rPr lang="en-US" sz="1600">
                          <a:solidFill>
                            <a:schemeClr val="bg1"/>
                          </a:solidFill>
                          <a:latin typeface="Calibri (MS)"/>
                          <a:ea typeface="Calibri (MS)"/>
                          <a:cs typeface="Calibri (MS)"/>
                          <a:sym typeface="Calibri (MS)"/>
                        </a:rPr>
                        <a:t> Confirmed successful execution of live trials (Nov 2017).</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724728">
                <a:tc>
                  <a:txBody>
                    <a:bodyPr/>
                    <a:lstStyle/>
                    <a:p>
                      <a:pPr algn="l">
                        <a:lnSpc>
                          <a:spcPts val="1439"/>
                        </a:lnSpc>
                        <a:defRPr/>
                      </a:pPr>
                      <a:r>
                        <a:rPr lang="en-US" sz="1600" b="1">
                          <a:solidFill>
                            <a:schemeClr val="bg1"/>
                          </a:solidFill>
                          <a:latin typeface="Calibri (MS) Bold"/>
                          <a:ea typeface="Calibri (MS) Bold"/>
                          <a:cs typeface="Calibri (MS) Bold"/>
                          <a:sym typeface="Calibri (MS) Bold"/>
                        </a:rPr>
                        <a:t>FTE (2017)</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Industry News</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Medium</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a:solidFill>
                            <a:schemeClr val="bg1"/>
                          </a:solidFill>
                          <a:latin typeface="Calibri (MS) Bold"/>
                          <a:ea typeface="Calibri (MS) Bold"/>
                          <a:cs typeface="Calibri (MS) Bold"/>
                          <a:sym typeface="Calibri (MS) Bold"/>
                        </a:rPr>
                        <a:t>Agrees:</a:t>
                      </a:r>
                      <a:r>
                        <a:rPr lang="en-US" sz="1600">
                          <a:solidFill>
                            <a:schemeClr val="bg1"/>
                          </a:solidFill>
                          <a:latin typeface="Calibri (MS)"/>
                          <a:ea typeface="Calibri (MS)"/>
                          <a:cs typeface="Calibri (MS)"/>
                          <a:sym typeface="Calibri (MS)"/>
                        </a:rPr>
                        <a:t> Highlighted governance as the "hard part" over technology.</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3"/>
                  </a:ext>
                </a:extLst>
              </a:tr>
              <a:tr h="724728">
                <a:tc>
                  <a:txBody>
                    <a:bodyPr/>
                    <a:lstStyle/>
                    <a:p>
                      <a:pPr algn="l">
                        <a:lnSpc>
                          <a:spcPts val="1439"/>
                        </a:lnSpc>
                        <a:defRPr/>
                      </a:pPr>
                      <a:r>
                        <a:rPr lang="en-US" sz="1600" b="1">
                          <a:solidFill>
                            <a:schemeClr val="bg1"/>
                          </a:solidFill>
                          <a:latin typeface="Calibri (MS) Bold"/>
                          <a:ea typeface="Calibri (MS) Bold"/>
                          <a:cs typeface="Calibri (MS) Bold"/>
                          <a:sym typeface="Calibri (MS) Bold"/>
                        </a:rPr>
                        <a:t>Ledger Insights (2019)</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Fintech News</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dirty="0">
                          <a:solidFill>
                            <a:schemeClr val="bg1"/>
                          </a:solidFill>
                          <a:latin typeface="Calibri (MS)"/>
                          <a:ea typeface="Calibri (MS)"/>
                          <a:cs typeface="Calibri (MS)"/>
                          <a:sym typeface="Calibri (MS)"/>
                        </a:rPr>
                        <a:t>Medium</a:t>
                      </a:r>
                      <a:endParaRPr lang="en-US" sz="1600" dirty="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Tension:</a:t>
                      </a:r>
                      <a:r>
                        <a:rPr lang="en-US" sz="1600" dirty="0">
                          <a:solidFill>
                            <a:schemeClr val="bg1"/>
                          </a:solidFill>
                          <a:latin typeface="Calibri (MS)"/>
                          <a:ea typeface="Calibri (MS)"/>
                          <a:cs typeface="Calibri (MS)"/>
                          <a:sym typeface="Calibri (MS)"/>
                        </a:rPr>
                        <a:t> Highlighted the "Public vs. Private" architecture debate.</a:t>
                      </a:r>
                      <a:endParaRPr lang="en-US" sz="1600" dirty="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r h="724728">
                <a:tc>
                  <a:txBody>
                    <a:bodyPr/>
                    <a:lstStyle/>
                    <a:p>
                      <a:pPr algn="l">
                        <a:lnSpc>
                          <a:spcPts val="1439"/>
                        </a:lnSpc>
                        <a:defRPr/>
                      </a:pPr>
                      <a:r>
                        <a:rPr lang="en-US" sz="1600" b="1">
                          <a:solidFill>
                            <a:schemeClr val="bg1"/>
                          </a:solidFill>
                          <a:latin typeface="Calibri (MS) Bold"/>
                          <a:ea typeface="Calibri (MS) Bold"/>
                          <a:cs typeface="Calibri (MS) Bold"/>
                          <a:sym typeface="Calibri (MS) Bold"/>
                        </a:rPr>
                        <a:t>Airport Industry Review</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Trade Journal</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a:solidFill>
                            <a:schemeClr val="bg1"/>
                          </a:solidFill>
                          <a:latin typeface="Calibri (MS)"/>
                          <a:ea typeface="Calibri (MS)"/>
                          <a:cs typeface="Calibri (MS)"/>
                          <a:sym typeface="Calibri (MS)"/>
                        </a:rPr>
                        <a:t>Medium</a:t>
                      </a:r>
                      <a:endParaRPr lang="en-US" sz="160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tc>
                  <a:txBody>
                    <a:bodyPr/>
                    <a:lstStyle/>
                    <a:p>
                      <a:pPr algn="l">
                        <a:lnSpc>
                          <a:spcPts val="1439"/>
                        </a:lnSpc>
                        <a:defRPr/>
                      </a:pPr>
                      <a:r>
                        <a:rPr lang="en-US" sz="1600" b="1" dirty="0">
                          <a:solidFill>
                            <a:schemeClr val="bg1"/>
                          </a:solidFill>
                          <a:latin typeface="Calibri (MS) Bold"/>
                          <a:ea typeface="Calibri (MS) Bold"/>
                          <a:cs typeface="Calibri (MS) Bold"/>
                          <a:sym typeface="Calibri (MS) Bold"/>
                        </a:rPr>
                        <a:t>Agrees:</a:t>
                      </a:r>
                      <a:r>
                        <a:rPr lang="en-US" sz="1600" dirty="0">
                          <a:solidFill>
                            <a:schemeClr val="bg1"/>
                          </a:solidFill>
                          <a:latin typeface="Calibri (MS)"/>
                          <a:ea typeface="Calibri (MS)"/>
                          <a:cs typeface="Calibri (MS)"/>
                          <a:sym typeface="Calibri (MS)"/>
                        </a:rPr>
                        <a:t> Validated "Single Source of Truth" utility for airport ops.</a:t>
                      </a:r>
                      <a:endParaRPr lang="en-US" sz="1600" dirty="0">
                        <a:solidFill>
                          <a:schemeClr val="bg1"/>
                        </a:solidFill>
                      </a:endParaRPr>
                    </a:p>
                  </a:txBody>
                  <a:tcPr marL="56575" marR="56575" marT="56575" marB="56575"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005"/>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1578750865"/>
              </p:ext>
            </p:extLst>
          </p:nvPr>
        </p:nvGraphicFramePr>
        <p:xfrm>
          <a:off x="4711370" y="5478672"/>
          <a:ext cx="8166429" cy="4729415"/>
        </p:xfrm>
        <a:graphic>
          <a:graphicData uri="http://schemas.openxmlformats.org/drawingml/2006/table">
            <a:tbl>
              <a:tblPr/>
              <a:tblGrid>
                <a:gridCol w="2070429">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904792">
                  <a:extLst>
                    <a:ext uri="{9D8B030D-6E8A-4147-A177-3AD203B41FA5}">
                      <a16:colId xmlns:a16="http://schemas.microsoft.com/office/drawing/2014/main" val="20002"/>
                    </a:ext>
                  </a:extLst>
                </a:gridCol>
                <a:gridCol w="2133808">
                  <a:extLst>
                    <a:ext uri="{9D8B030D-6E8A-4147-A177-3AD203B41FA5}">
                      <a16:colId xmlns:a16="http://schemas.microsoft.com/office/drawing/2014/main" val="20003"/>
                    </a:ext>
                  </a:extLst>
                </a:gridCol>
              </a:tblGrid>
              <a:tr h="534019">
                <a:tc>
                  <a:txBody>
                    <a:bodyPr/>
                    <a:lstStyle/>
                    <a:p>
                      <a:pPr algn="l">
                        <a:lnSpc>
                          <a:spcPts val="1439"/>
                        </a:lnSpc>
                        <a:defRPr/>
                      </a:pPr>
                      <a:r>
                        <a:rPr lang="en-US" sz="1600" b="0">
                          <a:solidFill>
                            <a:schemeClr val="bg1"/>
                          </a:solidFill>
                          <a:latin typeface="Calibri (MS) Bold"/>
                          <a:ea typeface="Calibri (MS) Bold"/>
                          <a:cs typeface="Calibri (MS) Bold"/>
                          <a:sym typeface="Calibri (MS) Bold"/>
                        </a:rPr>
                        <a:t>Source</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Bold"/>
                          <a:ea typeface="Calibri (MS) Bold"/>
                          <a:cs typeface="Calibri (MS) Bold"/>
                          <a:sym typeface="Calibri (MS) Bold"/>
                        </a:rPr>
                        <a:t>Type</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dirty="0">
                          <a:solidFill>
                            <a:schemeClr val="bg1"/>
                          </a:solidFill>
                          <a:latin typeface="Calibri (MS) Bold"/>
                          <a:ea typeface="Calibri (MS) Bold"/>
                          <a:cs typeface="Calibri (MS) Bold"/>
                          <a:sym typeface="Calibri (MS) Bold"/>
                        </a:rPr>
                        <a:t>Reliability</a:t>
                      </a:r>
                      <a:endParaRPr lang="en-US" sz="1600" b="0" dirty="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dirty="0">
                          <a:solidFill>
                            <a:schemeClr val="bg1"/>
                          </a:solidFill>
                          <a:latin typeface="Calibri (MS) Bold"/>
                          <a:ea typeface="Calibri (MS) Bold"/>
                          <a:cs typeface="Calibri (MS) Bold"/>
                          <a:sym typeface="Calibri (MS) Bold"/>
                        </a:rPr>
                        <a:t>Comparative Finding (Triangulation Role)</a:t>
                      </a:r>
                      <a:endParaRPr lang="en-US" sz="1600" b="0" dirty="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715204">
                <a:tc>
                  <a:txBody>
                    <a:bodyPr/>
                    <a:lstStyle/>
                    <a:p>
                      <a:pPr algn="l">
                        <a:lnSpc>
                          <a:spcPts val="1439"/>
                        </a:lnSpc>
                        <a:defRPr/>
                      </a:pPr>
                      <a:r>
                        <a:rPr lang="en-US" sz="1600" b="0">
                          <a:solidFill>
                            <a:schemeClr val="bg1"/>
                          </a:solidFill>
                          <a:latin typeface="Calibri (MS) Bold"/>
                          <a:ea typeface="Calibri (MS) Bold"/>
                          <a:cs typeface="Calibri (MS) Bold"/>
                          <a:sym typeface="Calibri (MS) Bold"/>
                        </a:rPr>
                        <a:t>J. Air Transp. Manag.</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Peer-Reviewed</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dirty="0">
                          <a:solidFill>
                            <a:schemeClr val="bg1"/>
                          </a:solidFill>
                          <a:latin typeface="Calibri (MS)"/>
                          <a:ea typeface="Calibri (MS)"/>
                          <a:cs typeface="Calibri (MS)"/>
                          <a:sym typeface="Calibri (MS)"/>
                        </a:rPr>
                        <a:t>Very High</a:t>
                      </a:r>
                      <a:endParaRPr lang="en-US" sz="1600" b="0" dirty="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dirty="0" err="1">
                          <a:solidFill>
                            <a:schemeClr val="bg1"/>
                          </a:solidFill>
                          <a:latin typeface="Calibri (MS) Bold"/>
                          <a:ea typeface="Calibri (MS) Bold"/>
                          <a:cs typeface="Calibri (MS) Bold"/>
                          <a:sym typeface="Calibri (MS) Bold"/>
                        </a:rPr>
                        <a:t>Explains</a:t>
                      </a:r>
                      <a:r>
                        <a:rPr lang="en-US" sz="1800" b="0" dirty="0" err="1">
                          <a:solidFill>
                            <a:schemeClr val="bg1"/>
                          </a:solidFill>
                          <a:latin typeface="Calibri (MS)" panose="020B0604020202020204" charset="0"/>
                          <a:ea typeface="Calibri (MS) Bold"/>
                          <a:cs typeface="Calibri (MS)" panose="020B0604020202020204" charset="0"/>
                          <a:sym typeface="Calibri (MS) Bold"/>
                        </a:rPr>
                        <a:t>:</a:t>
                      </a:r>
                      <a:r>
                        <a:rPr lang="en-US" sz="1600" kern="1200" dirty="0" err="1">
                          <a:solidFill>
                            <a:schemeClr val="bg1"/>
                          </a:solidFill>
                          <a:effectLst/>
                          <a:latin typeface="Calibri (MS)" panose="020B0604020202020204" charset="0"/>
                          <a:ea typeface="+mn-ea"/>
                          <a:cs typeface="Calibri (MS)" panose="020B0604020202020204" charset="0"/>
                        </a:rPr>
                        <a:t>The</a:t>
                      </a:r>
                      <a:r>
                        <a:rPr lang="en-US" sz="1600" kern="1200" dirty="0">
                          <a:solidFill>
                            <a:schemeClr val="bg1"/>
                          </a:solidFill>
                          <a:effectLst/>
                          <a:latin typeface="Calibri (MS)" panose="020B0604020202020204" charset="0"/>
                          <a:ea typeface="+mn-ea"/>
                          <a:cs typeface="Calibri (MS)" panose="020B0604020202020204" charset="0"/>
                        </a:rPr>
                        <a:t> best determinants are privacy/security (validating private arch.).</a:t>
                      </a:r>
                      <a:endParaRPr lang="en-US" sz="1600" b="0" dirty="0">
                        <a:solidFill>
                          <a:schemeClr val="bg1"/>
                        </a:solidFill>
                        <a:latin typeface="Calibri (MS)" panose="020B0604020202020204" charset="0"/>
                        <a:cs typeface="Calibri (MS)" panose="020B0604020202020204" charset="0"/>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0001"/>
                  </a:ext>
                </a:extLst>
              </a:tr>
              <a:tr h="715204">
                <a:tc>
                  <a:txBody>
                    <a:bodyPr/>
                    <a:lstStyle/>
                    <a:p>
                      <a:pPr algn="l">
                        <a:lnSpc>
                          <a:spcPts val="1439"/>
                        </a:lnSpc>
                        <a:defRPr/>
                      </a:pPr>
                      <a:r>
                        <a:rPr lang="en-US" sz="1600" b="0">
                          <a:solidFill>
                            <a:schemeClr val="bg1"/>
                          </a:solidFill>
                          <a:latin typeface="Calibri (MS) Bold"/>
                          <a:ea typeface="Calibri (MS) Bold"/>
                          <a:cs typeface="Calibri (MS) Bold"/>
                          <a:sym typeface="Calibri (MS) Bold"/>
                        </a:rPr>
                        <a:t>Univ. Católica (2020)</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Dissertation</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High</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Bold"/>
                          <a:ea typeface="Calibri (MS) Bold"/>
                          <a:cs typeface="Calibri (MS) Bold"/>
                          <a:sym typeface="Calibri (MS) Bold"/>
                        </a:rPr>
                        <a:t>Agrees:</a:t>
                      </a:r>
                      <a:r>
                        <a:rPr lang="en-US" sz="1600" b="0">
                          <a:solidFill>
                            <a:schemeClr val="bg1"/>
                          </a:solidFill>
                          <a:latin typeface="Calibri (MS)"/>
                          <a:ea typeface="Calibri (MS)"/>
                          <a:cs typeface="Calibri (MS)"/>
                          <a:sym typeface="Calibri (MS)"/>
                        </a:rPr>
                        <a:t> "Regulatory governance" is the primary barrier to adoption.</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0002"/>
                  </a:ext>
                </a:extLst>
              </a:tr>
              <a:tr h="715204">
                <a:tc>
                  <a:txBody>
                    <a:bodyPr/>
                    <a:lstStyle/>
                    <a:p>
                      <a:pPr algn="l">
                        <a:lnSpc>
                          <a:spcPts val="1439"/>
                        </a:lnSpc>
                        <a:defRPr/>
                      </a:pPr>
                      <a:r>
                        <a:rPr lang="en-US" sz="1600" b="0">
                          <a:solidFill>
                            <a:schemeClr val="bg1"/>
                          </a:solidFill>
                          <a:latin typeface="Calibri (MS) Bold"/>
                          <a:ea typeface="Calibri (MS) Bold"/>
                          <a:cs typeface="Calibri (MS) Bold"/>
                          <a:sym typeface="Calibri (MS) Bold"/>
                        </a:rPr>
                        <a:t>IJIRCT (2025)</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Tech Journal</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High</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dirty="0">
                          <a:solidFill>
                            <a:schemeClr val="bg1"/>
                          </a:solidFill>
                          <a:latin typeface="Calibri (MS) Bold"/>
                          <a:ea typeface="Calibri (MS) Bold"/>
                          <a:cs typeface="Calibri (MS) Bold"/>
                          <a:sym typeface="Calibri (MS) Bold"/>
                        </a:rPr>
                        <a:t>Benchmark:</a:t>
                      </a:r>
                      <a:r>
                        <a:rPr lang="en-US" sz="1600" b="0" dirty="0">
                          <a:solidFill>
                            <a:schemeClr val="bg1"/>
                          </a:solidFill>
                          <a:latin typeface="Calibri (MS)"/>
                          <a:ea typeface="Calibri (MS)"/>
                          <a:cs typeface="Calibri (MS)"/>
                          <a:sym typeface="Calibri (MS)"/>
                        </a:rPr>
                        <a:t> Cites </a:t>
                      </a:r>
                      <a:r>
                        <a:rPr lang="en-US" sz="1600" b="0" dirty="0" err="1">
                          <a:solidFill>
                            <a:schemeClr val="bg1"/>
                          </a:solidFill>
                          <a:latin typeface="Calibri (MS)"/>
                          <a:ea typeface="Calibri (MS)"/>
                          <a:cs typeface="Calibri (MS)"/>
                          <a:sym typeface="Calibri (MS)"/>
                        </a:rPr>
                        <a:t>FlightChain</a:t>
                      </a:r>
                      <a:r>
                        <a:rPr lang="en-US" sz="1600" b="0" dirty="0">
                          <a:solidFill>
                            <a:schemeClr val="bg1"/>
                          </a:solidFill>
                          <a:latin typeface="Calibri (MS)"/>
                          <a:ea typeface="Calibri (MS)"/>
                          <a:cs typeface="Calibri (MS)"/>
                          <a:sym typeface="Calibri (MS)"/>
                        </a:rPr>
                        <a:t> as the standard for "proven feasibility".</a:t>
                      </a:r>
                      <a:endParaRPr lang="en-US" sz="1600" b="0" dirty="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0003"/>
                  </a:ext>
                </a:extLst>
              </a:tr>
              <a:tr h="715204">
                <a:tc>
                  <a:txBody>
                    <a:bodyPr/>
                    <a:lstStyle/>
                    <a:p>
                      <a:pPr algn="l">
                        <a:lnSpc>
                          <a:spcPts val="1439"/>
                        </a:lnSpc>
                        <a:defRPr/>
                      </a:pPr>
                      <a:r>
                        <a:rPr lang="en-US" sz="1600" b="0">
                          <a:solidFill>
                            <a:schemeClr val="bg1"/>
                          </a:solidFill>
                          <a:latin typeface="Calibri (MS) Bold"/>
                          <a:ea typeface="Calibri (MS) Bold"/>
                          <a:cs typeface="Calibri (MS) Bold"/>
                          <a:sym typeface="Calibri (MS) Bold"/>
                        </a:rPr>
                        <a:t>Hyperledger Case</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Tech Case</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High</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Bold"/>
                          <a:ea typeface="Calibri (MS) Bold"/>
                          <a:cs typeface="Calibri (MS) Bold"/>
                          <a:sym typeface="Calibri (MS) Bold"/>
                        </a:rPr>
                        <a:t>Agrees:</a:t>
                      </a:r>
                      <a:r>
                        <a:rPr lang="en-US" sz="1600" b="0">
                          <a:solidFill>
                            <a:schemeClr val="bg1"/>
                          </a:solidFill>
                          <a:latin typeface="Calibri (MS)"/>
                          <a:ea typeface="Calibri (MS)"/>
                          <a:cs typeface="Calibri (MS)"/>
                          <a:sym typeface="Calibri (MS)"/>
                        </a:rPr>
                        <a:t> Permissioned ledgers are essential for B2B trust.</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0004"/>
                  </a:ext>
                </a:extLst>
              </a:tr>
              <a:tr h="715204">
                <a:tc>
                  <a:txBody>
                    <a:bodyPr/>
                    <a:lstStyle/>
                    <a:p>
                      <a:pPr algn="l">
                        <a:lnSpc>
                          <a:spcPts val="1439"/>
                        </a:lnSpc>
                        <a:defRPr/>
                      </a:pPr>
                      <a:r>
                        <a:rPr lang="en-US" sz="1600" b="0">
                          <a:solidFill>
                            <a:schemeClr val="bg1"/>
                          </a:solidFill>
                          <a:latin typeface="Calibri (MS) Bold"/>
                          <a:ea typeface="Calibri (MS) Bold"/>
                          <a:cs typeface="Calibri (MS) Bold"/>
                          <a:sym typeface="Calibri (MS) Bold"/>
                        </a:rPr>
                        <a:t>DAC Beachcroft (2024)</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Legal Review</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a:solidFill>
                            <a:schemeClr val="bg1"/>
                          </a:solidFill>
                          <a:latin typeface="Calibri (MS)"/>
                          <a:ea typeface="Calibri (MS)"/>
                          <a:cs typeface="Calibri (MS)"/>
                          <a:sym typeface="Calibri (MS)"/>
                        </a:rPr>
                        <a:t>High</a:t>
                      </a:r>
                      <a:endParaRPr lang="en-US" sz="1600" b="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tc>
                  <a:txBody>
                    <a:bodyPr/>
                    <a:lstStyle/>
                    <a:p>
                      <a:pPr algn="l">
                        <a:lnSpc>
                          <a:spcPts val="1439"/>
                        </a:lnSpc>
                        <a:defRPr/>
                      </a:pPr>
                      <a:r>
                        <a:rPr lang="en-US" sz="1600" b="0" dirty="0">
                          <a:solidFill>
                            <a:schemeClr val="bg1"/>
                          </a:solidFill>
                          <a:latin typeface="Calibri (MS) Bold"/>
                          <a:ea typeface="Calibri (MS) Bold"/>
                          <a:cs typeface="Calibri (MS) Bold"/>
                          <a:sym typeface="Calibri (MS) Bold"/>
                        </a:rPr>
                        <a:t>Agrees:</a:t>
                      </a:r>
                      <a:r>
                        <a:rPr lang="en-US" sz="1600" b="0" dirty="0">
                          <a:solidFill>
                            <a:schemeClr val="bg1"/>
                          </a:solidFill>
                          <a:latin typeface="Calibri (MS)"/>
                          <a:ea typeface="Calibri (MS)"/>
                          <a:cs typeface="Calibri (MS)"/>
                          <a:sym typeface="Calibri (MS)"/>
                        </a:rPr>
                        <a:t> Immutability is useful, but liability remains undefined (Legal Gap).</a:t>
                      </a:r>
                      <a:endParaRPr lang="en-US" sz="1600" b="0" dirty="0">
                        <a:solidFill>
                          <a:schemeClr val="bg1"/>
                        </a:solidFill>
                      </a:endParaRPr>
                    </a:p>
                  </a:txBody>
                  <a:tcPr marL="52627" marR="52627" marT="52627" marB="52627"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600200" y="2777031"/>
            <a:ext cx="2438399" cy="554639"/>
          </a:xfrm>
          <a:prstGeom prst="rect">
            <a:avLst/>
          </a:prstGeom>
        </p:spPr>
        <p:txBody>
          <a:bodyPr wrap="square" lIns="0" tIns="0" rIns="0" bIns="0" rtlCol="0" anchor="t">
            <a:spAutoFit/>
          </a:bodyPr>
          <a:lstStyle/>
          <a:p>
            <a:pPr algn="l">
              <a:lnSpc>
                <a:spcPts val="2160"/>
              </a:lnSpc>
            </a:pPr>
            <a:r>
              <a:rPr lang="en-US" b="1" dirty="0">
                <a:solidFill>
                  <a:schemeClr val="bg1"/>
                </a:solidFill>
                <a:latin typeface="Calibri (MS)"/>
                <a:ea typeface="Calibri (MS)"/>
                <a:cs typeface="Calibri (MS)"/>
                <a:sym typeface="Calibri (MS)"/>
              </a:rPr>
              <a:t>Category 3: Trade and Media Sources</a:t>
            </a:r>
          </a:p>
        </p:txBody>
      </p:sp>
      <p:sp>
        <p:nvSpPr>
          <p:cNvPr id="7" name="TextBox 7"/>
          <p:cNvSpPr txBox="1"/>
          <p:nvPr/>
        </p:nvSpPr>
        <p:spPr>
          <a:xfrm>
            <a:off x="1600200" y="6978050"/>
            <a:ext cx="2438399" cy="554639"/>
          </a:xfrm>
          <a:prstGeom prst="rect">
            <a:avLst/>
          </a:prstGeom>
        </p:spPr>
        <p:txBody>
          <a:bodyPr wrap="square" lIns="0" tIns="0" rIns="0" bIns="0" rtlCol="0" anchor="t">
            <a:spAutoFit/>
          </a:bodyPr>
          <a:lstStyle/>
          <a:p>
            <a:pPr algn="l">
              <a:lnSpc>
                <a:spcPts val="2160"/>
              </a:lnSpc>
            </a:pPr>
            <a:r>
              <a:rPr lang="en-US" b="1" dirty="0">
                <a:solidFill>
                  <a:schemeClr val="bg1"/>
                </a:solidFill>
                <a:latin typeface="Calibri (MS)"/>
                <a:ea typeface="Calibri (MS)"/>
                <a:cs typeface="Calibri (MS)"/>
                <a:sym typeface="Calibri (MS)"/>
              </a:rPr>
              <a:t>Category 4: Academic and Technical Reviews</a:t>
            </a:r>
          </a:p>
        </p:txBody>
      </p:sp>
      <p:sp>
        <p:nvSpPr>
          <p:cNvPr id="9" name="TextBox 8">
            <a:extLst>
              <a:ext uri="{FF2B5EF4-FFF2-40B4-BE49-F238E27FC236}">
                <a16:creationId xmlns:a16="http://schemas.microsoft.com/office/drawing/2014/main" id="{28EA42B1-1D48-BB9F-D297-24E5366E72AF}"/>
              </a:ext>
            </a:extLst>
          </p:cNvPr>
          <p:cNvSpPr txBox="1"/>
          <p:nvPr/>
        </p:nvSpPr>
        <p:spPr>
          <a:xfrm>
            <a:off x="990600" y="-278078"/>
            <a:ext cx="15690766" cy="1261114"/>
          </a:xfrm>
          <a:prstGeom prst="rect">
            <a:avLst/>
          </a:prstGeom>
        </p:spPr>
        <p:txBody>
          <a:bodyPr lIns="0" tIns="0" rIns="0" bIns="0" rtlCol="0" anchor="t">
            <a:spAutoFit/>
          </a:bodyPr>
          <a:lstStyle/>
          <a:p>
            <a:pPr algn="l">
              <a:lnSpc>
                <a:spcPts val="11040"/>
              </a:lnSpc>
            </a:pPr>
            <a:r>
              <a:rPr lang="en-US" sz="6000" b="1" dirty="0">
                <a:solidFill>
                  <a:srgbClr val="FFFFFF"/>
                </a:solidFill>
                <a:latin typeface="Calibri (MS) Bold"/>
                <a:ea typeface="Calibri (MS) Bold"/>
                <a:cs typeface="Calibri (MS) Bold"/>
                <a:sym typeface="Calibri (MS) Bold"/>
              </a:rPr>
              <a:t>Evidence Base &amp; Triangulation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64901" y="12954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9656159" y="1971413"/>
            <a:ext cx="6457540" cy="1541616"/>
          </a:xfrm>
          <a:custGeom>
            <a:avLst/>
            <a:gdLst/>
            <a:ahLst/>
            <a:cxnLst/>
            <a:rect l="l" t="t" r="r" b="b"/>
            <a:pathLst>
              <a:path w="6457540" h="1541616">
                <a:moveTo>
                  <a:pt x="0" y="0"/>
                </a:moveTo>
                <a:lnTo>
                  <a:pt x="6457540" y="0"/>
                </a:lnTo>
                <a:lnTo>
                  <a:pt x="6457540" y="1541616"/>
                </a:lnTo>
                <a:lnTo>
                  <a:pt x="0" y="1541616"/>
                </a:lnTo>
                <a:lnTo>
                  <a:pt x="0" y="0"/>
                </a:lnTo>
                <a:close/>
              </a:path>
            </a:pathLst>
          </a:custGeom>
          <a:blipFill>
            <a:blip r:embed="rId4">
              <a:extLst>
                <a:ext uri="{96DAC541-7B7A-43D3-8B79-37D633B846F1}">
                  <asvg:svgBlip xmlns:asvg="http://schemas.microsoft.com/office/drawing/2016/SVG/main" r:embed="rId5"/>
                </a:ext>
              </a:extLst>
            </a:blip>
            <a:stretch>
              <a:fillRect t="-43" b="-43"/>
            </a:stretch>
          </a:blipFill>
        </p:spPr>
        <p:txBody>
          <a:bodyPr/>
          <a:lstStyle/>
          <a:p>
            <a:endParaRPr lang="en-US"/>
          </a:p>
        </p:txBody>
      </p:sp>
      <p:sp>
        <p:nvSpPr>
          <p:cNvPr id="5" name="Freeform 5"/>
          <p:cNvSpPr/>
          <p:nvPr/>
        </p:nvSpPr>
        <p:spPr>
          <a:xfrm>
            <a:off x="14943647" y="1832151"/>
            <a:ext cx="1964801" cy="1964801"/>
          </a:xfrm>
          <a:custGeom>
            <a:avLst/>
            <a:gdLst/>
            <a:ahLst/>
            <a:cxnLst/>
            <a:rect l="l" t="t" r="r" b="b"/>
            <a:pathLst>
              <a:path w="1964801" h="1964801">
                <a:moveTo>
                  <a:pt x="0" y="0"/>
                </a:moveTo>
                <a:lnTo>
                  <a:pt x="1964801" y="0"/>
                </a:lnTo>
                <a:lnTo>
                  <a:pt x="1964801" y="1964801"/>
                </a:lnTo>
                <a:lnTo>
                  <a:pt x="0" y="19648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500670" y="1971413"/>
            <a:ext cx="6457540" cy="1541616"/>
          </a:xfrm>
          <a:custGeom>
            <a:avLst/>
            <a:gdLst/>
            <a:ahLst/>
            <a:cxnLst/>
            <a:rect l="l" t="t" r="r" b="b"/>
            <a:pathLst>
              <a:path w="6457540" h="1541616">
                <a:moveTo>
                  <a:pt x="0" y="0"/>
                </a:moveTo>
                <a:lnTo>
                  <a:pt x="6457540" y="0"/>
                </a:lnTo>
                <a:lnTo>
                  <a:pt x="6457540" y="1541616"/>
                </a:lnTo>
                <a:lnTo>
                  <a:pt x="0" y="1541616"/>
                </a:lnTo>
                <a:lnTo>
                  <a:pt x="0" y="0"/>
                </a:lnTo>
                <a:close/>
              </a:path>
            </a:pathLst>
          </a:custGeom>
          <a:blipFill>
            <a:blip r:embed="rId4">
              <a:extLst>
                <a:ext uri="{96DAC541-7B7A-43D3-8B79-37D633B846F1}">
                  <asvg:svgBlip xmlns:asvg="http://schemas.microsoft.com/office/drawing/2016/SVG/main" r:embed="rId5"/>
                </a:ext>
              </a:extLst>
            </a:blip>
            <a:stretch>
              <a:fillRect t="-43" b="-43"/>
            </a:stretch>
          </a:blipFill>
        </p:spPr>
        <p:txBody>
          <a:bodyPr/>
          <a:lstStyle/>
          <a:p>
            <a:endParaRPr lang="en-US"/>
          </a:p>
        </p:txBody>
      </p:sp>
      <p:sp>
        <p:nvSpPr>
          <p:cNvPr id="7" name="Freeform 7"/>
          <p:cNvSpPr/>
          <p:nvPr/>
        </p:nvSpPr>
        <p:spPr>
          <a:xfrm>
            <a:off x="6788158" y="1832151"/>
            <a:ext cx="1964801" cy="1964801"/>
          </a:xfrm>
          <a:custGeom>
            <a:avLst/>
            <a:gdLst/>
            <a:ahLst/>
            <a:cxnLst/>
            <a:rect l="l" t="t" r="r" b="b"/>
            <a:pathLst>
              <a:path w="1964801" h="1964801">
                <a:moveTo>
                  <a:pt x="0" y="0"/>
                </a:moveTo>
                <a:lnTo>
                  <a:pt x="1964801" y="0"/>
                </a:lnTo>
                <a:lnTo>
                  <a:pt x="1964801" y="1964801"/>
                </a:lnTo>
                <a:lnTo>
                  <a:pt x="0" y="19648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7062683" y="2097278"/>
            <a:ext cx="1415751" cy="1415751"/>
          </a:xfrm>
          <a:custGeom>
            <a:avLst/>
            <a:gdLst/>
            <a:ahLst/>
            <a:cxnLst/>
            <a:rect l="l" t="t" r="r" b="b"/>
            <a:pathLst>
              <a:path w="1415751" h="1415751">
                <a:moveTo>
                  <a:pt x="0" y="0"/>
                </a:moveTo>
                <a:lnTo>
                  <a:pt x="1415751" y="0"/>
                </a:lnTo>
                <a:lnTo>
                  <a:pt x="1415751" y="1415751"/>
                </a:lnTo>
                <a:lnTo>
                  <a:pt x="0" y="1415751"/>
                </a:lnTo>
                <a:lnTo>
                  <a:pt x="0" y="0"/>
                </a:lnTo>
                <a:close/>
              </a:path>
            </a:pathLst>
          </a:custGeom>
          <a:blipFill>
            <a:blip r:embed="rId8">
              <a:alphaModFix amt="56999"/>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15479298" y="2155758"/>
            <a:ext cx="882627" cy="1172927"/>
          </a:xfrm>
          <a:custGeom>
            <a:avLst/>
            <a:gdLst/>
            <a:ahLst/>
            <a:cxnLst/>
            <a:rect l="l" t="t" r="r" b="b"/>
            <a:pathLst>
              <a:path w="882627" h="1172927">
                <a:moveTo>
                  <a:pt x="0" y="0"/>
                </a:moveTo>
                <a:lnTo>
                  <a:pt x="882627" y="0"/>
                </a:lnTo>
                <a:lnTo>
                  <a:pt x="882627" y="1172927"/>
                </a:lnTo>
                <a:lnTo>
                  <a:pt x="0" y="1172927"/>
                </a:lnTo>
                <a:lnTo>
                  <a:pt x="0" y="0"/>
                </a:lnTo>
                <a:close/>
              </a:path>
            </a:pathLst>
          </a:custGeom>
          <a:blipFill>
            <a:blip r:embed="rId10">
              <a:extLst>
                <a:ext uri="{96DAC541-7B7A-43D3-8B79-37D633B846F1}">
                  <asvg:svgBlip xmlns:asvg="http://schemas.microsoft.com/office/drawing/2016/SVG/main" r:embed="rId11"/>
                </a:ext>
              </a:extLst>
            </a:blip>
            <a:stretch>
              <a:fillRect t="-166" b="-166"/>
            </a:stretch>
          </a:blipFill>
        </p:spPr>
        <p:txBody>
          <a:bodyPr/>
          <a:lstStyle/>
          <a:p>
            <a:endParaRPr lang="en-US"/>
          </a:p>
        </p:txBody>
      </p:sp>
      <p:sp>
        <p:nvSpPr>
          <p:cNvPr id="10" name="TextBox 10"/>
          <p:cNvSpPr txBox="1"/>
          <p:nvPr/>
        </p:nvSpPr>
        <p:spPr>
          <a:xfrm>
            <a:off x="10721274" y="2281528"/>
            <a:ext cx="5286213" cy="921385"/>
          </a:xfrm>
          <a:prstGeom prst="rect">
            <a:avLst/>
          </a:prstGeom>
        </p:spPr>
        <p:txBody>
          <a:bodyPr lIns="0" tIns="0" rIns="0" bIns="0" rtlCol="0" anchor="t">
            <a:spAutoFit/>
          </a:bodyPr>
          <a:lstStyle/>
          <a:p>
            <a:pPr algn="l">
              <a:lnSpc>
                <a:spcPts val="7175"/>
              </a:lnSpc>
            </a:pPr>
            <a:r>
              <a:rPr lang="en-US" sz="4400" b="1" dirty="0">
                <a:solidFill>
                  <a:srgbClr val="BFBEBE"/>
                </a:solidFill>
                <a:latin typeface="Calibri (MS) Bold"/>
                <a:ea typeface="Calibri (MS) Bold"/>
                <a:cs typeface="Calibri (MS) Bold"/>
                <a:sym typeface="Calibri (MS) Bold"/>
              </a:rPr>
              <a:t>Disagreements</a:t>
            </a:r>
          </a:p>
        </p:txBody>
      </p:sp>
      <p:sp>
        <p:nvSpPr>
          <p:cNvPr id="11" name="TextBox 11"/>
          <p:cNvSpPr txBox="1"/>
          <p:nvPr/>
        </p:nvSpPr>
        <p:spPr>
          <a:xfrm>
            <a:off x="2475159" y="2216126"/>
            <a:ext cx="4537256" cy="964057"/>
          </a:xfrm>
          <a:prstGeom prst="rect">
            <a:avLst/>
          </a:prstGeom>
        </p:spPr>
        <p:txBody>
          <a:bodyPr lIns="0" tIns="0" rIns="0" bIns="0" rtlCol="0" anchor="t">
            <a:spAutoFit/>
          </a:bodyPr>
          <a:lstStyle/>
          <a:p>
            <a:pPr algn="l">
              <a:lnSpc>
                <a:spcPts val="7589"/>
              </a:lnSpc>
            </a:pPr>
            <a:r>
              <a:rPr lang="en-US" sz="4400" b="1" dirty="0">
                <a:solidFill>
                  <a:srgbClr val="BFBEBE"/>
                </a:solidFill>
                <a:latin typeface="Calibri (MS) Bold"/>
                <a:ea typeface="Calibri (MS) Bold"/>
                <a:cs typeface="Calibri (MS) Bold"/>
                <a:sym typeface="Calibri (MS) Bold"/>
              </a:rPr>
              <a:t>Agreements</a:t>
            </a:r>
          </a:p>
        </p:txBody>
      </p:sp>
      <p:sp>
        <p:nvSpPr>
          <p:cNvPr id="12" name="TextBox 12"/>
          <p:cNvSpPr txBox="1"/>
          <p:nvPr/>
        </p:nvSpPr>
        <p:spPr>
          <a:xfrm>
            <a:off x="1794448" y="3561550"/>
            <a:ext cx="5817000" cy="4720523"/>
          </a:xfrm>
          <a:prstGeom prst="rect">
            <a:avLst/>
          </a:prstGeom>
        </p:spPr>
        <p:txBody>
          <a:bodyPr lIns="0" tIns="0" rIns="0" bIns="0" rtlCol="0" anchor="t">
            <a:spAutoFit/>
          </a:bodyPr>
          <a:lstStyle/>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Blockchain is feasible for reconciling flight data.</a:t>
            </a:r>
          </a:p>
          <a:p>
            <a:pPr marL="342900" lvl="0" indent="-342900">
              <a:buFont typeface="Arial" panose="020B0604020202020204" pitchFamily="34" charset="0"/>
              <a:buChar char="•"/>
            </a:pPr>
            <a:endParaRPr lang="en-US" sz="2500" dirty="0">
              <a:solidFill>
                <a:schemeClr val="bg1"/>
              </a:solidFill>
              <a:latin typeface="Calibri (MS)" panose="020B0604020202020204" charset="0"/>
              <a:cs typeface="Calibri (MS)" panose="020B0604020202020204" charset="0"/>
            </a:endParaRPr>
          </a:p>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Governance is identified as the primary adoption barrier.</a:t>
            </a:r>
          </a:p>
          <a:p>
            <a:pPr marL="342900" lvl="0" indent="-342900">
              <a:buFont typeface="Arial" panose="020B0604020202020204" pitchFamily="34" charset="0"/>
              <a:buChar char="•"/>
            </a:pPr>
            <a:endParaRPr lang="en-US" sz="2500" dirty="0">
              <a:solidFill>
                <a:schemeClr val="bg1"/>
              </a:solidFill>
              <a:latin typeface="Calibri (MS)" panose="020B0604020202020204" charset="0"/>
              <a:cs typeface="Calibri (MS)" panose="020B0604020202020204" charset="0"/>
            </a:endParaRPr>
          </a:p>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Smart contracts are valuable but complex to manage.</a:t>
            </a:r>
          </a:p>
          <a:p>
            <a:pPr marL="342900" lvl="0" indent="-342900">
              <a:buFont typeface="Arial" panose="020B0604020202020204" pitchFamily="34" charset="0"/>
              <a:buChar char="•"/>
            </a:pPr>
            <a:endParaRPr lang="en-US" sz="2500" dirty="0">
              <a:solidFill>
                <a:schemeClr val="bg1"/>
              </a:solidFill>
              <a:latin typeface="Calibri (MS)" panose="020B0604020202020204" charset="0"/>
              <a:cs typeface="Calibri (MS)" panose="020B0604020202020204" charset="0"/>
            </a:endParaRPr>
          </a:p>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Operational pilots alone are insufficient for scale</a:t>
            </a:r>
          </a:p>
          <a:p>
            <a:pPr marL="342900" indent="-342900" algn="l">
              <a:lnSpc>
                <a:spcPts val="4198"/>
              </a:lnSpc>
              <a:buFont typeface="Arial" panose="020B0604020202020204" pitchFamily="34" charset="0"/>
              <a:buChar char="•"/>
            </a:pPr>
            <a:endParaRPr lang="en-US" sz="2500" dirty="0">
              <a:solidFill>
                <a:schemeClr val="bg1"/>
              </a:solidFill>
              <a:latin typeface="Calibri (MS)" panose="020B0604020202020204" charset="0"/>
              <a:ea typeface="Calibri (MS)"/>
              <a:cs typeface="Calibri (MS)" panose="020B0604020202020204" charset="0"/>
              <a:sym typeface="Calibri (MS)"/>
            </a:endParaRPr>
          </a:p>
        </p:txBody>
      </p:sp>
      <p:sp>
        <p:nvSpPr>
          <p:cNvPr id="13" name="TextBox 13"/>
          <p:cNvSpPr txBox="1"/>
          <p:nvPr/>
        </p:nvSpPr>
        <p:spPr>
          <a:xfrm>
            <a:off x="10332225" y="3561550"/>
            <a:ext cx="6029700" cy="4335802"/>
          </a:xfrm>
          <a:prstGeom prst="rect">
            <a:avLst/>
          </a:prstGeom>
        </p:spPr>
        <p:txBody>
          <a:bodyPr lIns="0" tIns="0" rIns="0" bIns="0" rtlCol="0" anchor="t">
            <a:spAutoFit/>
          </a:bodyPr>
          <a:lstStyle/>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The debate on blockchain and distributed databases.</a:t>
            </a:r>
          </a:p>
          <a:p>
            <a:pPr marL="342900" lvl="0" indent="-342900">
              <a:buFont typeface="Arial" panose="020B0604020202020204" pitchFamily="34" charset="0"/>
              <a:buChar char="•"/>
            </a:pPr>
            <a:endParaRPr lang="en-US" sz="2500" dirty="0">
              <a:solidFill>
                <a:schemeClr val="bg1"/>
              </a:solidFill>
              <a:latin typeface="Calibri (MS)" panose="020B0604020202020204" charset="0"/>
              <a:cs typeface="Calibri (MS)" panose="020B0604020202020204" charset="0"/>
            </a:endParaRPr>
          </a:p>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Public vs private network models contested.</a:t>
            </a:r>
          </a:p>
          <a:p>
            <a:pPr marL="342900" lvl="0" indent="-342900">
              <a:buFont typeface="Arial" panose="020B0604020202020204" pitchFamily="34" charset="0"/>
              <a:buChar char="•"/>
            </a:pPr>
            <a:endParaRPr lang="en-US" sz="2500" dirty="0">
              <a:solidFill>
                <a:schemeClr val="bg1"/>
              </a:solidFill>
              <a:latin typeface="Calibri (MS)" panose="020B0604020202020204" charset="0"/>
              <a:cs typeface="Calibri (MS)" panose="020B0604020202020204" charset="0"/>
            </a:endParaRPr>
          </a:p>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Lack of a clear legal enforceability of smart contracts.</a:t>
            </a:r>
          </a:p>
          <a:p>
            <a:pPr marL="342900" lvl="0" indent="-342900">
              <a:buFont typeface="Arial" panose="020B0604020202020204" pitchFamily="34" charset="0"/>
              <a:buChar char="•"/>
            </a:pPr>
            <a:endParaRPr lang="en-US" sz="2500" dirty="0">
              <a:solidFill>
                <a:schemeClr val="bg1"/>
              </a:solidFill>
              <a:latin typeface="Calibri (MS)" panose="020B0604020202020204" charset="0"/>
              <a:cs typeface="Calibri (MS)" panose="020B0604020202020204" charset="0"/>
            </a:endParaRPr>
          </a:p>
          <a:p>
            <a:pPr marL="342900" lvl="0" indent="-342900">
              <a:buFont typeface="Arial" panose="020B0604020202020204" pitchFamily="34" charset="0"/>
              <a:buChar char="•"/>
            </a:pPr>
            <a:r>
              <a:rPr lang="en-US" sz="2500" dirty="0">
                <a:solidFill>
                  <a:schemeClr val="bg1"/>
                </a:solidFill>
                <a:latin typeface="Calibri (MS)" panose="020B0604020202020204" charset="0"/>
                <a:cs typeface="Calibri (MS)" panose="020B0604020202020204" charset="0"/>
              </a:rPr>
              <a:t>Disagreement on who should govern shared platforms.</a:t>
            </a:r>
          </a:p>
          <a:p>
            <a:pPr marL="342900" indent="-342900" algn="l">
              <a:lnSpc>
                <a:spcPts val="4198"/>
              </a:lnSpc>
              <a:buFont typeface="Arial" panose="020B0604020202020204" pitchFamily="34" charset="0"/>
              <a:buChar char="•"/>
            </a:pPr>
            <a:endParaRPr lang="en-US" sz="2500" dirty="0">
              <a:solidFill>
                <a:schemeClr val="bg1"/>
              </a:solidFill>
              <a:latin typeface="Calibri (MS)" panose="020B0604020202020204" charset="0"/>
              <a:ea typeface="Calibri (MS)"/>
              <a:cs typeface="Calibri (MS)" panose="020B0604020202020204" charset="0"/>
              <a:sym typeface="Calibri (MS)"/>
            </a:endParaRPr>
          </a:p>
        </p:txBody>
      </p:sp>
      <p:sp>
        <p:nvSpPr>
          <p:cNvPr id="14" name="TextBox 14"/>
          <p:cNvSpPr txBox="1"/>
          <p:nvPr/>
        </p:nvSpPr>
        <p:spPr>
          <a:xfrm>
            <a:off x="2602952" y="-56197"/>
            <a:ext cx="13758973" cy="1512570"/>
          </a:xfrm>
          <a:prstGeom prst="rect">
            <a:avLst/>
          </a:prstGeom>
        </p:spPr>
        <p:txBody>
          <a:bodyPr lIns="0" tIns="0" rIns="0" bIns="0" rtlCol="0" anchor="t">
            <a:spAutoFit/>
          </a:bodyPr>
          <a:lstStyle/>
          <a:p>
            <a:pPr algn="ctr">
              <a:lnSpc>
                <a:spcPts val="11040"/>
              </a:lnSpc>
            </a:pPr>
            <a:r>
              <a:rPr lang="en-US" sz="8000" b="1">
                <a:solidFill>
                  <a:srgbClr val="FFFFFF"/>
                </a:solidFill>
                <a:latin typeface="Calibri (MS) Bold"/>
                <a:ea typeface="Calibri (MS) Bold"/>
                <a:cs typeface="Calibri (MS) Bold"/>
                <a:sym typeface="Calibri (MS) Bold"/>
              </a:rPr>
              <a:t>Cross-Source Validation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10811149" y="2053639"/>
            <a:ext cx="7476851" cy="7559316"/>
          </a:xfrm>
          <a:custGeom>
            <a:avLst/>
            <a:gdLst/>
            <a:ahLst/>
            <a:cxnLst/>
            <a:rect l="l" t="t" r="r" b="b"/>
            <a:pathLst>
              <a:path w="7476851" h="7559316">
                <a:moveTo>
                  <a:pt x="0" y="0"/>
                </a:moveTo>
                <a:lnTo>
                  <a:pt x="7476851" y="0"/>
                </a:lnTo>
                <a:lnTo>
                  <a:pt x="7476851" y="7559316"/>
                </a:lnTo>
                <a:lnTo>
                  <a:pt x="0" y="7559316"/>
                </a:lnTo>
                <a:lnTo>
                  <a:pt x="0" y="0"/>
                </a:lnTo>
                <a:close/>
              </a:path>
            </a:pathLst>
          </a:custGeom>
          <a:blipFill>
            <a:blip r:embed="rId4">
              <a:extLst>
                <a:ext uri="{96DAC541-7B7A-43D3-8B79-37D633B846F1}">
                  <asvg:svgBlip xmlns:asvg="http://schemas.microsoft.com/office/drawing/2016/SVG/main" r:embed="rId5"/>
                </a:ext>
              </a:extLst>
            </a:blip>
            <a:stretch>
              <a:fillRect l="-42" r="-42"/>
            </a:stretch>
          </a:blipFill>
        </p:spPr>
        <p:txBody>
          <a:bodyPr/>
          <a:lstStyle/>
          <a:p>
            <a:endParaRPr lang="en-US"/>
          </a:p>
        </p:txBody>
      </p:sp>
      <p:sp>
        <p:nvSpPr>
          <p:cNvPr id="5" name="TextBox 5"/>
          <p:cNvSpPr txBox="1"/>
          <p:nvPr/>
        </p:nvSpPr>
        <p:spPr>
          <a:xfrm>
            <a:off x="426866" y="-8572"/>
            <a:ext cx="12755734" cy="1512570"/>
          </a:xfrm>
          <a:prstGeom prst="rect">
            <a:avLst/>
          </a:prstGeom>
        </p:spPr>
        <p:txBody>
          <a:bodyPr lIns="0" tIns="0" rIns="0" bIns="0" rtlCol="0" anchor="t">
            <a:spAutoFit/>
          </a:bodyPr>
          <a:lstStyle/>
          <a:p>
            <a:pPr algn="l">
              <a:lnSpc>
                <a:spcPts val="11040"/>
              </a:lnSpc>
            </a:pPr>
            <a:r>
              <a:rPr lang="en-US" sz="8000" b="1">
                <a:solidFill>
                  <a:srgbClr val="FFFFFF"/>
                </a:solidFill>
                <a:latin typeface="Calibri (MS) Bold"/>
                <a:ea typeface="Calibri (MS) Bold"/>
                <a:cs typeface="Calibri (MS) Bold"/>
                <a:sym typeface="Calibri (MS) Bold"/>
              </a:rPr>
              <a:t>Triangulation Insights</a:t>
            </a:r>
          </a:p>
        </p:txBody>
      </p:sp>
      <p:sp>
        <p:nvSpPr>
          <p:cNvPr id="6" name="TextBox 6"/>
          <p:cNvSpPr txBox="1"/>
          <p:nvPr/>
        </p:nvSpPr>
        <p:spPr>
          <a:xfrm>
            <a:off x="426866" y="1586914"/>
            <a:ext cx="8225812" cy="7386638"/>
          </a:xfrm>
          <a:prstGeom prst="rect">
            <a:avLst/>
          </a:prstGeom>
        </p:spPr>
        <p:txBody>
          <a:bodyPr lIns="0" tIns="0" rIns="0" bIns="0" rtlCol="0" anchor="t">
            <a:spAutoFit/>
          </a:bodyPr>
          <a:lstStyle/>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Good consensus in governance barriers.</a:t>
            </a:r>
          </a:p>
          <a:p>
            <a:pPr marL="571500" lvl="0" indent="-571500">
              <a:buFont typeface="Arial" panose="020B0604020202020204" pitchFamily="34" charset="0"/>
              <a:buChar char="•"/>
            </a:pPr>
            <a:endParaRPr lang="en-US" sz="4000" dirty="0">
              <a:solidFill>
                <a:schemeClr val="bg1"/>
              </a:solidFill>
              <a:latin typeface="Calibri (MS)" panose="020B0604020202020204" charset="0"/>
              <a:cs typeface="Calibri (MS)" panose="020B0604020202020204" charset="0"/>
            </a:endParaRPr>
          </a:p>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Technical sources of performance claims.</a:t>
            </a:r>
          </a:p>
          <a:p>
            <a:pPr marL="571500" lvl="0" indent="-571500">
              <a:buFont typeface="Arial" panose="020B0604020202020204" pitchFamily="34" charset="0"/>
              <a:buChar char="•"/>
            </a:pPr>
            <a:endParaRPr lang="en-US" sz="4000" dirty="0">
              <a:solidFill>
                <a:schemeClr val="bg1"/>
              </a:solidFill>
              <a:latin typeface="Calibri (MS)" panose="020B0604020202020204" charset="0"/>
              <a:cs typeface="Calibri (MS)" panose="020B0604020202020204" charset="0"/>
            </a:endParaRPr>
          </a:p>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The regulators focused more on privacy as compared to industry media.</a:t>
            </a:r>
          </a:p>
          <a:p>
            <a:pPr marL="571500" lvl="0" indent="-571500">
              <a:buFont typeface="Arial" panose="020B0604020202020204" pitchFamily="34" charset="0"/>
              <a:buChar char="•"/>
            </a:pPr>
            <a:endParaRPr lang="en-US" sz="4000" dirty="0">
              <a:solidFill>
                <a:schemeClr val="bg1"/>
              </a:solidFill>
              <a:latin typeface="Calibri (MS)" panose="020B0604020202020204" charset="0"/>
              <a:cs typeface="Calibri (MS)" panose="020B0604020202020204" charset="0"/>
            </a:endParaRPr>
          </a:p>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Scholars pointed at organisational inertia.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8957478" y="2297473"/>
            <a:ext cx="9105621" cy="5997956"/>
          </a:xfrm>
          <a:custGeom>
            <a:avLst/>
            <a:gdLst/>
            <a:ahLst/>
            <a:cxnLst/>
            <a:rect l="l" t="t" r="r" b="b"/>
            <a:pathLst>
              <a:path w="9105621" h="5997956">
                <a:moveTo>
                  <a:pt x="0" y="0"/>
                </a:moveTo>
                <a:lnTo>
                  <a:pt x="9105621" y="0"/>
                </a:lnTo>
                <a:lnTo>
                  <a:pt x="9105621" y="5997957"/>
                </a:lnTo>
                <a:lnTo>
                  <a:pt x="0" y="5997957"/>
                </a:lnTo>
                <a:lnTo>
                  <a:pt x="0" y="0"/>
                </a:lnTo>
                <a:close/>
              </a:path>
            </a:pathLst>
          </a:custGeom>
          <a:blipFill>
            <a:blip r:embed="rId4"/>
            <a:stretch>
              <a:fillRect t="-572" b="-572"/>
            </a:stretch>
          </a:blipFill>
        </p:spPr>
        <p:txBody>
          <a:bodyPr/>
          <a:lstStyle/>
          <a:p>
            <a:endParaRPr lang="en-US"/>
          </a:p>
        </p:txBody>
      </p:sp>
      <p:sp>
        <p:nvSpPr>
          <p:cNvPr id="5" name="TextBox 5"/>
          <p:cNvSpPr txBox="1"/>
          <p:nvPr/>
        </p:nvSpPr>
        <p:spPr>
          <a:xfrm>
            <a:off x="426866" y="-8572"/>
            <a:ext cx="11080390" cy="1512570"/>
          </a:xfrm>
          <a:prstGeom prst="rect">
            <a:avLst/>
          </a:prstGeom>
        </p:spPr>
        <p:txBody>
          <a:bodyPr lIns="0" tIns="0" rIns="0" bIns="0" rtlCol="0" anchor="t">
            <a:spAutoFit/>
          </a:bodyPr>
          <a:lstStyle/>
          <a:p>
            <a:pPr algn="l">
              <a:lnSpc>
                <a:spcPts val="11040"/>
              </a:lnSpc>
            </a:pPr>
            <a:r>
              <a:rPr lang="en-US" sz="8000" b="1">
                <a:solidFill>
                  <a:srgbClr val="FFFFFF"/>
                </a:solidFill>
                <a:latin typeface="Calibri (MS) Bold"/>
                <a:ea typeface="Calibri (MS) Bold"/>
                <a:cs typeface="Calibri (MS) Bold"/>
                <a:sym typeface="Calibri (MS) Bold"/>
              </a:rPr>
              <a:t>Stakeholder Impacts</a:t>
            </a:r>
          </a:p>
        </p:txBody>
      </p:sp>
      <p:sp>
        <p:nvSpPr>
          <p:cNvPr id="6" name="TextBox 6"/>
          <p:cNvSpPr txBox="1"/>
          <p:nvPr/>
        </p:nvSpPr>
        <p:spPr>
          <a:xfrm>
            <a:off x="426866" y="1672639"/>
            <a:ext cx="8225812" cy="8765092"/>
          </a:xfrm>
          <a:prstGeom prst="rect">
            <a:avLst/>
          </a:prstGeom>
        </p:spPr>
        <p:txBody>
          <a:bodyPr lIns="0" tIns="0" rIns="0" bIns="0" rtlCol="0" anchor="t">
            <a:spAutoFit/>
          </a:bodyPr>
          <a:lstStyle/>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Airlines: better information with higher administration cost.</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Airports: improved planning with high cost of integration.</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SITA: increased the role of neutral operators.</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Passengers: the indirect benefits achieved by means of greater clarity of information.</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Trade Associations and Regulators.</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Technological and integration partners.</a:t>
            </a:r>
          </a:p>
          <a:p>
            <a:pPr marL="457200" indent="-457200">
              <a:lnSpc>
                <a:spcPts val="5880"/>
              </a:lnSpc>
              <a:buFont typeface="Arial" panose="020B0604020202020204" pitchFamily="34" charset="0"/>
              <a:buChar char="•"/>
            </a:pPr>
            <a:endParaRPr lang="en-US" sz="3500" dirty="0">
              <a:solidFill>
                <a:schemeClr val="bg1"/>
              </a:solidFill>
              <a:latin typeface="Calibri (MS)" panose="020B0604020202020204" charset="0"/>
              <a:ea typeface="Calibri (MS)"/>
              <a:cs typeface="Calibri (MS)" panose="020B0604020202020204" charset="0"/>
              <a:sym typeface="Calibri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11329108" y="1814210"/>
            <a:ext cx="5840074" cy="7865420"/>
            <a:chOff x="0" y="0"/>
            <a:chExt cx="7786765" cy="10487227"/>
          </a:xfrm>
        </p:grpSpPr>
        <p:sp>
          <p:nvSpPr>
            <p:cNvPr id="5" name="Freeform 5"/>
            <p:cNvSpPr/>
            <p:nvPr/>
          </p:nvSpPr>
          <p:spPr>
            <a:xfrm>
              <a:off x="0" y="0"/>
              <a:ext cx="7786751" cy="10487279"/>
            </a:xfrm>
            <a:custGeom>
              <a:avLst/>
              <a:gdLst/>
              <a:ahLst/>
              <a:cxnLst/>
              <a:rect l="l" t="t" r="r" b="b"/>
              <a:pathLst>
                <a:path w="7786751" h="10487279">
                  <a:moveTo>
                    <a:pt x="0" y="0"/>
                  </a:moveTo>
                  <a:lnTo>
                    <a:pt x="7786751" y="0"/>
                  </a:lnTo>
                  <a:lnTo>
                    <a:pt x="7786751" y="10487279"/>
                  </a:lnTo>
                  <a:lnTo>
                    <a:pt x="0" y="10487279"/>
                  </a:lnTo>
                  <a:lnTo>
                    <a:pt x="0" y="0"/>
                  </a:lnTo>
                  <a:close/>
                </a:path>
              </a:pathLst>
            </a:custGeom>
            <a:blipFill>
              <a:blip r:embed="rId4"/>
              <a:stretch>
                <a:fillRect l="-74" r="-74"/>
              </a:stretch>
            </a:blipFill>
          </p:spPr>
          <p:txBody>
            <a:bodyPr/>
            <a:lstStyle/>
            <a:p>
              <a:endParaRPr lang="en-US"/>
            </a:p>
          </p:txBody>
        </p:sp>
      </p:grpSp>
      <p:sp>
        <p:nvSpPr>
          <p:cNvPr id="6" name="TextBox 6"/>
          <p:cNvSpPr txBox="1"/>
          <p:nvPr/>
        </p:nvSpPr>
        <p:spPr>
          <a:xfrm>
            <a:off x="426866" y="20003"/>
            <a:ext cx="17861134" cy="1385672"/>
          </a:xfrm>
          <a:prstGeom prst="rect">
            <a:avLst/>
          </a:prstGeom>
        </p:spPr>
        <p:txBody>
          <a:bodyPr lIns="0" tIns="0" rIns="0" bIns="0" rtlCol="0" anchor="t">
            <a:spAutoFit/>
          </a:bodyPr>
          <a:lstStyle/>
          <a:p>
            <a:pPr algn="l">
              <a:lnSpc>
                <a:spcPts val="10072"/>
              </a:lnSpc>
            </a:pPr>
            <a:r>
              <a:rPr lang="en-US" sz="7298" b="1">
                <a:solidFill>
                  <a:srgbClr val="FFFFFF"/>
                </a:solidFill>
                <a:latin typeface="Calibri (MS) Bold"/>
                <a:ea typeface="Calibri (MS) Bold"/>
                <a:cs typeface="Calibri (MS) Bold"/>
                <a:sym typeface="Calibri (MS) Bold"/>
              </a:rPr>
              <a:t>Causes of Implementation Challenges</a:t>
            </a:r>
          </a:p>
        </p:txBody>
      </p:sp>
      <p:sp>
        <p:nvSpPr>
          <p:cNvPr id="7" name="TextBox 7"/>
          <p:cNvSpPr txBox="1"/>
          <p:nvPr/>
        </p:nvSpPr>
        <p:spPr>
          <a:xfrm>
            <a:off x="426866" y="2015858"/>
            <a:ext cx="8225812" cy="6738896"/>
          </a:xfrm>
          <a:prstGeom prst="rect">
            <a:avLst/>
          </a:prstGeom>
        </p:spPr>
        <p:txBody>
          <a:bodyPr lIns="0" tIns="0" rIns="0" bIns="0" rtlCol="0" anchor="t">
            <a:spAutoFit/>
          </a:bodyPr>
          <a:lstStyle/>
          <a:p>
            <a:pPr algn="just">
              <a:lnSpc>
                <a:spcPts val="5880"/>
              </a:lnSpc>
            </a:pPr>
            <a:endParaRPr dirty="0"/>
          </a:p>
          <a:p>
            <a:pPr algn="just">
              <a:lnSpc>
                <a:spcPts val="5880"/>
              </a:lnSpc>
            </a:pPr>
            <a:r>
              <a:rPr lang="en-US" sz="3500" dirty="0">
                <a:solidFill>
                  <a:srgbClr val="FFFFFF"/>
                </a:solidFill>
                <a:latin typeface="Calibri (MS)"/>
                <a:ea typeface="Calibri (MS)"/>
                <a:cs typeface="Calibri (MS)"/>
                <a:sym typeface="Calibri (MS)"/>
              </a:rPr>
              <a:t>• Unclear governance ownership.</a:t>
            </a:r>
          </a:p>
          <a:p>
            <a:pPr algn="just">
              <a:lnSpc>
                <a:spcPts val="5880"/>
              </a:lnSpc>
            </a:pPr>
            <a:r>
              <a:rPr lang="en-US" sz="3500" dirty="0">
                <a:solidFill>
                  <a:srgbClr val="FFFFFF"/>
                </a:solidFill>
                <a:latin typeface="Calibri (MS)"/>
                <a:ea typeface="Calibri (MS)"/>
                <a:cs typeface="Calibri (MS)"/>
                <a:sym typeface="Calibri (MS)"/>
              </a:rPr>
              <a:t>• Legacy system integration complexity.</a:t>
            </a:r>
          </a:p>
          <a:p>
            <a:pPr algn="just">
              <a:lnSpc>
                <a:spcPts val="5880"/>
              </a:lnSpc>
            </a:pPr>
            <a:r>
              <a:rPr lang="en-US" sz="3500" dirty="0">
                <a:solidFill>
                  <a:srgbClr val="FFFFFF"/>
                </a:solidFill>
                <a:latin typeface="Calibri (MS)"/>
                <a:ea typeface="Calibri (MS)"/>
                <a:cs typeface="Calibri (MS)"/>
                <a:sym typeface="Calibri (MS)"/>
              </a:rPr>
              <a:t>• Smart contract upgrade difficulty.</a:t>
            </a:r>
          </a:p>
          <a:p>
            <a:pPr algn="just">
              <a:lnSpc>
                <a:spcPts val="5880"/>
              </a:lnSpc>
            </a:pPr>
            <a:r>
              <a:rPr lang="en-US" sz="3500" dirty="0">
                <a:solidFill>
                  <a:srgbClr val="FFFFFF"/>
                </a:solidFill>
                <a:latin typeface="Calibri (MS)"/>
                <a:ea typeface="Calibri (MS)"/>
                <a:cs typeface="Calibri (MS)"/>
                <a:sym typeface="Calibri (MS)"/>
              </a:rPr>
              <a:t>• Privacy and regulatory constraints.</a:t>
            </a:r>
          </a:p>
          <a:p>
            <a:pPr algn="just">
              <a:lnSpc>
                <a:spcPts val="5880"/>
              </a:lnSpc>
            </a:pPr>
            <a:r>
              <a:rPr lang="en-US" sz="3500" dirty="0">
                <a:solidFill>
                  <a:srgbClr val="FFFFFF"/>
                </a:solidFill>
                <a:latin typeface="Calibri (MS)"/>
                <a:ea typeface="Calibri (MS)"/>
                <a:cs typeface="Calibri (MS)"/>
                <a:sym typeface="Calibri (MS)"/>
              </a:rPr>
              <a:t>• Scalability limitations.</a:t>
            </a:r>
          </a:p>
          <a:p>
            <a:pPr algn="just">
              <a:lnSpc>
                <a:spcPts val="5880"/>
              </a:lnSpc>
            </a:pPr>
            <a:r>
              <a:rPr lang="en-US" sz="3500" dirty="0">
                <a:solidFill>
                  <a:srgbClr val="FFFFFF"/>
                </a:solidFill>
                <a:latin typeface="Calibri (MS)"/>
                <a:ea typeface="Calibri (MS)"/>
                <a:cs typeface="Calibri (MS)"/>
                <a:sym typeface="Calibri (MS)"/>
              </a:rPr>
              <a:t>• Gaps in standardization and interoperability</a:t>
            </a:r>
          </a:p>
          <a:p>
            <a:pPr algn="just">
              <a:lnSpc>
                <a:spcPts val="5880"/>
              </a:lnSpc>
            </a:pPr>
            <a:r>
              <a:rPr lang="en-US" sz="3500" dirty="0">
                <a:solidFill>
                  <a:srgbClr val="FFFFFF"/>
                </a:solidFill>
                <a:latin typeface="Calibri (MS)"/>
                <a:ea typeface="Calibri (MS)"/>
                <a:cs typeface="Calibri (MS)"/>
                <a:sym typeface="Calibri (MS)"/>
              </a:rPr>
              <a:t>• Uncertain business case and cost-benefit</a:t>
            </a:r>
          </a:p>
          <a:p>
            <a:pPr algn="just">
              <a:lnSpc>
                <a:spcPts val="5880"/>
              </a:lnSpc>
            </a:pPr>
            <a:r>
              <a:rPr lang="en-US" sz="3500" dirty="0">
                <a:solidFill>
                  <a:srgbClr val="FFFFFF"/>
                </a:solidFill>
                <a:latin typeface="Calibri (MS)"/>
                <a:ea typeface="Calibri (MS)"/>
                <a:cs typeface="Calibri (MS)"/>
                <a:sym typeface="Calibri (MS)"/>
              </a:rPr>
              <a:t>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10414727" y="2019306"/>
            <a:ext cx="7863748" cy="7238994"/>
            <a:chOff x="0" y="0"/>
            <a:chExt cx="10484997" cy="9651992"/>
          </a:xfrm>
        </p:grpSpPr>
        <p:sp>
          <p:nvSpPr>
            <p:cNvPr id="5" name="Freeform 5"/>
            <p:cNvSpPr/>
            <p:nvPr/>
          </p:nvSpPr>
          <p:spPr>
            <a:xfrm>
              <a:off x="0" y="0"/>
              <a:ext cx="10484993" cy="9652000"/>
            </a:xfrm>
            <a:custGeom>
              <a:avLst/>
              <a:gdLst/>
              <a:ahLst/>
              <a:cxnLst/>
              <a:rect l="l" t="t" r="r" b="b"/>
              <a:pathLst>
                <a:path w="10484993" h="9652000">
                  <a:moveTo>
                    <a:pt x="0" y="0"/>
                  </a:moveTo>
                  <a:lnTo>
                    <a:pt x="10484993" y="0"/>
                  </a:lnTo>
                  <a:lnTo>
                    <a:pt x="10484993" y="9652000"/>
                  </a:lnTo>
                  <a:lnTo>
                    <a:pt x="0" y="9652000"/>
                  </a:lnTo>
                  <a:lnTo>
                    <a:pt x="0" y="0"/>
                  </a:lnTo>
                  <a:close/>
                </a:path>
              </a:pathLst>
            </a:custGeom>
            <a:blipFill>
              <a:blip r:embed="rId4"/>
              <a:stretch>
                <a:fillRect/>
              </a:stretch>
            </a:blipFill>
          </p:spPr>
          <p:txBody>
            <a:bodyPr/>
            <a:lstStyle/>
            <a:p>
              <a:endParaRPr lang="en-US"/>
            </a:p>
          </p:txBody>
        </p:sp>
      </p:grpSp>
      <p:sp>
        <p:nvSpPr>
          <p:cNvPr id="6" name="TextBox 6"/>
          <p:cNvSpPr txBox="1"/>
          <p:nvPr/>
        </p:nvSpPr>
        <p:spPr>
          <a:xfrm>
            <a:off x="426866" y="20003"/>
            <a:ext cx="17861134" cy="1385672"/>
          </a:xfrm>
          <a:prstGeom prst="rect">
            <a:avLst/>
          </a:prstGeom>
        </p:spPr>
        <p:txBody>
          <a:bodyPr lIns="0" tIns="0" rIns="0" bIns="0" rtlCol="0" anchor="t">
            <a:spAutoFit/>
          </a:bodyPr>
          <a:lstStyle/>
          <a:p>
            <a:pPr algn="l">
              <a:lnSpc>
                <a:spcPts val="10072"/>
              </a:lnSpc>
            </a:pPr>
            <a:r>
              <a:rPr lang="en-US" sz="7298" b="1">
                <a:solidFill>
                  <a:srgbClr val="FFFFFF"/>
                </a:solidFill>
                <a:latin typeface="Calibri (MS) Bold"/>
                <a:ea typeface="Calibri (MS) Bold"/>
                <a:cs typeface="Calibri (MS) Bold"/>
                <a:sym typeface="Calibri (MS) Bold"/>
              </a:rPr>
              <a:t>Contextual Reasons for Failure to Scale</a:t>
            </a:r>
          </a:p>
        </p:txBody>
      </p:sp>
      <p:sp>
        <p:nvSpPr>
          <p:cNvPr id="7" name="TextBox 7"/>
          <p:cNvSpPr txBox="1"/>
          <p:nvPr/>
        </p:nvSpPr>
        <p:spPr>
          <a:xfrm>
            <a:off x="426866" y="2301608"/>
            <a:ext cx="8930567" cy="7540526"/>
          </a:xfrm>
          <a:prstGeom prst="rect">
            <a:avLst/>
          </a:prstGeom>
        </p:spPr>
        <p:txBody>
          <a:bodyPr lIns="0" tIns="0" rIns="0" bIns="0" rtlCol="0" anchor="t">
            <a:spAutoFit/>
          </a:bodyPr>
          <a:lstStyle/>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Divided and risk-averse aviation industry.</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The complexity of cross-border legal and liability.</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Poor incentives for sharing data.</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No hegemonic industry requirement.</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The preeminence of short-term operating priorities.</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Lack of </a:t>
            </a:r>
            <a:r>
              <a:rPr lang="en-US" sz="3500" dirty="0" err="1">
                <a:solidFill>
                  <a:schemeClr val="bg1"/>
                </a:solidFill>
                <a:latin typeface="Calibri (MS)" panose="020B0604020202020204" charset="0"/>
                <a:cs typeface="Calibri (MS)" panose="020B0604020202020204" charset="0"/>
              </a:rPr>
              <a:t>standardised</a:t>
            </a:r>
            <a:r>
              <a:rPr lang="en-US" sz="3500" dirty="0">
                <a:solidFill>
                  <a:schemeClr val="bg1"/>
                </a:solidFill>
                <a:latin typeface="Calibri (MS)" panose="020B0604020202020204" charset="0"/>
                <a:cs typeface="Calibri (MS)" panose="020B0604020202020204" charset="0"/>
              </a:rPr>
              <a:t> technical and data specifications.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11947032" y="-737411"/>
            <a:ext cx="6774932" cy="11004408"/>
            <a:chOff x="0" y="0"/>
            <a:chExt cx="9033243" cy="16141683"/>
          </a:xfrm>
        </p:grpSpPr>
        <p:sp>
          <p:nvSpPr>
            <p:cNvPr id="5" name="Freeform 5"/>
            <p:cNvSpPr/>
            <p:nvPr/>
          </p:nvSpPr>
          <p:spPr>
            <a:xfrm>
              <a:off x="0" y="0"/>
              <a:ext cx="9033256" cy="16141700"/>
            </a:xfrm>
            <a:custGeom>
              <a:avLst/>
              <a:gdLst/>
              <a:ahLst/>
              <a:cxnLst/>
              <a:rect l="l" t="t" r="r" b="b"/>
              <a:pathLst>
                <a:path w="9033256" h="16141700">
                  <a:moveTo>
                    <a:pt x="0" y="0"/>
                  </a:moveTo>
                  <a:lnTo>
                    <a:pt x="9033256" y="0"/>
                  </a:lnTo>
                  <a:lnTo>
                    <a:pt x="9033256" y="16141700"/>
                  </a:lnTo>
                  <a:lnTo>
                    <a:pt x="0" y="16141700"/>
                  </a:lnTo>
                  <a:lnTo>
                    <a:pt x="0" y="0"/>
                  </a:lnTo>
                  <a:close/>
                </a:path>
              </a:pathLst>
            </a:custGeom>
            <a:blipFill>
              <a:blip r:embed="rId4"/>
              <a:stretch>
                <a:fillRect l="-9563" r="-9563"/>
              </a:stretch>
            </a:blipFill>
          </p:spPr>
          <p:txBody>
            <a:bodyPr/>
            <a:lstStyle/>
            <a:p>
              <a:endParaRPr lang="en-US"/>
            </a:p>
          </p:txBody>
        </p:sp>
      </p:grpSp>
      <p:sp>
        <p:nvSpPr>
          <p:cNvPr id="6" name="TextBox 6"/>
          <p:cNvSpPr txBox="1"/>
          <p:nvPr/>
        </p:nvSpPr>
        <p:spPr>
          <a:xfrm>
            <a:off x="426866" y="20003"/>
            <a:ext cx="17231591" cy="2662022"/>
          </a:xfrm>
          <a:prstGeom prst="rect">
            <a:avLst/>
          </a:prstGeom>
        </p:spPr>
        <p:txBody>
          <a:bodyPr lIns="0" tIns="0" rIns="0" bIns="0" rtlCol="0" anchor="t">
            <a:spAutoFit/>
          </a:bodyPr>
          <a:lstStyle/>
          <a:p>
            <a:pPr algn="l">
              <a:lnSpc>
                <a:spcPts val="10072"/>
              </a:lnSpc>
            </a:pPr>
            <a:r>
              <a:rPr lang="en-US" sz="7298" b="1">
                <a:solidFill>
                  <a:srgbClr val="000000"/>
                </a:solidFill>
                <a:latin typeface="Calibri (MS) Bold"/>
                <a:ea typeface="Calibri (MS) Bold"/>
                <a:cs typeface="Calibri (MS) Bold"/>
                <a:sym typeface="Calibri (MS) Bold"/>
              </a:rPr>
              <a:t>Comparison: Lufthansa Blockchain </a:t>
            </a:r>
          </a:p>
          <a:p>
            <a:pPr algn="l">
              <a:lnSpc>
                <a:spcPts val="10072"/>
              </a:lnSpc>
            </a:pPr>
            <a:r>
              <a:rPr lang="en-US" sz="7298" b="1">
                <a:solidFill>
                  <a:srgbClr val="000000"/>
                </a:solidFill>
                <a:latin typeface="Calibri (MS) Bold"/>
                <a:ea typeface="Calibri (MS) Bold"/>
                <a:cs typeface="Calibri (MS) Bold"/>
                <a:sym typeface="Calibri (MS) Bold"/>
              </a:rPr>
              <a:t>Initiatives</a:t>
            </a:r>
          </a:p>
        </p:txBody>
      </p:sp>
      <p:sp>
        <p:nvSpPr>
          <p:cNvPr id="7" name="TextBox 7"/>
          <p:cNvSpPr txBox="1"/>
          <p:nvPr/>
        </p:nvSpPr>
        <p:spPr>
          <a:xfrm>
            <a:off x="426866" y="2301608"/>
            <a:ext cx="8930567" cy="6463308"/>
          </a:xfrm>
          <a:prstGeom prst="rect">
            <a:avLst/>
          </a:prstGeom>
        </p:spPr>
        <p:txBody>
          <a:bodyPr lIns="0" tIns="0" rIns="0" bIns="0" rtlCol="0" anchor="t">
            <a:spAutoFit/>
          </a:bodyPr>
          <a:lstStyle/>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Like scaling and adoption issues.</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Target ticketing and loyalty cases.</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Fewer operational requirements than </a:t>
            </a:r>
            <a:r>
              <a:rPr lang="en-US" sz="3500" dirty="0" err="1">
                <a:solidFill>
                  <a:schemeClr val="bg1"/>
                </a:solidFill>
                <a:latin typeface="Calibri (MS)" panose="020B0604020202020204" charset="0"/>
                <a:cs typeface="Calibri (MS)" panose="020B0604020202020204" charset="0"/>
              </a:rPr>
              <a:t>FlightChain</a:t>
            </a:r>
            <a:r>
              <a:rPr lang="en-US" sz="3500" dirty="0">
                <a:solidFill>
                  <a:schemeClr val="bg1"/>
                </a:solidFill>
                <a:latin typeface="Calibri (MS)" panose="020B0604020202020204" charset="0"/>
                <a:cs typeface="Calibri (MS)" panose="020B0604020202020204" charset="0"/>
              </a:rPr>
              <a:t>.</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Enforces value of clear business case.</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Greater Commercial Orientation.</a:t>
            </a:r>
          </a:p>
          <a:p>
            <a:pPr marL="457200" lvl="0" indent="-457200">
              <a:buFont typeface="Arial" panose="020B0604020202020204" pitchFamily="34" charset="0"/>
              <a:buChar char="•"/>
            </a:pPr>
            <a:endParaRPr lang="en-US" sz="3500" dirty="0">
              <a:solidFill>
                <a:schemeClr val="bg1"/>
              </a:solidFill>
              <a:latin typeface="Calibri (MS)" panose="020B0604020202020204" charset="0"/>
              <a:cs typeface="Calibri (MS)" panose="020B0604020202020204" charset="0"/>
            </a:endParaRPr>
          </a:p>
          <a:p>
            <a:pPr marL="457200" lvl="0" indent="-457200">
              <a:buFont typeface="Arial" panose="020B0604020202020204" pitchFamily="34" charset="0"/>
              <a:buChar char="•"/>
            </a:pPr>
            <a:r>
              <a:rPr lang="en-US" sz="3500" dirty="0">
                <a:solidFill>
                  <a:schemeClr val="bg1"/>
                </a:solidFill>
                <a:latin typeface="Calibri (MS)" panose="020B0604020202020204" charset="0"/>
                <a:cs typeface="Calibri (MS)" panose="020B0604020202020204" charset="0"/>
              </a:rPr>
              <a:t>Start-up Collaboration at the Ecosystem Level.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10287000" y="1989196"/>
            <a:ext cx="8001000" cy="6308607"/>
            <a:chOff x="0" y="0"/>
            <a:chExt cx="10668000" cy="8411476"/>
          </a:xfrm>
        </p:grpSpPr>
        <p:sp>
          <p:nvSpPr>
            <p:cNvPr id="5" name="Freeform 5"/>
            <p:cNvSpPr/>
            <p:nvPr/>
          </p:nvSpPr>
          <p:spPr>
            <a:xfrm>
              <a:off x="0" y="0"/>
              <a:ext cx="10668000" cy="8411464"/>
            </a:xfrm>
            <a:custGeom>
              <a:avLst/>
              <a:gdLst/>
              <a:ahLst/>
              <a:cxnLst/>
              <a:rect l="l" t="t" r="r" b="b"/>
              <a:pathLst>
                <a:path w="10668000" h="8411464">
                  <a:moveTo>
                    <a:pt x="0" y="0"/>
                  </a:moveTo>
                  <a:lnTo>
                    <a:pt x="10668000" y="0"/>
                  </a:lnTo>
                  <a:lnTo>
                    <a:pt x="10668000" y="8411464"/>
                  </a:lnTo>
                  <a:lnTo>
                    <a:pt x="0" y="8411464"/>
                  </a:lnTo>
                  <a:lnTo>
                    <a:pt x="0" y="0"/>
                  </a:lnTo>
                  <a:close/>
                </a:path>
              </a:pathLst>
            </a:custGeom>
            <a:blipFill>
              <a:blip r:embed="rId4"/>
              <a:stretch>
                <a:fillRect l="-2565" r="-2565"/>
              </a:stretch>
            </a:blipFill>
          </p:spPr>
          <p:txBody>
            <a:bodyPr/>
            <a:lstStyle/>
            <a:p>
              <a:endParaRPr lang="en-US"/>
            </a:p>
          </p:txBody>
        </p:sp>
      </p:grpSp>
      <p:sp>
        <p:nvSpPr>
          <p:cNvPr id="6" name="TextBox 6"/>
          <p:cNvSpPr txBox="1"/>
          <p:nvPr/>
        </p:nvSpPr>
        <p:spPr>
          <a:xfrm>
            <a:off x="426866" y="20003"/>
            <a:ext cx="14687658" cy="1385672"/>
          </a:xfrm>
          <a:prstGeom prst="rect">
            <a:avLst/>
          </a:prstGeom>
        </p:spPr>
        <p:txBody>
          <a:bodyPr lIns="0" tIns="0" rIns="0" bIns="0" rtlCol="0" anchor="t">
            <a:spAutoFit/>
          </a:bodyPr>
          <a:lstStyle/>
          <a:p>
            <a:pPr algn="l">
              <a:lnSpc>
                <a:spcPts val="10072"/>
              </a:lnSpc>
            </a:pPr>
            <a:r>
              <a:rPr lang="en-US" sz="7298" b="1">
                <a:solidFill>
                  <a:srgbClr val="FFFFFF"/>
                </a:solidFill>
                <a:latin typeface="Calibri (MS) Bold"/>
                <a:ea typeface="Calibri (MS) Bold"/>
                <a:cs typeface="Calibri (MS) Bold"/>
                <a:sym typeface="Calibri (MS) Bold"/>
              </a:rPr>
              <a:t>Comparison: IATA One Record</a:t>
            </a:r>
          </a:p>
        </p:txBody>
      </p:sp>
      <p:sp>
        <p:nvSpPr>
          <p:cNvPr id="7" name="TextBox 7"/>
          <p:cNvSpPr txBox="1"/>
          <p:nvPr/>
        </p:nvSpPr>
        <p:spPr>
          <a:xfrm>
            <a:off x="426866" y="1930133"/>
            <a:ext cx="8225812" cy="6771084"/>
          </a:xfrm>
          <a:prstGeom prst="rect">
            <a:avLst/>
          </a:prstGeom>
        </p:spPr>
        <p:txBody>
          <a:bodyPr lIns="0" tIns="0" rIns="0" bIns="0" rtlCol="0" anchor="t">
            <a:spAutoFit/>
          </a:bodyPr>
          <a:lstStyle/>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Standards-first approach.</a:t>
            </a:r>
          </a:p>
          <a:p>
            <a:pPr marL="571500" lvl="0" indent="-571500">
              <a:buFont typeface="Arial" panose="020B0604020202020204" pitchFamily="34" charset="0"/>
              <a:buChar char="•"/>
            </a:pPr>
            <a:endParaRPr lang="en-US" sz="4000" dirty="0">
              <a:solidFill>
                <a:schemeClr val="bg1"/>
              </a:solidFill>
              <a:latin typeface="Calibri (MS)" panose="020B0604020202020204" charset="0"/>
              <a:cs typeface="Calibri (MS)" panose="020B0604020202020204" charset="0"/>
            </a:endParaRPr>
          </a:p>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Blockchain is </a:t>
            </a:r>
            <a:r>
              <a:rPr lang="en-US" sz="4000" dirty="0" err="1">
                <a:solidFill>
                  <a:schemeClr val="bg1"/>
                </a:solidFill>
                <a:latin typeface="Calibri (MS)" panose="020B0604020202020204" charset="0"/>
                <a:cs typeface="Calibri (MS)" panose="020B0604020202020204" charset="0"/>
              </a:rPr>
              <a:t>decentralised</a:t>
            </a:r>
            <a:r>
              <a:rPr lang="en-US" sz="4000" dirty="0">
                <a:solidFill>
                  <a:schemeClr val="bg1"/>
                </a:solidFill>
                <a:latin typeface="Calibri (MS)" panose="020B0604020202020204" charset="0"/>
                <a:cs typeface="Calibri (MS)" panose="020B0604020202020204" charset="0"/>
              </a:rPr>
              <a:t> but non-</a:t>
            </a:r>
            <a:r>
              <a:rPr lang="en-US" sz="4000" dirty="0" err="1">
                <a:solidFill>
                  <a:schemeClr val="bg1"/>
                </a:solidFill>
                <a:latin typeface="Calibri (MS)" panose="020B0604020202020204" charset="0"/>
                <a:cs typeface="Calibri (MS)" panose="020B0604020202020204" charset="0"/>
              </a:rPr>
              <a:t>centralised</a:t>
            </a:r>
            <a:r>
              <a:rPr lang="en-US" sz="4000" dirty="0">
                <a:solidFill>
                  <a:schemeClr val="bg1"/>
                </a:solidFill>
                <a:latin typeface="Calibri (MS)" panose="020B0604020202020204" charset="0"/>
                <a:cs typeface="Calibri (MS)" panose="020B0604020202020204" charset="0"/>
              </a:rPr>
              <a:t>.</a:t>
            </a:r>
          </a:p>
          <a:p>
            <a:pPr marL="571500" lvl="0" indent="-571500">
              <a:buFont typeface="Arial" panose="020B0604020202020204" pitchFamily="34" charset="0"/>
              <a:buChar char="•"/>
            </a:pPr>
            <a:endParaRPr lang="en-US" sz="4000" dirty="0">
              <a:solidFill>
                <a:schemeClr val="bg1"/>
              </a:solidFill>
              <a:latin typeface="Calibri (MS)" panose="020B0604020202020204" charset="0"/>
              <a:cs typeface="Calibri (MS)" panose="020B0604020202020204" charset="0"/>
            </a:endParaRPr>
          </a:p>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Clear governance via IATA.</a:t>
            </a:r>
          </a:p>
          <a:p>
            <a:pPr marL="571500" lvl="0" indent="-571500">
              <a:buFont typeface="Arial" panose="020B0604020202020204" pitchFamily="34" charset="0"/>
              <a:buChar char="•"/>
            </a:pPr>
            <a:endParaRPr lang="en-US" sz="4000" dirty="0">
              <a:solidFill>
                <a:schemeClr val="bg1"/>
              </a:solidFill>
              <a:latin typeface="Calibri (MS)" panose="020B0604020202020204" charset="0"/>
              <a:cs typeface="Calibri (MS)" panose="020B0604020202020204" charset="0"/>
            </a:endParaRPr>
          </a:p>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Preference to incremental change in the industry.</a:t>
            </a:r>
          </a:p>
          <a:p>
            <a:pPr marL="571500" lvl="0" indent="-571500">
              <a:buFont typeface="Arial" panose="020B0604020202020204" pitchFamily="34" charset="0"/>
              <a:buChar char="•"/>
            </a:pPr>
            <a:endParaRPr lang="en-US" sz="4000" dirty="0">
              <a:solidFill>
                <a:schemeClr val="bg1"/>
              </a:solidFill>
              <a:latin typeface="Calibri (MS)" panose="020B0604020202020204" charset="0"/>
              <a:cs typeface="Calibri (MS)" panose="020B0604020202020204" charset="0"/>
            </a:endParaRPr>
          </a:p>
          <a:p>
            <a:pPr marL="571500" lvl="0" indent="-5715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Data–Model Unification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10335022" y="2642034"/>
            <a:ext cx="7972028" cy="7644966"/>
            <a:chOff x="0" y="0"/>
            <a:chExt cx="10629371" cy="10193288"/>
          </a:xfrm>
        </p:grpSpPr>
        <p:sp>
          <p:nvSpPr>
            <p:cNvPr id="5" name="Freeform 5"/>
            <p:cNvSpPr/>
            <p:nvPr/>
          </p:nvSpPr>
          <p:spPr>
            <a:xfrm>
              <a:off x="0" y="0"/>
              <a:ext cx="10629392" cy="10193274"/>
            </a:xfrm>
            <a:custGeom>
              <a:avLst/>
              <a:gdLst/>
              <a:ahLst/>
              <a:cxnLst/>
              <a:rect l="l" t="t" r="r" b="b"/>
              <a:pathLst>
                <a:path w="10629392" h="10193274">
                  <a:moveTo>
                    <a:pt x="0" y="0"/>
                  </a:moveTo>
                  <a:lnTo>
                    <a:pt x="10629392" y="0"/>
                  </a:lnTo>
                  <a:lnTo>
                    <a:pt x="10629392" y="10193274"/>
                  </a:lnTo>
                  <a:lnTo>
                    <a:pt x="0" y="10193274"/>
                  </a:lnTo>
                  <a:lnTo>
                    <a:pt x="0" y="0"/>
                  </a:lnTo>
                  <a:close/>
                </a:path>
              </a:pathLst>
            </a:custGeom>
            <a:blipFill>
              <a:blip r:embed="rId4"/>
              <a:stretch>
                <a:fillRect t="-2139" b="-2139"/>
              </a:stretch>
            </a:blipFill>
          </p:spPr>
          <p:txBody>
            <a:bodyPr/>
            <a:lstStyle/>
            <a:p>
              <a:endParaRPr lang="en-US"/>
            </a:p>
          </p:txBody>
        </p:sp>
      </p:grpSp>
      <p:sp>
        <p:nvSpPr>
          <p:cNvPr id="6" name="TextBox 6"/>
          <p:cNvSpPr txBox="1"/>
          <p:nvPr/>
        </p:nvSpPr>
        <p:spPr>
          <a:xfrm>
            <a:off x="426866" y="20003"/>
            <a:ext cx="17512471" cy="1218475"/>
          </a:xfrm>
          <a:prstGeom prst="rect">
            <a:avLst/>
          </a:prstGeom>
        </p:spPr>
        <p:txBody>
          <a:bodyPr lIns="0" tIns="0" rIns="0" bIns="0" rtlCol="0" anchor="t">
            <a:spAutoFit/>
          </a:bodyPr>
          <a:lstStyle/>
          <a:p>
            <a:pPr algn="l">
              <a:lnSpc>
                <a:spcPts val="10072"/>
              </a:lnSpc>
            </a:pPr>
            <a:r>
              <a:rPr lang="en-US" sz="7298" b="1" dirty="0">
                <a:solidFill>
                  <a:schemeClr val="bg1"/>
                </a:solidFill>
                <a:latin typeface="Calibri (MS) Bold"/>
                <a:ea typeface="Calibri (MS) Bold"/>
                <a:cs typeface="Calibri (MS) Bold"/>
                <a:sym typeface="Calibri (MS) Bold"/>
              </a:rPr>
              <a:t>What Makes </a:t>
            </a:r>
            <a:r>
              <a:rPr lang="en-US" sz="7298" b="1" dirty="0" err="1">
                <a:solidFill>
                  <a:schemeClr val="bg1"/>
                </a:solidFill>
                <a:latin typeface="Calibri (MS) Bold"/>
                <a:ea typeface="Calibri (MS) Bold"/>
                <a:cs typeface="Calibri (MS) Bold"/>
                <a:sym typeface="Calibri (MS) Bold"/>
              </a:rPr>
              <a:t>FlightChain</a:t>
            </a:r>
            <a:r>
              <a:rPr lang="en-US" sz="7298" b="1" dirty="0">
                <a:solidFill>
                  <a:schemeClr val="bg1"/>
                </a:solidFill>
                <a:latin typeface="Calibri (MS) Bold"/>
                <a:ea typeface="Calibri (MS) Bold"/>
                <a:cs typeface="Calibri (MS) Bold"/>
                <a:sym typeface="Calibri (MS) Bold"/>
              </a:rPr>
              <a:t> Distinctive</a:t>
            </a:r>
          </a:p>
        </p:txBody>
      </p:sp>
      <p:sp>
        <p:nvSpPr>
          <p:cNvPr id="7" name="TextBox 7"/>
          <p:cNvSpPr txBox="1"/>
          <p:nvPr/>
        </p:nvSpPr>
        <p:spPr>
          <a:xfrm>
            <a:off x="426866" y="1699303"/>
            <a:ext cx="8930567" cy="7386638"/>
          </a:xfrm>
          <a:prstGeom prst="rect">
            <a:avLst/>
          </a:prstGeom>
        </p:spPr>
        <p:txBody>
          <a:bodyPr lIns="0" tIns="0" rIns="0" bIns="0" rtlCol="0" anchor="t">
            <a:spAutoFit/>
          </a:bodyPr>
          <a:lstStyle/>
          <a:p>
            <a:pPr marL="457200" lvl="0" indent="-4572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Arbitration of operational data in real-time.</a:t>
            </a:r>
          </a:p>
          <a:p>
            <a:pPr marL="457200" lvl="0" indent="-4572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Massive processing of 2M+ updates of pilots.</a:t>
            </a:r>
          </a:p>
          <a:p>
            <a:pPr marL="457200" lvl="0" indent="-4572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Governance issues are an early issue.</a:t>
            </a:r>
          </a:p>
          <a:p>
            <a:pPr marL="457200" lvl="0" indent="-4572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More applications of blockchain outside the financial domain.</a:t>
            </a:r>
          </a:p>
          <a:p>
            <a:pPr marL="457200" lvl="0" indent="-4572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The logic of smart contracts can be used to solve flight states.</a:t>
            </a:r>
          </a:p>
          <a:p>
            <a:pPr marL="457200" lvl="0" indent="-4572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Common authority time in disruptions. </a:t>
            </a:r>
          </a:p>
          <a:p>
            <a:pPr marL="457200" lvl="0" indent="-457200">
              <a:buFont typeface="Arial" panose="020B0604020202020204" pitchFamily="34" charset="0"/>
              <a:buChar char="•"/>
            </a:pPr>
            <a:r>
              <a:rPr lang="en-US" sz="4000" dirty="0">
                <a:solidFill>
                  <a:schemeClr val="bg1"/>
                </a:solidFill>
                <a:latin typeface="Calibri (MS)" panose="020B0604020202020204" charset="0"/>
                <a:cs typeface="Calibri (MS)" panose="020B0604020202020204" charset="0"/>
              </a:rPr>
              <a:t>Illustrated the unsuitability of blockchain to rapidly changing information.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11554127" y="2057400"/>
            <a:ext cx="5317974" cy="7905096"/>
          </a:xfrm>
          <a:custGeom>
            <a:avLst/>
            <a:gdLst/>
            <a:ahLst/>
            <a:cxnLst/>
            <a:rect l="l" t="t" r="r" b="b"/>
            <a:pathLst>
              <a:path w="5317974" h="7905096">
                <a:moveTo>
                  <a:pt x="0" y="0"/>
                </a:moveTo>
                <a:lnTo>
                  <a:pt x="5317974" y="0"/>
                </a:lnTo>
                <a:lnTo>
                  <a:pt x="5317974" y="7905096"/>
                </a:lnTo>
                <a:lnTo>
                  <a:pt x="0" y="7905096"/>
                </a:lnTo>
                <a:lnTo>
                  <a:pt x="0" y="0"/>
                </a:lnTo>
                <a:close/>
              </a:path>
            </a:pathLst>
          </a:custGeom>
          <a:blipFill>
            <a:blip r:embed="rId4">
              <a:extLst>
                <a:ext uri="{96DAC541-7B7A-43D3-8B79-37D633B846F1}">
                  <asvg:svgBlip xmlns:asvg="http://schemas.microsoft.com/office/drawing/2016/SVG/main" r:embed="rId5"/>
                </a:ext>
              </a:extLst>
            </a:blip>
            <a:stretch>
              <a:fillRect t="-3" b="-3"/>
            </a:stretch>
          </a:blipFill>
        </p:spPr>
        <p:txBody>
          <a:bodyPr/>
          <a:lstStyle/>
          <a:p>
            <a:endParaRPr lang="en-US"/>
          </a:p>
        </p:txBody>
      </p:sp>
      <p:sp>
        <p:nvSpPr>
          <p:cNvPr id="5" name="TextBox 5"/>
          <p:cNvSpPr txBox="1"/>
          <p:nvPr/>
        </p:nvSpPr>
        <p:spPr>
          <a:xfrm>
            <a:off x="426866" y="20003"/>
            <a:ext cx="8046136" cy="1385672"/>
          </a:xfrm>
          <a:prstGeom prst="rect">
            <a:avLst/>
          </a:prstGeom>
        </p:spPr>
        <p:txBody>
          <a:bodyPr lIns="0" tIns="0" rIns="0" bIns="0" rtlCol="0" anchor="t">
            <a:spAutoFit/>
          </a:bodyPr>
          <a:lstStyle/>
          <a:p>
            <a:pPr algn="l">
              <a:lnSpc>
                <a:spcPts val="10072"/>
              </a:lnSpc>
            </a:pPr>
            <a:r>
              <a:rPr lang="en-US" sz="7298" b="1" dirty="0">
                <a:solidFill>
                  <a:srgbClr val="FFFFFF"/>
                </a:solidFill>
                <a:latin typeface="Calibri (MS) Bold"/>
                <a:ea typeface="Calibri (MS) Bold"/>
                <a:cs typeface="Calibri (MS) Bold"/>
                <a:sym typeface="Calibri (MS) Bold"/>
              </a:rPr>
              <a:t>Broader Lessons</a:t>
            </a:r>
          </a:p>
        </p:txBody>
      </p:sp>
      <p:sp>
        <p:nvSpPr>
          <p:cNvPr id="6" name="TextBox 6"/>
          <p:cNvSpPr txBox="1"/>
          <p:nvPr/>
        </p:nvSpPr>
        <p:spPr>
          <a:xfrm>
            <a:off x="426866" y="1920608"/>
            <a:ext cx="8945734" cy="6771084"/>
          </a:xfrm>
          <a:prstGeom prst="rect">
            <a:avLst/>
          </a:prstGeom>
        </p:spPr>
        <p:txBody>
          <a:bodyPr wrap="square" lIns="0" tIns="0" rIns="0" bIns="0" rtlCol="0" anchor="t">
            <a:spAutoFit/>
          </a:bodyPr>
          <a:lstStyle/>
          <a:p>
            <a:r>
              <a:rPr lang="en-US" sz="4400" dirty="0">
                <a:solidFill>
                  <a:schemeClr val="bg1"/>
                </a:solidFill>
                <a:latin typeface="Calibri (MS)" panose="020B0604020202020204" charset="0"/>
                <a:cs typeface="Calibri (MS)" panose="020B0604020202020204" charset="0"/>
              </a:rPr>
              <a:t>• Technical capability is not a major issue as compared to governance.</a:t>
            </a:r>
          </a:p>
          <a:p>
            <a:endParaRPr lang="en-US" sz="4400" dirty="0">
              <a:solidFill>
                <a:schemeClr val="bg1"/>
              </a:solidFill>
              <a:latin typeface="Calibri (MS)" panose="020B0604020202020204" charset="0"/>
              <a:cs typeface="Calibri (MS)" panose="020B0604020202020204" charset="0"/>
            </a:endParaRPr>
          </a:p>
          <a:p>
            <a:r>
              <a:rPr lang="en-US" sz="4400" dirty="0">
                <a:solidFill>
                  <a:schemeClr val="bg1"/>
                </a:solidFill>
                <a:latin typeface="Calibri (MS)" panose="020B0604020202020204" charset="0"/>
                <a:cs typeface="Calibri (MS)" panose="020B0604020202020204" charset="0"/>
              </a:rPr>
              <a:t>• Critical interoperability needed.</a:t>
            </a:r>
          </a:p>
          <a:p>
            <a:endParaRPr lang="en-US" sz="4400" dirty="0">
              <a:solidFill>
                <a:schemeClr val="bg1"/>
              </a:solidFill>
              <a:latin typeface="Calibri (MS)" panose="020B0604020202020204" charset="0"/>
              <a:cs typeface="Calibri (MS)" panose="020B0604020202020204" charset="0"/>
            </a:endParaRPr>
          </a:p>
          <a:p>
            <a:r>
              <a:rPr lang="en-US" sz="4400" dirty="0">
                <a:solidFill>
                  <a:schemeClr val="bg1"/>
                </a:solidFill>
                <a:latin typeface="Calibri (MS)" panose="020B0604020202020204" charset="0"/>
                <a:cs typeface="Calibri (MS)" panose="020B0604020202020204" charset="0"/>
              </a:rPr>
              <a:t>• Trust and rewards should be on track.</a:t>
            </a:r>
          </a:p>
          <a:p>
            <a:endParaRPr lang="en-US" sz="4400" dirty="0">
              <a:solidFill>
                <a:schemeClr val="bg1"/>
              </a:solidFill>
              <a:latin typeface="Calibri (MS)" panose="020B0604020202020204" charset="0"/>
              <a:cs typeface="Calibri (MS)" panose="020B0604020202020204" charset="0"/>
            </a:endParaRPr>
          </a:p>
          <a:p>
            <a:r>
              <a:rPr lang="en-US" sz="4400" dirty="0">
                <a:solidFill>
                  <a:schemeClr val="bg1"/>
                </a:solidFill>
                <a:latin typeface="Calibri (MS)" panose="020B0604020202020204" charset="0"/>
                <a:cs typeface="Calibri (MS)" panose="020B0604020202020204" charset="0"/>
              </a:rPr>
              <a:t>• Blockchain must be used in addition to the current systems.</a:t>
            </a:r>
          </a:p>
          <a:p>
            <a:endParaRPr lang="en-US" sz="4400" dirty="0">
              <a:solidFill>
                <a:schemeClr val="bg1"/>
              </a:solidFill>
              <a:latin typeface="Calibri (MS)" panose="020B0604020202020204" charset="0"/>
              <a:ea typeface="Calibri (MS)"/>
              <a:cs typeface="Calibri (MS)" panose="020B0604020202020204" charset="0"/>
              <a:sym typeface="Calibri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grpSp>
        <p:nvGrpSpPr>
          <p:cNvPr id="4" name="Group 4"/>
          <p:cNvGrpSpPr/>
          <p:nvPr/>
        </p:nvGrpSpPr>
        <p:grpSpPr>
          <a:xfrm>
            <a:off x="10078264" y="1028700"/>
            <a:ext cx="7485836" cy="8567480"/>
            <a:chOff x="0" y="0"/>
            <a:chExt cx="9981115" cy="11423307"/>
          </a:xfrm>
        </p:grpSpPr>
        <p:sp>
          <p:nvSpPr>
            <p:cNvPr id="5" name="Freeform 5"/>
            <p:cNvSpPr/>
            <p:nvPr/>
          </p:nvSpPr>
          <p:spPr>
            <a:xfrm>
              <a:off x="0" y="0"/>
              <a:ext cx="9981057" cy="11423269"/>
            </a:xfrm>
            <a:custGeom>
              <a:avLst/>
              <a:gdLst/>
              <a:ahLst/>
              <a:cxnLst/>
              <a:rect l="l" t="t" r="r" b="b"/>
              <a:pathLst>
                <a:path w="9981057" h="11423269">
                  <a:moveTo>
                    <a:pt x="0" y="0"/>
                  </a:moveTo>
                  <a:lnTo>
                    <a:pt x="9981057" y="0"/>
                  </a:lnTo>
                  <a:lnTo>
                    <a:pt x="9981057" y="11423269"/>
                  </a:lnTo>
                  <a:lnTo>
                    <a:pt x="0" y="11423269"/>
                  </a:lnTo>
                  <a:lnTo>
                    <a:pt x="0" y="0"/>
                  </a:lnTo>
                  <a:close/>
                </a:path>
              </a:pathLst>
            </a:custGeom>
            <a:blipFill>
              <a:blip r:embed="rId4">
                <a:alphaModFix amt="71000"/>
              </a:blip>
              <a:stretch>
                <a:fillRect t="-17" b="-17"/>
              </a:stretch>
            </a:blipFill>
          </p:spPr>
          <p:txBody>
            <a:bodyPr/>
            <a:lstStyle/>
            <a:p>
              <a:endParaRPr lang="en-US"/>
            </a:p>
          </p:txBody>
        </p:sp>
      </p:grpSp>
      <p:sp>
        <p:nvSpPr>
          <p:cNvPr id="6" name="TextBox 6"/>
          <p:cNvSpPr txBox="1"/>
          <p:nvPr/>
        </p:nvSpPr>
        <p:spPr>
          <a:xfrm>
            <a:off x="426866" y="20003"/>
            <a:ext cx="9228156" cy="1385672"/>
          </a:xfrm>
          <a:prstGeom prst="rect">
            <a:avLst/>
          </a:prstGeom>
        </p:spPr>
        <p:txBody>
          <a:bodyPr lIns="0" tIns="0" rIns="0" bIns="0" rtlCol="0" anchor="t">
            <a:spAutoFit/>
          </a:bodyPr>
          <a:lstStyle/>
          <a:p>
            <a:pPr algn="l">
              <a:lnSpc>
                <a:spcPts val="10072"/>
              </a:lnSpc>
            </a:pPr>
            <a:r>
              <a:rPr lang="en-US" sz="7298" b="1">
                <a:solidFill>
                  <a:srgbClr val="FFFFFF"/>
                </a:solidFill>
                <a:latin typeface="Calibri (MS) Bold"/>
                <a:ea typeface="Calibri (MS) Bold"/>
                <a:cs typeface="Calibri (MS) Bold"/>
                <a:sym typeface="Calibri (MS) Bold"/>
              </a:rPr>
              <a:t>Recommendations</a:t>
            </a:r>
          </a:p>
        </p:txBody>
      </p:sp>
      <p:sp>
        <p:nvSpPr>
          <p:cNvPr id="7" name="TextBox 7"/>
          <p:cNvSpPr txBox="1"/>
          <p:nvPr/>
        </p:nvSpPr>
        <p:spPr>
          <a:xfrm>
            <a:off x="426866" y="1920608"/>
            <a:ext cx="8717134" cy="7448193"/>
          </a:xfrm>
          <a:prstGeom prst="rect">
            <a:avLst/>
          </a:prstGeom>
        </p:spPr>
        <p:txBody>
          <a:bodyPr wrap="square" lIns="0" tIns="0" rIns="0" bIns="0" rtlCol="0" anchor="t">
            <a:spAutoFit/>
          </a:bodyPr>
          <a:lstStyle/>
          <a:p>
            <a:pPr marL="571500" lvl="0" indent="-571500">
              <a:buFont typeface="Arial" panose="020B0604020202020204" pitchFamily="34" charset="0"/>
              <a:buChar char="•"/>
            </a:pPr>
            <a:r>
              <a:rPr lang="en-US" sz="4400" dirty="0">
                <a:solidFill>
                  <a:schemeClr val="bg1"/>
                </a:solidFill>
              </a:rPr>
              <a:t>Develop cross-industry management.</a:t>
            </a:r>
          </a:p>
          <a:p>
            <a:pPr lvl="0"/>
            <a:endParaRPr lang="en-US" sz="4400" dirty="0">
              <a:solidFill>
                <a:schemeClr val="bg1"/>
              </a:solidFill>
            </a:endParaRPr>
          </a:p>
          <a:p>
            <a:pPr marL="571500" lvl="0" indent="-571500">
              <a:buFont typeface="Arial" panose="020B0604020202020204" pitchFamily="34" charset="0"/>
              <a:buChar char="•"/>
            </a:pPr>
            <a:r>
              <a:rPr lang="en-US" sz="4400" dirty="0">
                <a:solidFill>
                  <a:schemeClr val="bg1"/>
                </a:solidFill>
              </a:rPr>
              <a:t>Make smart contracts One Record Compliant.</a:t>
            </a:r>
          </a:p>
          <a:p>
            <a:pPr lvl="0"/>
            <a:endParaRPr lang="en-US" sz="4400" dirty="0">
              <a:solidFill>
                <a:schemeClr val="bg1"/>
              </a:solidFill>
            </a:endParaRPr>
          </a:p>
          <a:p>
            <a:pPr marL="571500" lvl="0" indent="-571500">
              <a:buFont typeface="Arial" panose="020B0604020202020204" pitchFamily="34" charset="0"/>
              <a:buChar char="•"/>
            </a:pPr>
            <a:r>
              <a:rPr lang="en-US" sz="4400" dirty="0">
                <a:solidFill>
                  <a:schemeClr val="bg1"/>
                </a:solidFill>
              </a:rPr>
              <a:t>Architectures Go hybrid blockchain- API.</a:t>
            </a:r>
          </a:p>
          <a:p>
            <a:pPr lvl="0"/>
            <a:endParaRPr lang="en-US" sz="4400" dirty="0">
              <a:solidFill>
                <a:schemeClr val="bg1"/>
              </a:solidFill>
            </a:endParaRPr>
          </a:p>
          <a:p>
            <a:pPr marL="571500" lvl="0" indent="-571500">
              <a:buFont typeface="Arial" panose="020B0604020202020204" pitchFamily="34" charset="0"/>
              <a:buChar char="•"/>
            </a:pPr>
            <a:r>
              <a:rPr lang="en-US" sz="4400" dirty="0">
                <a:solidFill>
                  <a:schemeClr val="bg1"/>
                </a:solidFill>
              </a:rPr>
              <a:t>Engage regulators during the design.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21245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10811927" y="2343090"/>
            <a:ext cx="6447373" cy="6915210"/>
          </a:xfrm>
          <a:custGeom>
            <a:avLst/>
            <a:gdLst/>
            <a:ahLst/>
            <a:cxnLst/>
            <a:rect l="l" t="t" r="r" b="b"/>
            <a:pathLst>
              <a:path w="6447373" h="6915210">
                <a:moveTo>
                  <a:pt x="0" y="0"/>
                </a:moveTo>
                <a:lnTo>
                  <a:pt x="6447373" y="0"/>
                </a:lnTo>
                <a:lnTo>
                  <a:pt x="6447373" y="6915210"/>
                </a:lnTo>
                <a:lnTo>
                  <a:pt x="0" y="6915210"/>
                </a:lnTo>
                <a:lnTo>
                  <a:pt x="0" y="0"/>
                </a:lnTo>
                <a:close/>
              </a:path>
            </a:pathLst>
          </a:custGeom>
          <a:blipFill>
            <a:blip r:embed="rId4">
              <a:alphaModFix amt="80000"/>
              <a:extLst>
                <a:ext uri="{96DAC541-7B7A-43D3-8B79-37D633B846F1}">
                  <asvg:svgBlip xmlns:asvg="http://schemas.microsoft.com/office/drawing/2016/SVG/main" r:embed="rId5"/>
                </a:ext>
              </a:extLst>
            </a:blip>
            <a:stretch>
              <a:fillRect t="-60" b="-60"/>
            </a:stretch>
          </a:blipFill>
        </p:spPr>
        <p:txBody>
          <a:bodyPr/>
          <a:lstStyle/>
          <a:p>
            <a:endParaRPr lang="en-US"/>
          </a:p>
        </p:txBody>
      </p:sp>
      <p:sp>
        <p:nvSpPr>
          <p:cNvPr id="5" name="TextBox 5"/>
          <p:cNvSpPr txBox="1"/>
          <p:nvPr/>
        </p:nvSpPr>
        <p:spPr>
          <a:xfrm>
            <a:off x="426866" y="20003"/>
            <a:ext cx="16259988" cy="1385672"/>
          </a:xfrm>
          <a:prstGeom prst="rect">
            <a:avLst/>
          </a:prstGeom>
        </p:spPr>
        <p:txBody>
          <a:bodyPr lIns="0" tIns="0" rIns="0" bIns="0" rtlCol="0" anchor="t">
            <a:spAutoFit/>
          </a:bodyPr>
          <a:lstStyle/>
          <a:p>
            <a:pPr algn="l">
              <a:lnSpc>
                <a:spcPts val="10072"/>
              </a:lnSpc>
            </a:pPr>
            <a:r>
              <a:rPr lang="en-US" sz="7298" b="1" dirty="0">
                <a:solidFill>
                  <a:srgbClr val="FFFFFF"/>
                </a:solidFill>
                <a:latin typeface="Calibri (MS) Bold"/>
                <a:ea typeface="Calibri (MS) Bold"/>
                <a:cs typeface="Calibri (MS) Bold"/>
                <a:sym typeface="Calibri (MS) Bold"/>
              </a:rPr>
              <a:t>Resources &amp; Measures of Success</a:t>
            </a:r>
          </a:p>
        </p:txBody>
      </p:sp>
      <p:sp>
        <p:nvSpPr>
          <p:cNvPr id="6" name="TextBox 6"/>
          <p:cNvSpPr txBox="1"/>
          <p:nvPr/>
        </p:nvSpPr>
        <p:spPr>
          <a:xfrm>
            <a:off x="426866" y="1920608"/>
            <a:ext cx="8717134" cy="7448193"/>
          </a:xfrm>
          <a:prstGeom prst="rect">
            <a:avLst/>
          </a:prstGeom>
        </p:spPr>
        <p:txBody>
          <a:bodyPr wrap="square" lIns="0" tIns="0" rIns="0" bIns="0" rtlCol="0" anchor="t">
            <a:spAutoFit/>
          </a:bodyPr>
          <a:lstStyle/>
          <a:p>
            <a:pPr marL="571500" lvl="0" indent="-571500">
              <a:buFont typeface="Arial" panose="020B0604020202020204" pitchFamily="34" charset="0"/>
              <a:buChar char="•"/>
            </a:pPr>
            <a:r>
              <a:rPr lang="en-US" sz="4400" dirty="0">
                <a:solidFill>
                  <a:schemeClr val="bg1"/>
                </a:solidFill>
              </a:rPr>
              <a:t>Technical: An all-time availability of the service, latency, and resilience.</a:t>
            </a:r>
          </a:p>
          <a:p>
            <a:pPr marL="571500" lvl="0" indent="-571500">
              <a:buFont typeface="Arial" panose="020B0604020202020204" pitchFamily="34" charset="0"/>
              <a:buChar char="•"/>
            </a:pPr>
            <a:endParaRPr lang="en-US" sz="4400" dirty="0">
              <a:solidFill>
                <a:schemeClr val="bg1"/>
              </a:solidFill>
            </a:endParaRPr>
          </a:p>
          <a:p>
            <a:pPr marL="571500" lvl="0" indent="-571500">
              <a:buFont typeface="Arial" panose="020B0604020202020204" pitchFamily="34" charset="0"/>
              <a:buChar char="•"/>
            </a:pPr>
            <a:r>
              <a:rPr lang="en-US" sz="4400" dirty="0">
                <a:solidFill>
                  <a:schemeClr val="bg1"/>
                </a:solidFill>
              </a:rPr>
              <a:t>Organisational: Involvement, charter of governance.</a:t>
            </a:r>
          </a:p>
          <a:p>
            <a:pPr marL="571500" lvl="0" indent="-571500">
              <a:buFont typeface="Arial" panose="020B0604020202020204" pitchFamily="34" charset="0"/>
              <a:buChar char="•"/>
            </a:pPr>
            <a:endParaRPr lang="en-US" sz="4400" dirty="0">
              <a:solidFill>
                <a:schemeClr val="bg1"/>
              </a:solidFill>
            </a:endParaRPr>
          </a:p>
          <a:p>
            <a:pPr marL="571500" lvl="0" indent="-571500">
              <a:buFont typeface="Arial" panose="020B0604020202020204" pitchFamily="34" charset="0"/>
              <a:buChar char="•"/>
            </a:pPr>
            <a:r>
              <a:rPr lang="en-US" sz="4400" dirty="0">
                <a:solidFill>
                  <a:schemeClr val="bg1"/>
                </a:solidFill>
              </a:rPr>
              <a:t>Financial: The integration cost versus ROI.</a:t>
            </a:r>
          </a:p>
          <a:p>
            <a:pPr marL="571500" lvl="0" indent="-571500">
              <a:buFont typeface="Arial" panose="020B0604020202020204" pitchFamily="34" charset="0"/>
              <a:buChar char="•"/>
            </a:pPr>
            <a:endParaRPr lang="en-US" sz="4400" dirty="0">
              <a:solidFill>
                <a:schemeClr val="bg1"/>
              </a:solidFill>
            </a:endParaRPr>
          </a:p>
          <a:p>
            <a:pPr marL="571500" lvl="0" indent="-571500">
              <a:buFont typeface="Arial" panose="020B0604020202020204" pitchFamily="34" charset="0"/>
              <a:buChar char="•"/>
            </a:pPr>
            <a:r>
              <a:rPr lang="en-US" sz="4400" dirty="0">
                <a:solidFill>
                  <a:schemeClr val="bg1"/>
                </a:solidFill>
              </a:rPr>
              <a:t>KPIs: fewer data conflicts ↓, adoption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17526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4"/>
              <a:stretch>
                <a:fillRect/>
              </a:stretch>
            </a:blipFill>
          </p:spPr>
          <p:txBody>
            <a:bodyPr/>
            <a:lstStyle/>
            <a:p>
              <a:endParaRPr lang="en-US"/>
            </a:p>
          </p:txBody>
        </p:sp>
      </p:grpSp>
      <p:sp>
        <p:nvSpPr>
          <p:cNvPr id="4" name="TextBox 4"/>
          <p:cNvSpPr txBox="1"/>
          <p:nvPr/>
        </p:nvSpPr>
        <p:spPr>
          <a:xfrm>
            <a:off x="426866" y="20003"/>
            <a:ext cx="8362247" cy="1385672"/>
          </a:xfrm>
          <a:prstGeom prst="rect">
            <a:avLst/>
          </a:prstGeom>
        </p:spPr>
        <p:txBody>
          <a:bodyPr lIns="0" tIns="0" rIns="0" bIns="0" rtlCol="0" anchor="t">
            <a:spAutoFit/>
          </a:bodyPr>
          <a:lstStyle/>
          <a:p>
            <a:pPr algn="l">
              <a:lnSpc>
                <a:spcPts val="10072"/>
              </a:lnSpc>
            </a:pPr>
            <a:r>
              <a:rPr lang="en-US" sz="7298" b="1" dirty="0">
                <a:solidFill>
                  <a:srgbClr val="FFFFFF"/>
                </a:solidFill>
                <a:latin typeface="Calibri (MS) Bold"/>
                <a:ea typeface="Calibri (MS) Bold"/>
                <a:cs typeface="Calibri (MS) Bold"/>
                <a:sym typeface="Calibri (MS) Bold"/>
              </a:rPr>
              <a:t>Future Prospects</a:t>
            </a:r>
          </a:p>
        </p:txBody>
      </p:sp>
      <p:sp>
        <p:nvSpPr>
          <p:cNvPr id="5" name="TextBox 5"/>
          <p:cNvSpPr txBox="1"/>
          <p:nvPr/>
        </p:nvSpPr>
        <p:spPr>
          <a:xfrm>
            <a:off x="426866" y="1920608"/>
            <a:ext cx="8225812" cy="7448193"/>
          </a:xfrm>
          <a:prstGeom prst="rect">
            <a:avLst/>
          </a:prstGeom>
        </p:spPr>
        <p:txBody>
          <a:bodyPr lIns="0" tIns="0" rIns="0" bIns="0" rtlCol="0" anchor="t">
            <a:spAutoFit/>
          </a:bodyPr>
          <a:lstStyle/>
          <a:p>
            <a:pPr marL="1028700" lvl="1" indent="-571500">
              <a:buFont typeface="Arial" panose="020B0604020202020204" pitchFamily="34" charset="0"/>
              <a:buChar char="•"/>
            </a:pPr>
            <a:r>
              <a:rPr lang="en-US" sz="4400" dirty="0">
                <a:solidFill>
                  <a:schemeClr val="bg1"/>
                </a:solidFill>
              </a:rPr>
              <a:t>Hybrid architectures most feasible in the near future.</a:t>
            </a:r>
          </a:p>
          <a:p>
            <a:pPr lvl="1"/>
            <a:endParaRPr lang="en-US" sz="4400" dirty="0">
              <a:solidFill>
                <a:schemeClr val="bg1"/>
              </a:solidFill>
            </a:endParaRPr>
          </a:p>
          <a:p>
            <a:pPr marL="1028700" lvl="1" indent="-571500">
              <a:buFont typeface="Arial" panose="020B0604020202020204" pitchFamily="34" charset="0"/>
              <a:buChar char="•"/>
            </a:pPr>
            <a:r>
              <a:rPr lang="en-US" sz="4400" dirty="0">
                <a:solidFill>
                  <a:schemeClr val="bg1"/>
                </a:solidFill>
              </a:rPr>
              <a:t>Parts traceability and maintenance development.</a:t>
            </a:r>
          </a:p>
          <a:p>
            <a:pPr lvl="1"/>
            <a:endParaRPr lang="en-US" sz="4400" dirty="0">
              <a:solidFill>
                <a:schemeClr val="bg1"/>
              </a:solidFill>
            </a:endParaRPr>
          </a:p>
          <a:p>
            <a:pPr marL="1028700" lvl="1" indent="-571500">
              <a:buFont typeface="Arial" panose="020B0604020202020204" pitchFamily="34" charset="0"/>
              <a:buChar char="•"/>
            </a:pPr>
            <a:r>
              <a:rPr lang="en-US" sz="4400" dirty="0">
                <a:solidFill>
                  <a:schemeClr val="bg1"/>
                </a:solidFill>
              </a:rPr>
              <a:t>Continuous advancement of the governance models.</a:t>
            </a:r>
          </a:p>
          <a:p>
            <a:pPr lvl="1"/>
            <a:endParaRPr lang="en-US" sz="4400" dirty="0">
              <a:solidFill>
                <a:schemeClr val="bg1"/>
              </a:solidFill>
            </a:endParaRPr>
          </a:p>
          <a:p>
            <a:pPr marL="1028700" lvl="1" indent="-571500">
              <a:buFont typeface="Arial" panose="020B0604020202020204" pitchFamily="34" charset="0"/>
              <a:buChar char="•"/>
            </a:pPr>
            <a:r>
              <a:rPr lang="en-US" sz="4400" dirty="0">
                <a:solidFill>
                  <a:schemeClr val="bg1"/>
                </a:solidFill>
              </a:rPr>
              <a:t>The adoption is based on alignment standards.</a:t>
            </a:r>
          </a:p>
        </p:txBody>
      </p:sp>
      <p:pic>
        <p:nvPicPr>
          <p:cNvPr id="8" name="Online Media 7" title="EP 49: How Blockchain Could Transform the Aircraft Industry with Todd Siena">
            <a:hlinkClick r:id="" action="ppaction://media"/>
            <a:extLst>
              <a:ext uri="{FF2B5EF4-FFF2-40B4-BE49-F238E27FC236}">
                <a16:creationId xmlns:a16="http://schemas.microsoft.com/office/drawing/2014/main" id="{9FD1720A-888B-AD57-E534-5CE01EAC6926}"/>
              </a:ext>
            </a:extLst>
          </p:cNvPr>
          <p:cNvPicPr>
            <a:picLocks noRot="1" noChangeAspect="1"/>
          </p:cNvPicPr>
          <p:nvPr>
            <a:videoFile r:link="rId1"/>
          </p:nvPr>
        </p:nvPicPr>
        <p:blipFill>
          <a:blip r:embed="rId5"/>
          <a:stretch>
            <a:fillRect/>
          </a:stretch>
        </p:blipFill>
        <p:spPr>
          <a:xfrm>
            <a:off x="8153400" y="1920608"/>
            <a:ext cx="9255815" cy="71090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A9AA"/>
        </a:solidFill>
        <a:effectLst/>
      </p:bgPr>
    </p:bg>
    <p:spTree>
      <p:nvGrpSpPr>
        <p:cNvPr id="1" name=""/>
        <p:cNvGrpSpPr/>
        <p:nvPr/>
      </p:nvGrpSpPr>
      <p:grpSpPr>
        <a:xfrm>
          <a:off x="0" y="0"/>
          <a:ext cx="0" cy="0"/>
          <a:chOff x="0" y="0"/>
          <a:chExt cx="0" cy="0"/>
        </a:xfrm>
      </p:grpSpPr>
      <p:grpSp>
        <p:nvGrpSpPr>
          <p:cNvPr id="2" name="Group 2"/>
          <p:cNvGrpSpPr/>
          <p:nvPr/>
        </p:nvGrpSpPr>
        <p:grpSpPr>
          <a:xfrm>
            <a:off x="-12700" y="-342900"/>
            <a:ext cx="24320087" cy="13929360"/>
            <a:chOff x="0" y="0"/>
            <a:chExt cx="32426783" cy="18572480"/>
          </a:xfrm>
        </p:grpSpPr>
        <p:sp>
          <p:nvSpPr>
            <p:cNvPr id="3" name="Freeform 3"/>
            <p:cNvSpPr/>
            <p:nvPr/>
          </p:nvSpPr>
          <p:spPr>
            <a:xfrm>
              <a:off x="0" y="0"/>
              <a:ext cx="32426783" cy="18572480"/>
            </a:xfrm>
            <a:custGeom>
              <a:avLst/>
              <a:gdLst/>
              <a:ahLst/>
              <a:cxnLst/>
              <a:rect l="l" t="t" r="r" b="b"/>
              <a:pathLst>
                <a:path w="32426783" h="18572480">
                  <a:moveTo>
                    <a:pt x="0" y="0"/>
                  </a:moveTo>
                  <a:lnTo>
                    <a:pt x="32426783" y="0"/>
                  </a:lnTo>
                  <a:lnTo>
                    <a:pt x="32426783" y="18572480"/>
                  </a:lnTo>
                  <a:lnTo>
                    <a:pt x="0" y="18572480"/>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9867647" y="2741479"/>
            <a:ext cx="7391653" cy="6510080"/>
          </a:xfrm>
          <a:custGeom>
            <a:avLst/>
            <a:gdLst/>
            <a:ahLst/>
            <a:cxnLst/>
            <a:rect l="l" t="t" r="r" b="b"/>
            <a:pathLst>
              <a:path w="7391653" h="6510080">
                <a:moveTo>
                  <a:pt x="0" y="0"/>
                </a:moveTo>
                <a:lnTo>
                  <a:pt x="7391653" y="0"/>
                </a:lnTo>
                <a:lnTo>
                  <a:pt x="7391653" y="6510080"/>
                </a:lnTo>
                <a:lnTo>
                  <a:pt x="0" y="6510080"/>
                </a:lnTo>
                <a:lnTo>
                  <a:pt x="0" y="0"/>
                </a:lnTo>
                <a:close/>
              </a:path>
            </a:pathLst>
          </a:custGeom>
          <a:blipFill>
            <a:blip r:embed="rId4">
              <a:alphaModFix amt="84000"/>
            </a:blip>
            <a:stretch>
              <a:fillRect l="-24" r="-24"/>
            </a:stretch>
          </a:blipFill>
        </p:spPr>
        <p:txBody>
          <a:bodyPr/>
          <a:lstStyle/>
          <a:p>
            <a:endParaRPr lang="en-US"/>
          </a:p>
        </p:txBody>
      </p:sp>
      <p:sp>
        <p:nvSpPr>
          <p:cNvPr id="5" name="TextBox 5"/>
          <p:cNvSpPr txBox="1"/>
          <p:nvPr/>
        </p:nvSpPr>
        <p:spPr>
          <a:xfrm>
            <a:off x="426866" y="20003"/>
            <a:ext cx="5672787" cy="1385672"/>
          </a:xfrm>
          <a:prstGeom prst="rect">
            <a:avLst/>
          </a:prstGeom>
        </p:spPr>
        <p:txBody>
          <a:bodyPr lIns="0" tIns="0" rIns="0" bIns="0" rtlCol="0" anchor="t">
            <a:spAutoFit/>
          </a:bodyPr>
          <a:lstStyle/>
          <a:p>
            <a:pPr algn="l">
              <a:lnSpc>
                <a:spcPts val="10072"/>
              </a:lnSpc>
            </a:pPr>
            <a:r>
              <a:rPr lang="en-US" sz="7298" b="1" dirty="0">
                <a:solidFill>
                  <a:srgbClr val="FFFFFF"/>
                </a:solidFill>
                <a:latin typeface="Calibri (MS) Bold"/>
                <a:ea typeface="Calibri (MS) Bold"/>
                <a:cs typeface="Calibri (MS) Bold"/>
                <a:sym typeface="Calibri (MS) Bold"/>
              </a:rPr>
              <a:t>Conclusion </a:t>
            </a:r>
          </a:p>
        </p:txBody>
      </p:sp>
      <p:sp>
        <p:nvSpPr>
          <p:cNvPr id="6" name="TextBox 6"/>
          <p:cNvSpPr txBox="1"/>
          <p:nvPr/>
        </p:nvSpPr>
        <p:spPr>
          <a:xfrm>
            <a:off x="426866" y="1920608"/>
            <a:ext cx="8225812" cy="7503529"/>
          </a:xfrm>
          <a:prstGeom prst="rect">
            <a:avLst/>
          </a:prstGeom>
        </p:spPr>
        <p:txBody>
          <a:bodyPr lIns="0" tIns="0" rIns="0" bIns="0" rtlCol="0" anchor="t">
            <a:spAutoFit/>
          </a:bodyPr>
          <a:lstStyle/>
          <a:p>
            <a:pPr>
              <a:lnSpc>
                <a:spcPts val="7392"/>
              </a:lnSpc>
            </a:pPr>
            <a:r>
              <a:rPr lang="en-US" sz="4400" dirty="0">
                <a:solidFill>
                  <a:srgbClr val="FFFFFF"/>
                </a:solidFill>
                <a:latin typeface="Calibri (MS)"/>
                <a:ea typeface="Calibri (MS)"/>
                <a:cs typeface="Calibri (MS)"/>
                <a:sym typeface="Calibri (MS)"/>
              </a:rPr>
              <a:t>• </a:t>
            </a:r>
            <a:r>
              <a:rPr lang="en-US" sz="4400" dirty="0" err="1">
                <a:solidFill>
                  <a:srgbClr val="FFFFFF"/>
                </a:solidFill>
                <a:latin typeface="Calibri (MS)"/>
                <a:ea typeface="Calibri (MS)"/>
                <a:cs typeface="Calibri (MS)"/>
                <a:sym typeface="Calibri (MS)"/>
              </a:rPr>
              <a:t>FlightChain</a:t>
            </a:r>
            <a:r>
              <a:rPr lang="en-US" sz="4400" dirty="0">
                <a:solidFill>
                  <a:srgbClr val="FFFFFF"/>
                </a:solidFill>
                <a:latin typeface="Calibri (MS)"/>
                <a:ea typeface="Calibri (MS)"/>
                <a:cs typeface="Calibri (MS)"/>
                <a:sym typeface="Calibri (MS)"/>
              </a:rPr>
              <a:t> proved technical feasibility.</a:t>
            </a:r>
          </a:p>
          <a:p>
            <a:pPr>
              <a:lnSpc>
                <a:spcPts val="7392"/>
              </a:lnSpc>
            </a:pPr>
            <a:r>
              <a:rPr lang="en-US" sz="4400" dirty="0">
                <a:solidFill>
                  <a:srgbClr val="FFFFFF"/>
                </a:solidFill>
                <a:latin typeface="Calibri (MS)"/>
                <a:ea typeface="Calibri (MS)"/>
                <a:cs typeface="Calibri (MS)"/>
                <a:sym typeface="Calibri (MS)"/>
              </a:rPr>
              <a:t>• Governance and incentives blocked adoption.</a:t>
            </a:r>
          </a:p>
          <a:p>
            <a:pPr>
              <a:lnSpc>
                <a:spcPts val="7392"/>
              </a:lnSpc>
            </a:pPr>
            <a:r>
              <a:rPr lang="en-US" sz="4400" dirty="0">
                <a:solidFill>
                  <a:srgbClr val="FFFFFF"/>
                </a:solidFill>
                <a:latin typeface="Calibri (MS)"/>
                <a:ea typeface="Calibri (MS)"/>
                <a:cs typeface="Calibri (MS)"/>
                <a:sym typeface="Calibri (MS)"/>
              </a:rPr>
              <a:t>• Standards and neutral oversight are critical.</a:t>
            </a:r>
          </a:p>
          <a:p>
            <a:pPr>
              <a:lnSpc>
                <a:spcPts val="7392"/>
              </a:lnSpc>
            </a:pPr>
            <a:r>
              <a:rPr lang="en-US" sz="4400" dirty="0">
                <a:solidFill>
                  <a:srgbClr val="FFFFFF"/>
                </a:solidFill>
                <a:latin typeface="Calibri (MS)"/>
                <a:ea typeface="Calibri (MS)"/>
                <a:cs typeface="Calibri (MS)"/>
                <a:sym typeface="Calibri (MS)"/>
              </a:rPr>
              <a:t>• Blockchain success depends on collaboration.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D38A9-F2BC-E12E-4805-8B7A72C92CE1}"/>
              </a:ext>
            </a:extLst>
          </p:cNvPr>
          <p:cNvSpPr>
            <a:spLocks noGrp="1"/>
          </p:cNvSpPr>
          <p:nvPr>
            <p:ph type="title"/>
          </p:nvPr>
        </p:nvSpPr>
        <p:spPr/>
        <p:txBody>
          <a:bodyPr/>
          <a:lstStyle/>
          <a:p>
            <a:pPr algn="l"/>
            <a:r>
              <a:rPr lang="en-US" dirty="0"/>
              <a:t>References</a:t>
            </a:r>
          </a:p>
        </p:txBody>
      </p:sp>
      <p:sp>
        <p:nvSpPr>
          <p:cNvPr id="3" name="Content Placeholder 2">
            <a:extLst>
              <a:ext uri="{FF2B5EF4-FFF2-40B4-BE49-F238E27FC236}">
                <a16:creationId xmlns:a16="http://schemas.microsoft.com/office/drawing/2014/main" id="{B15B8BAF-BB31-4451-08AD-2F2218CCEDD3}"/>
              </a:ext>
            </a:extLst>
          </p:cNvPr>
          <p:cNvSpPr>
            <a:spLocks noGrp="1"/>
          </p:cNvSpPr>
          <p:nvPr>
            <p:ph idx="1"/>
          </p:nvPr>
        </p:nvSpPr>
        <p:spPr>
          <a:xfrm>
            <a:off x="457200" y="1600200"/>
            <a:ext cx="16916400" cy="8412162"/>
          </a:xfrm>
        </p:spPr>
        <p:txBody>
          <a:bodyPr>
            <a:normAutofit fontScale="40000" lnSpcReduction="20000"/>
          </a:bodyPr>
          <a:lstStyle/>
          <a:p>
            <a:pPr marL="514350" lvl="0" indent="-514350">
              <a:buFont typeface="+mj-lt"/>
              <a:buAutoNum type="arabicPeriod"/>
            </a:pPr>
            <a:r>
              <a:rPr lang="en-US" dirty="0"/>
              <a:t>SITA (2017) </a:t>
            </a:r>
            <a:r>
              <a:rPr lang="en-US" dirty="0" err="1"/>
              <a:t>FlightChain</a:t>
            </a:r>
            <a:r>
              <a:rPr lang="en-US" dirty="0"/>
              <a:t>: Shared truth for a frictionless journey. SITA.: </a:t>
            </a:r>
            <a:r>
              <a:rPr lang="en-US" u="sng" dirty="0">
                <a:hlinkClick r:id="rId2"/>
              </a:rPr>
              <a:t>https://www.sita.aero/resources/white-papers/flightchain-shared-control-of-data/</a:t>
            </a:r>
            <a:r>
              <a:rPr lang="en-US" dirty="0"/>
              <a:t> ..</a:t>
            </a:r>
          </a:p>
          <a:p>
            <a:pPr marL="514350" lvl="0" indent="-514350">
              <a:buFont typeface="+mj-lt"/>
              <a:buAutoNum type="arabicPeriod"/>
            </a:pPr>
            <a:r>
              <a:rPr lang="en-US" dirty="0"/>
              <a:t>APEX (2017) SITA, British Airways and Heathrow conducting blockchain trial for operational data sync. APEX : </a:t>
            </a:r>
            <a:r>
              <a:rPr lang="en-US" u="sng" dirty="0">
                <a:hlinkClick r:id="rId3"/>
              </a:rPr>
              <a:t>https://apex.aero/articles/sita-british-airways-heathrow-conducting-blockchain-trial-operational-data-sync/</a:t>
            </a:r>
            <a:r>
              <a:rPr lang="en-US" dirty="0"/>
              <a:t> ..</a:t>
            </a:r>
          </a:p>
          <a:p>
            <a:pPr marL="514350" lvl="0" indent="-514350">
              <a:buFont typeface="+mj-lt"/>
              <a:buAutoNum type="arabicPeriod"/>
            </a:pPr>
            <a:r>
              <a:rPr lang="en-US" dirty="0"/>
              <a:t>Airport Technology (2018) Blockchain: The future of flight data management? Airport Technology : </a:t>
            </a:r>
            <a:r>
              <a:rPr lang="en-US" u="sng" dirty="0">
                <a:hlinkClick r:id="rId4"/>
              </a:rPr>
              <a:t>https://www.airport-technology.com/features/blockchain-future-flight-data-management/</a:t>
            </a:r>
            <a:r>
              <a:rPr lang="en-US" dirty="0"/>
              <a:t> ..</a:t>
            </a:r>
          </a:p>
          <a:p>
            <a:pPr marL="514350" lvl="0" indent="-514350">
              <a:buFont typeface="+mj-lt"/>
              <a:buAutoNum type="arabicPeriod"/>
            </a:pPr>
            <a:r>
              <a:rPr lang="en-US" dirty="0" err="1"/>
              <a:t>PhocusWire</a:t>
            </a:r>
            <a:r>
              <a:rPr lang="en-US" dirty="0"/>
              <a:t> (2017) SITA partners with airlines and airports to explore blockchain. </a:t>
            </a:r>
            <a:r>
              <a:rPr lang="en-US" dirty="0" err="1"/>
              <a:t>PhocusWire</a:t>
            </a:r>
            <a:r>
              <a:rPr lang="en-US" dirty="0"/>
              <a:t>.: </a:t>
            </a:r>
            <a:r>
              <a:rPr lang="en-US" u="sng" dirty="0">
                <a:hlinkClick r:id="rId5"/>
              </a:rPr>
              <a:t>https://www.phocuswire.com/SITA-partners-with-airlines-and-airports-to-explore-Blockchain</a:t>
            </a:r>
            <a:r>
              <a:rPr lang="en-US" dirty="0"/>
              <a:t> ..</a:t>
            </a:r>
          </a:p>
          <a:p>
            <a:pPr marL="514350" lvl="0" indent="-514350">
              <a:buFont typeface="+mj-lt"/>
              <a:buAutoNum type="arabicPeriod"/>
            </a:pPr>
            <a:r>
              <a:rPr lang="en-US" dirty="0"/>
              <a:t>Saudi Gazette (2017) Airlines and airports can use ‘smart contracts’ for shared control of data. Saudi Gazette.: </a:t>
            </a:r>
            <a:r>
              <a:rPr lang="en-US" u="sng" dirty="0">
                <a:hlinkClick r:id="rId6"/>
              </a:rPr>
              <a:t>https://saudigazette.com.sa/article/521692</a:t>
            </a:r>
            <a:r>
              <a:rPr lang="en-US" dirty="0"/>
              <a:t> ..</a:t>
            </a:r>
          </a:p>
          <a:p>
            <a:pPr marL="514350" lvl="0" indent="-514350">
              <a:buFont typeface="+mj-lt"/>
              <a:buAutoNum type="arabicPeriod"/>
            </a:pPr>
            <a:r>
              <a:rPr lang="en-US" dirty="0"/>
              <a:t>Transportation Research Board (2019) ACRP Insight Event: Blockchain technology and airports. Transportation Research Board.</a:t>
            </a:r>
          </a:p>
          <a:p>
            <a:pPr marL="514350" lvl="0" indent="-514350">
              <a:buFont typeface="+mj-lt"/>
              <a:buAutoNum type="arabicPeriod"/>
            </a:pPr>
            <a:r>
              <a:rPr lang="en-US" dirty="0"/>
              <a:t>International Air Transport Association (IATA) (2018) Blockchain in aviation white paper. IATA  </a:t>
            </a:r>
            <a:r>
              <a:rPr lang="en-US" u="sng" dirty="0">
                <a:hlinkClick r:id="rId7"/>
              </a:rPr>
              <a:t>https://www.iata.org/contentassets/2d997082f3c84c7cba001f506edd2c2e/blockchain-in-aviation-white-paper.pdf</a:t>
            </a:r>
            <a:r>
              <a:rPr lang="en-US" dirty="0"/>
              <a:t> ..</a:t>
            </a:r>
          </a:p>
          <a:p>
            <a:pPr marL="514350" lvl="0" indent="-514350">
              <a:buFont typeface="+mj-lt"/>
              <a:buAutoNum type="arabicPeriod"/>
            </a:pPr>
            <a:r>
              <a:rPr lang="en-US" dirty="0"/>
              <a:t>The Strategy Story (2023) British Airways SWOT analysis. The Strategy Story. .: </a:t>
            </a:r>
            <a:r>
              <a:rPr lang="en-US" u="sng" dirty="0">
                <a:hlinkClick r:id="rId8"/>
              </a:rPr>
              <a:t>https://thestrategystory.com/blog/british-airways-swot-analysis/</a:t>
            </a:r>
            <a:r>
              <a:rPr lang="en-US" dirty="0"/>
              <a:t> ..</a:t>
            </a:r>
          </a:p>
          <a:p>
            <a:pPr marL="514350" lvl="0" indent="-514350">
              <a:buFont typeface="+mj-lt"/>
              <a:buAutoNum type="arabicPeriod"/>
            </a:pPr>
            <a:r>
              <a:rPr lang="en-US" dirty="0"/>
              <a:t>RBB Economics/CAA (2019) The effect of congestion at Heathrow Airport. Civil Aviation Authority. .: </a:t>
            </a:r>
            <a:r>
              <a:rPr lang="en-US" u="sng" dirty="0">
                <a:hlinkClick r:id="rId9"/>
              </a:rPr>
              <a:t>https://www.caa.co.uk/media/k3ze0kcu/cap-1722-rbb-report-the-effect-of-congestion-at-heathrow-summary-19-feb-2019.pdf</a:t>
            </a:r>
            <a:r>
              <a:rPr lang="en-US" dirty="0"/>
              <a:t> ..</a:t>
            </a:r>
          </a:p>
          <a:p>
            <a:pPr marL="514350" lvl="0" indent="-514350">
              <a:buFont typeface="+mj-lt"/>
              <a:buAutoNum type="arabicPeriod"/>
            </a:pPr>
            <a:r>
              <a:rPr lang="en-US" dirty="0" err="1"/>
              <a:t>TAdviser</a:t>
            </a:r>
            <a:r>
              <a:rPr lang="en-US" dirty="0"/>
              <a:t> (2017) </a:t>
            </a:r>
            <a:r>
              <a:rPr lang="en-US" dirty="0" err="1"/>
              <a:t>FlightChain</a:t>
            </a:r>
            <a:r>
              <a:rPr lang="en-US" dirty="0"/>
              <a:t> (A blockchain for the air-transport industry). </a:t>
            </a:r>
            <a:r>
              <a:rPr lang="en-US" dirty="0" err="1"/>
              <a:t>TAdviser</a:t>
            </a:r>
            <a:r>
              <a:rPr lang="en-US" dirty="0"/>
              <a:t>. .: https://tadviser.com/index.php/Product:FlightChain_(A_blockchain_for_the_air-transport_industry) ..</a:t>
            </a:r>
          </a:p>
          <a:p>
            <a:pPr marL="514350" lvl="0" indent="-514350">
              <a:buFont typeface="+mj-lt"/>
              <a:buAutoNum type="arabicPeriod"/>
            </a:pPr>
            <a:r>
              <a:rPr lang="en-US" dirty="0"/>
              <a:t>IJIRCT (2025) Role of blockchain in aviation. IJIRCT.</a:t>
            </a:r>
          </a:p>
          <a:p>
            <a:pPr marL="514350" lvl="0" indent="-514350">
              <a:buFont typeface="+mj-lt"/>
              <a:buAutoNum type="arabicPeriod"/>
            </a:pPr>
            <a:r>
              <a:rPr lang="en-US" dirty="0"/>
              <a:t>SITA (2019) Blockchain: Are we asking the wrong question? SITA Blog. .: </a:t>
            </a:r>
            <a:r>
              <a:rPr lang="en-US" u="sng" dirty="0">
                <a:hlinkClick r:id="rId10"/>
              </a:rPr>
              <a:t>https://www.sita.aero/pressroom/blog/blockchain.-are-we-asking-the-wrong-question/</a:t>
            </a:r>
            <a:r>
              <a:rPr lang="en-US" dirty="0"/>
              <a:t> ..</a:t>
            </a:r>
          </a:p>
          <a:p>
            <a:pPr marL="514350" lvl="0" indent="-514350">
              <a:buFont typeface="+mj-lt"/>
              <a:buAutoNum type="arabicPeriod"/>
            </a:pPr>
            <a:r>
              <a:rPr lang="en-US" dirty="0"/>
              <a:t>AACO/IATA Technical Forum (2019) Blockchain for aviation overview. AACO/IATA. .: </a:t>
            </a:r>
            <a:r>
              <a:rPr lang="en-US" u="sng" dirty="0">
                <a:hlinkClick r:id="rId11"/>
              </a:rPr>
              <a:t>https://www.aaco.org/Library/Assets/Blockchain-for-aviation-overview%20by%20Barry%20Mclaughlin%20-%20SITA.pdf</a:t>
            </a:r>
            <a:r>
              <a:rPr lang="en-US" dirty="0"/>
              <a:t> ..</a:t>
            </a:r>
          </a:p>
          <a:p>
            <a:pPr marL="514350" lvl="0" indent="-514350">
              <a:buFont typeface="+mj-lt"/>
              <a:buAutoNum type="arabicPeriod"/>
            </a:pPr>
            <a:r>
              <a:rPr lang="en-US" dirty="0"/>
              <a:t>Brett, C. (2018) SITA extends airline blockchain research. Enterprise Times. .: </a:t>
            </a:r>
            <a:r>
              <a:rPr lang="en-US" u="sng" dirty="0">
                <a:hlinkClick r:id="rId12"/>
              </a:rPr>
              <a:t>https://www.enterprisetimes.co.uk/2018/06/29/sita-extends-airline-blockchain-research/</a:t>
            </a:r>
            <a:r>
              <a:rPr lang="en-US" dirty="0"/>
              <a:t> ..</a:t>
            </a:r>
          </a:p>
          <a:p>
            <a:pPr marL="514350" lvl="0" indent="-514350">
              <a:buFont typeface="+mj-lt"/>
              <a:buAutoNum type="arabicPeriod"/>
            </a:pPr>
            <a:r>
              <a:rPr lang="en-US" dirty="0"/>
              <a:t>McLaughlin, B. (2025) Are we heading into the teenage years of blockchain? BW Businessworld. .: </a:t>
            </a:r>
            <a:r>
              <a:rPr lang="en-US" u="sng" dirty="0">
                <a:hlinkClick r:id="rId13"/>
              </a:rPr>
              <a:t>https://www.businessworld.in/article/are-we-heading-into-the-teenage-years-of-blockchain-177096</a:t>
            </a:r>
            <a:r>
              <a:rPr lang="en-US" dirty="0"/>
              <a:t> ..</a:t>
            </a:r>
          </a:p>
          <a:p>
            <a:pPr marL="514350" lvl="0" indent="-514350">
              <a:buFont typeface="+mj-lt"/>
              <a:buAutoNum type="arabicPeriod"/>
            </a:pPr>
            <a:r>
              <a:rPr lang="en-US" dirty="0"/>
              <a:t>SITA (2021) COVID-19 has changed the IT spending priorities for airports and airlines in 2020. SITA. .: </a:t>
            </a:r>
            <a:r>
              <a:rPr lang="en-US" u="sng" dirty="0">
                <a:hlinkClick r:id="rId14"/>
              </a:rPr>
              <a:t>https://www.sita.aero/pressroom/news-releases/covid-19-has-sharply-changed-the-it-spending-priorities-for-airports-and-airlines-in-2020/</a:t>
            </a:r>
            <a:r>
              <a:rPr lang="en-US" dirty="0"/>
              <a:t> ..</a:t>
            </a:r>
          </a:p>
          <a:p>
            <a:pPr marL="514350" lvl="0" indent="-514350">
              <a:buFont typeface="+mj-lt"/>
              <a:buAutoNum type="arabicPeriod"/>
            </a:pPr>
            <a:r>
              <a:rPr lang="en-US" dirty="0"/>
              <a:t>Davies, R. (2020) Will blockchain boost air cargo efficiency after Covid-19? Airport Technology. .: </a:t>
            </a:r>
            <a:r>
              <a:rPr lang="en-US" u="sng" dirty="0">
                <a:hlinkClick r:id="rId15"/>
              </a:rPr>
              <a:t>https://www.airport-technology.com/features/blockchain-air-cargo/</a:t>
            </a:r>
            <a:r>
              <a:rPr lang="en-US" dirty="0"/>
              <a:t> ..</a:t>
            </a:r>
          </a:p>
          <a:p>
            <a:pPr marL="514350" lvl="0" indent="-514350">
              <a:buFont typeface="+mj-lt"/>
              <a:buAutoNum type="arabicPeriod"/>
            </a:pPr>
            <a:r>
              <a:rPr lang="en-US" dirty="0"/>
              <a:t>Ghee, R. (2017) </a:t>
            </a:r>
            <a:r>
              <a:rPr lang="en-US" dirty="0" err="1"/>
              <a:t>FlightChain</a:t>
            </a:r>
            <a:r>
              <a:rPr lang="en-US" dirty="0"/>
              <a:t> project sheds light on real-world potential of blockchain for airlines and airports. Future Travel Experience. .: </a:t>
            </a:r>
            <a:r>
              <a:rPr lang="en-US" u="sng" dirty="0">
                <a:hlinkClick r:id="rId16"/>
              </a:rPr>
              <a:t>https://www.futuretravelexperience.com/2017/12/flightchain-project-sheds-light-on-real-world-potential-of-blockchain-for-airlines-and-airports/</a:t>
            </a:r>
            <a:r>
              <a:rPr lang="en-US" dirty="0"/>
              <a:t> ..</a:t>
            </a:r>
          </a:p>
          <a:p>
            <a:pPr marL="514350" lvl="0" indent="-514350">
              <a:buFont typeface="+mj-lt"/>
              <a:buAutoNum type="arabicPeriod"/>
            </a:pPr>
            <a:r>
              <a:rPr lang="en-US" dirty="0"/>
              <a:t>Skinner, C. (2017) Even British Airways gets blockchain now. Chris Skinner’s Blog. .: </a:t>
            </a:r>
            <a:r>
              <a:rPr lang="en-US" u="sng" dirty="0">
                <a:hlinkClick r:id="rId17"/>
              </a:rPr>
              <a:t>https://thefinanser.com/2017/09/24216</a:t>
            </a:r>
            <a:r>
              <a:rPr lang="en-US" dirty="0"/>
              <a:t> ..</a:t>
            </a:r>
          </a:p>
          <a:p>
            <a:pPr marL="514350" lvl="0" indent="-514350">
              <a:buFont typeface="+mj-lt"/>
              <a:buAutoNum type="arabicPeriod"/>
            </a:pPr>
            <a:r>
              <a:rPr lang="en-US" dirty="0"/>
              <a:t>Simson, M. (2020) SITA, British Airways and Heathrow conducting blockchain trial for operational data sync. APEX. .: </a:t>
            </a:r>
            <a:r>
              <a:rPr lang="en-US" u="sng" dirty="0">
                <a:hlinkClick r:id="rId3"/>
              </a:rPr>
              <a:t>https://apex.aero/articles/sita-british-airways-heathrow-conducting-blockchain-trial-operational-data-sync/</a:t>
            </a:r>
            <a:r>
              <a:rPr lang="en-US" dirty="0"/>
              <a:t> ..</a:t>
            </a:r>
          </a:p>
          <a:p>
            <a:pPr marL="514350" lvl="0" indent="-514350">
              <a:buFont typeface="+mj-lt"/>
              <a:buAutoNum type="arabicPeriod"/>
            </a:pPr>
            <a:r>
              <a:rPr lang="en-US" dirty="0"/>
              <a:t>Baker, J. (2018) Blockchain: The future of flight data management? Airport Technology. .: </a:t>
            </a:r>
            <a:r>
              <a:rPr lang="en-US" u="sng" dirty="0">
                <a:hlinkClick r:id="rId4"/>
              </a:rPr>
              <a:t>https://www.airport-technology.com/features/blockchain-future-flight-data-management/</a:t>
            </a:r>
            <a:r>
              <a:rPr lang="en-US" dirty="0"/>
              <a:t> ..</a:t>
            </a:r>
          </a:p>
          <a:p>
            <a:pPr marL="514350" lvl="0" indent="-514350">
              <a:buFont typeface="+mj-lt"/>
              <a:buAutoNum type="arabicPeriod"/>
            </a:pPr>
            <a:r>
              <a:rPr lang="en-US" dirty="0"/>
              <a:t>O’Sullivan, K. (2017) </a:t>
            </a:r>
            <a:r>
              <a:rPr lang="en-US" dirty="0" err="1"/>
              <a:t>FlightChain</a:t>
            </a:r>
            <a:r>
              <a:rPr lang="en-US" dirty="0"/>
              <a:t> project sheds light on real-world potential of blockchain for airlines and airports. Future Travel Experience. .: </a:t>
            </a:r>
            <a:r>
              <a:rPr lang="en-US" u="sng" dirty="0">
                <a:hlinkClick r:id="rId16"/>
              </a:rPr>
              <a:t>https://www.futuretravelexperience.com/2017/12/flightchain-project-sheds-light-on-real-world-potential-of-blockchain-for-airlines-and-airports/</a:t>
            </a:r>
            <a:r>
              <a:rPr lang="en-US" dirty="0"/>
              <a:t> ..</a:t>
            </a:r>
          </a:p>
          <a:p>
            <a:pPr marL="514350" lvl="0" indent="-514350">
              <a:buFont typeface="+mj-lt"/>
              <a:buAutoNum type="arabicPeriod"/>
            </a:pPr>
            <a:r>
              <a:rPr lang="en-US" dirty="0"/>
              <a:t>SITA Lab (n.d.) </a:t>
            </a:r>
            <a:r>
              <a:rPr lang="en-US" dirty="0" err="1"/>
              <a:t>FlightChain</a:t>
            </a:r>
            <a:r>
              <a:rPr lang="en-US" dirty="0"/>
              <a:t>: ‘Smart contracts’ for shared control of data? SITA. .: </a:t>
            </a:r>
            <a:r>
              <a:rPr lang="en-US" u="sng" dirty="0">
                <a:hlinkClick r:id="rId18"/>
              </a:rPr>
              <a:t>https://www.sita.aero/resources/White-papers/flightchain-shared-control-of-data/</a:t>
            </a:r>
            <a:r>
              <a:rPr lang="en-US" dirty="0"/>
              <a:t> ..</a:t>
            </a:r>
          </a:p>
          <a:p>
            <a:pPr marL="514350" lvl="0" indent="-514350">
              <a:buFont typeface="+mj-lt"/>
              <a:buAutoNum type="arabicPeriod"/>
            </a:pPr>
            <a:r>
              <a:rPr lang="en-US" dirty="0"/>
              <a:t>International Air Transport Association (IATA) (2018) Blockchain in aviation: Exploring the fundamentals, use cases, and industry initiatives (White Paper). IATA. .: </a:t>
            </a:r>
            <a:r>
              <a:rPr lang="en-US" u="sng" dirty="0">
                <a:hlinkClick r:id="rId7"/>
              </a:rPr>
              <a:t>https://www.iata.org/contentassets/2d997082f3c84c7cba001f506edd2c2e/blockchain-in-aviation-white-paper.pdf</a:t>
            </a:r>
            <a:r>
              <a:rPr lang="en-US" dirty="0"/>
              <a:t> ..</a:t>
            </a:r>
          </a:p>
          <a:p>
            <a:pPr marL="514350" lvl="0" indent="-514350">
              <a:buFont typeface="+mj-lt"/>
              <a:buAutoNum type="arabicPeriod"/>
            </a:pPr>
            <a:r>
              <a:rPr lang="en-US" dirty="0"/>
              <a:t>Friis-Hansen, F. and Jeppesen, F.R. (2020) Blockchain in Copenhagen Airport: The journey towards increased data sharing and interoperability. Master’s thesis, Copenhagen Business School. .: </a:t>
            </a:r>
            <a:r>
              <a:rPr lang="en-US" u="sng" dirty="0">
                <a:hlinkClick r:id="rId19"/>
              </a:rPr>
              <a:t>https://research-api.cbs.dk/ws/portalfiles/portal/62174647/878879_Blockchain_in_Copenhagen_Airport_The_Journey_Towards_Increased_Data_Sharing_and_Interoperability.pdf</a:t>
            </a:r>
            <a:r>
              <a:rPr lang="en-US" dirty="0"/>
              <a:t> ..</a:t>
            </a:r>
          </a:p>
          <a:p>
            <a:pPr marL="514350" lvl="0" indent="-514350">
              <a:buFont typeface="+mj-lt"/>
              <a:buAutoNum type="arabicPeriod"/>
            </a:pPr>
            <a:r>
              <a:rPr lang="en-US" dirty="0"/>
              <a:t>Zorlu, O. and </a:t>
            </a:r>
            <a:r>
              <a:rPr lang="en-US" dirty="0" err="1"/>
              <a:t>Ozsoy</a:t>
            </a:r>
            <a:r>
              <a:rPr lang="en-US" dirty="0"/>
              <a:t>, A. (2024) A blockchain-based secure framework for data management. IET Communications, 18(10), pp.628–653. </a:t>
            </a:r>
            <a:r>
              <a:rPr lang="en-US" u="sng" dirty="0">
                <a:hlinkClick r:id="rId20"/>
              </a:rPr>
              <a:t>https://doi.org/10.1049/cmu2.12781</a:t>
            </a:r>
            <a:r>
              <a:rPr lang="en-US" dirty="0"/>
              <a:t> ..</a:t>
            </a:r>
          </a:p>
          <a:p>
            <a:pPr marL="514350" lvl="0" indent="-514350">
              <a:buFont typeface="+mj-lt"/>
              <a:buAutoNum type="arabicPeriod"/>
            </a:pPr>
            <a:r>
              <a:rPr lang="en-US" dirty="0"/>
              <a:t>Growth Market Reports (n.d.) Blockchain in aviation market. Growth Market Reports. .: </a:t>
            </a:r>
            <a:r>
              <a:rPr lang="en-US" u="sng" dirty="0">
                <a:hlinkClick r:id="rId21"/>
              </a:rPr>
              <a:t>https://growthmarketreports.com/report/blockchain-in-aviation-market</a:t>
            </a:r>
            <a:r>
              <a:rPr lang="en-US" dirty="0"/>
              <a:t> ..</a:t>
            </a:r>
          </a:p>
          <a:p>
            <a:pPr marL="514350" lvl="0" indent="-514350">
              <a:buFont typeface="+mj-lt"/>
              <a:buAutoNum type="arabicPeriod"/>
            </a:pPr>
            <a:r>
              <a:rPr lang="en-US" dirty="0"/>
              <a:t>Zorlu, O. (2024) Blockchain-based secure management framework for unmanned vehicles, Internet of Things and aviation. Doctoral dissertation, </a:t>
            </a:r>
            <a:r>
              <a:rPr lang="en-US" dirty="0" err="1"/>
              <a:t>Hacettepe</a:t>
            </a:r>
            <a:r>
              <a:rPr lang="en-US" dirty="0"/>
              <a:t> University Graduate School of Science and Engineering. .: </a:t>
            </a:r>
            <a:r>
              <a:rPr lang="en-US" u="sng" dirty="0">
                <a:hlinkClick r:id="rId22"/>
              </a:rPr>
              <a:t>https://openaccess.hacettepe.edu.tr/server/api/core/bitstreams/30554ec0-b233-47c6-8587-617928f27057/content</a:t>
            </a:r>
            <a:r>
              <a:rPr lang="en-US" dirty="0"/>
              <a:t> ..</a:t>
            </a:r>
          </a:p>
          <a:p>
            <a:pPr marL="514350" lvl="0" indent="-514350">
              <a:buFont typeface="+mj-lt"/>
              <a:buAutoNum type="arabicPeriod"/>
            </a:pPr>
            <a:r>
              <a:rPr lang="en-US" dirty="0"/>
              <a:t>Budimir, M. et al. (2019) Blockchain adoption in aviation: Opportunities and challenges. International Journal of Transport Development and Integration, 6(1), pp.92–97. .: file:///C:/Users/Uzair%20Patel/Downloads/budimir,+Production+editor,+6_92-97_148-Blockchain+Adoption+in+Aviation+Opportunities+and+Challenges%20(2).pdf ..</a:t>
            </a:r>
          </a:p>
          <a:p>
            <a:pPr marL="514350" lvl="0" indent="-514350">
              <a:buFont typeface="+mj-lt"/>
              <a:buAutoNum type="arabicPeriod"/>
            </a:pPr>
            <a:r>
              <a:rPr lang="en-US" dirty="0"/>
              <a:t>International Air Transport Association (IATA) (2018) Blockchain in aviation: Exploring the fundamentals, use cases, and industry initiatives (White Paper). IATA. .: </a:t>
            </a:r>
            <a:r>
              <a:rPr lang="en-US" u="sng" dirty="0">
                <a:hlinkClick r:id="rId7"/>
              </a:rPr>
              <a:t>https://www.iata.org/contentassets/2d997082f3c84c7cba001f506edd2c2e/blockchain-in-aviation-white-paper.pdf</a:t>
            </a:r>
            <a:r>
              <a:rPr lang="en-US" dirty="0"/>
              <a:t> ..</a:t>
            </a:r>
          </a:p>
          <a:p>
            <a:pPr marL="0" indent="0">
              <a:buNone/>
            </a:pPr>
            <a:endParaRPr lang="en-US" dirty="0"/>
          </a:p>
        </p:txBody>
      </p:sp>
    </p:spTree>
    <p:extLst>
      <p:ext uri="{BB962C8B-B14F-4D97-AF65-F5344CB8AC3E}">
        <p14:creationId xmlns:p14="http://schemas.microsoft.com/office/powerpoint/2010/main" val="2951322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421E-4C43-9AC3-4826-E424AA9D08ED}"/>
              </a:ext>
            </a:extLst>
          </p:cNvPr>
          <p:cNvSpPr>
            <a:spLocks noGrp="1"/>
          </p:cNvSpPr>
          <p:nvPr>
            <p:ph type="title"/>
          </p:nvPr>
        </p:nvSpPr>
        <p:spPr/>
        <p:txBody>
          <a:bodyPr/>
          <a:lstStyle/>
          <a:p>
            <a:pPr algn="l"/>
            <a:r>
              <a:rPr lang="en-US" dirty="0"/>
              <a:t>References</a:t>
            </a:r>
          </a:p>
        </p:txBody>
      </p:sp>
      <p:sp>
        <p:nvSpPr>
          <p:cNvPr id="3" name="Content Placeholder 2">
            <a:extLst>
              <a:ext uri="{FF2B5EF4-FFF2-40B4-BE49-F238E27FC236}">
                <a16:creationId xmlns:a16="http://schemas.microsoft.com/office/drawing/2014/main" id="{FF5F439F-E5AE-3C00-BB7E-6DC1F5CE59DB}"/>
              </a:ext>
            </a:extLst>
          </p:cNvPr>
          <p:cNvSpPr>
            <a:spLocks noGrp="1"/>
          </p:cNvSpPr>
          <p:nvPr>
            <p:ph idx="1"/>
          </p:nvPr>
        </p:nvSpPr>
        <p:spPr>
          <a:xfrm>
            <a:off x="457200" y="1600200"/>
            <a:ext cx="17830800" cy="8686800"/>
          </a:xfrm>
        </p:spPr>
        <p:txBody>
          <a:bodyPr>
            <a:normAutofit fontScale="47500" lnSpcReduction="20000"/>
          </a:bodyPr>
          <a:lstStyle/>
          <a:p>
            <a:pPr marL="514350" lvl="0" indent="-514350">
              <a:buFont typeface="+mj-lt"/>
              <a:buAutoNum type="arabicPeriod" startAt="31"/>
            </a:pPr>
            <a:r>
              <a:rPr lang="en-US" dirty="0"/>
              <a:t>Lopes, D.P., Rita, P. and </a:t>
            </a:r>
            <a:r>
              <a:rPr lang="en-US" dirty="0" err="1"/>
              <a:t>Treiblmaier</a:t>
            </a:r>
            <a:r>
              <a:rPr lang="en-US" dirty="0"/>
              <a:t>, H. (2021) </a:t>
            </a:r>
            <a:r>
              <a:rPr lang="en-US" i="1" dirty="0"/>
              <a:t>The impact of blockchain on the aviation industry: Findings from a qualitative study</a:t>
            </a:r>
            <a:r>
              <a:rPr lang="en-US" dirty="0"/>
              <a:t>. Journal of Air Transport Management, 91, 101986. .: </a:t>
            </a:r>
            <a:r>
              <a:rPr lang="en-US" u="sng" dirty="0">
                <a:hlinkClick r:id="rId2"/>
              </a:rPr>
              <a:t>https://www.sciencedirect.com/science/article/abs/pii/S2210539521000523</a:t>
            </a:r>
            <a:r>
              <a:rPr lang="en-US" dirty="0"/>
              <a:t> ..</a:t>
            </a:r>
          </a:p>
          <a:p>
            <a:pPr marL="514350" lvl="0" indent="-514350">
              <a:buFont typeface="+mj-lt"/>
              <a:buAutoNum type="arabicPeriod" startAt="31"/>
            </a:pPr>
            <a:r>
              <a:rPr lang="en-US" dirty="0"/>
              <a:t>Author(s) (2025) </a:t>
            </a:r>
            <a:r>
              <a:rPr lang="en-US" i="1" dirty="0"/>
              <a:t>Aviation cybersecurity through blockchain: A technology-driven framework for secure information systems</a:t>
            </a:r>
            <a:r>
              <a:rPr lang="en-US" dirty="0"/>
              <a:t>. SSRN Electronic Journal. .: </a:t>
            </a:r>
            <a:r>
              <a:rPr lang="en-US" u="sng" dirty="0">
                <a:hlinkClick r:id="rId3"/>
              </a:rPr>
              <a:t>https://papers.ssrn.com/sol3/papers.cfm?abstract_id=5294484</a:t>
            </a:r>
            <a:r>
              <a:rPr lang="en-US" dirty="0"/>
              <a:t> ..</a:t>
            </a:r>
          </a:p>
          <a:p>
            <a:pPr marL="514350" lvl="0" indent="-514350">
              <a:buFont typeface="+mj-lt"/>
              <a:buAutoNum type="arabicPeriod" startAt="31"/>
            </a:pPr>
            <a:r>
              <a:rPr lang="en-US" dirty="0" err="1"/>
              <a:t>Appinventiv</a:t>
            </a:r>
            <a:r>
              <a:rPr lang="en-US" dirty="0"/>
              <a:t> (2025) </a:t>
            </a:r>
            <a:r>
              <a:rPr lang="en-US" i="1" dirty="0"/>
              <a:t>How blockchain in aviation is revolutionizing the industry</a:t>
            </a:r>
            <a:r>
              <a:rPr lang="en-US" dirty="0"/>
              <a:t>. </a:t>
            </a:r>
            <a:r>
              <a:rPr lang="en-US" dirty="0" err="1"/>
              <a:t>Appinventiv</a:t>
            </a:r>
            <a:r>
              <a:rPr lang="en-US" dirty="0"/>
              <a:t> Blog. .: </a:t>
            </a:r>
            <a:r>
              <a:rPr lang="en-US" u="sng" dirty="0">
                <a:hlinkClick r:id="rId4"/>
              </a:rPr>
              <a:t>https://appinventiv.com/blog/blockchain-in-aviation/</a:t>
            </a:r>
            <a:r>
              <a:rPr lang="en-US" dirty="0"/>
              <a:t> ..</a:t>
            </a:r>
          </a:p>
          <a:p>
            <a:pPr marL="514350" lvl="0" indent="-514350">
              <a:buFont typeface="+mj-lt"/>
              <a:buAutoNum type="arabicPeriod" startAt="31"/>
            </a:pPr>
            <a:r>
              <a:rPr lang="en-US" dirty="0"/>
              <a:t>Efthymiou, M., McCarthy, K., Markou, C. and O’Connell, J.F. (2022) </a:t>
            </a:r>
            <a:r>
              <a:rPr lang="en-US" i="1" dirty="0"/>
              <a:t>An exploratory research on blockchain in aviation: The case of maintenance, repair and overhaul (MRO) organizations</a:t>
            </a:r>
            <a:r>
              <a:rPr lang="en-US" dirty="0"/>
              <a:t>. Sustainability, 14(5), 2643. .: </a:t>
            </a:r>
            <a:r>
              <a:rPr lang="en-US" u="sng" dirty="0">
                <a:hlinkClick r:id="rId5"/>
              </a:rPr>
              <a:t>https://doras.dcu.ie/26831/1/sustainability-14-02643.pdf</a:t>
            </a:r>
            <a:r>
              <a:rPr lang="en-US" dirty="0"/>
              <a:t> ..</a:t>
            </a:r>
          </a:p>
          <a:p>
            <a:pPr marL="514350" lvl="0" indent="-514350">
              <a:buFont typeface="+mj-lt"/>
              <a:buAutoNum type="arabicPeriod" startAt="31"/>
            </a:pPr>
            <a:r>
              <a:rPr lang="en-US" dirty="0"/>
              <a:t>SITA (2017) </a:t>
            </a:r>
            <a:r>
              <a:rPr lang="en-US" i="1" dirty="0" err="1"/>
              <a:t>FlightChain</a:t>
            </a:r>
            <a:r>
              <a:rPr lang="en-US" i="1" dirty="0"/>
              <a:t>: “Smart contracts” for shared control of data?</a:t>
            </a:r>
            <a:r>
              <a:rPr lang="en-US" dirty="0"/>
              <a:t> SITA White Paper. .: </a:t>
            </a:r>
            <a:r>
              <a:rPr lang="en-US" u="sng" dirty="0">
                <a:hlinkClick r:id="rId6"/>
              </a:rPr>
              <a:t>https://www.sita.aero/resources/White-papers/flightchain-shared-control-of-data/</a:t>
            </a:r>
            <a:r>
              <a:rPr lang="en-US" dirty="0"/>
              <a:t> ..</a:t>
            </a:r>
          </a:p>
          <a:p>
            <a:pPr marL="514350" lvl="0" indent="-514350">
              <a:buFont typeface="+mj-lt"/>
              <a:buAutoNum type="arabicPeriod" startAt="31"/>
            </a:pPr>
            <a:r>
              <a:rPr lang="en-US" dirty="0"/>
              <a:t>Baker, J. (2018) </a:t>
            </a:r>
            <a:r>
              <a:rPr lang="en-US" i="1" dirty="0"/>
              <a:t>Blockchain: The future of flight data management?</a:t>
            </a:r>
            <a:r>
              <a:rPr lang="en-US" dirty="0"/>
              <a:t> Airport Industry Review. .: </a:t>
            </a:r>
            <a:r>
              <a:rPr lang="en-US" u="sng" dirty="0">
                <a:hlinkClick r:id="rId7"/>
              </a:rPr>
              <a:t>https://airport.nridigital.com/air_yearbook_2018/blockchain_the_future_of_flight_data_management</a:t>
            </a:r>
            <a:r>
              <a:rPr lang="en-US" dirty="0"/>
              <a:t> ..</a:t>
            </a:r>
          </a:p>
          <a:p>
            <a:pPr marL="514350" lvl="0" indent="-514350">
              <a:buFont typeface="+mj-lt"/>
              <a:buAutoNum type="arabicPeriod" startAt="31"/>
            </a:pPr>
            <a:r>
              <a:rPr lang="en-US" dirty="0"/>
              <a:t>International Air Transport Association (IATA) (2020) </a:t>
            </a:r>
            <a:r>
              <a:rPr lang="en-US" i="1" dirty="0"/>
              <a:t>Annual Review 2020</a:t>
            </a:r>
            <a:r>
              <a:rPr lang="en-US" dirty="0"/>
              <a:t>. IATA. .: </a:t>
            </a:r>
            <a:r>
              <a:rPr lang="en-US" u="sng" dirty="0">
                <a:hlinkClick r:id="rId8"/>
              </a:rPr>
              <a:t>https://www.iata.org/contentassets/c81222d96c9a4e0bb4ff6ced0126f0bb/iata-annual-review-2020.pdf</a:t>
            </a:r>
            <a:r>
              <a:rPr lang="en-US" dirty="0"/>
              <a:t> ..</a:t>
            </a:r>
          </a:p>
          <a:p>
            <a:pPr marL="514350" lvl="0" indent="-514350">
              <a:buFont typeface="+mj-lt"/>
              <a:buAutoNum type="arabicPeriod" startAt="31"/>
            </a:pPr>
            <a:r>
              <a:rPr lang="en-US" dirty="0"/>
              <a:t>International Civil Aviation Organization (ICAO) (2019) </a:t>
            </a:r>
            <a:r>
              <a:rPr lang="en-US" i="1" dirty="0"/>
              <a:t>Performance audit report on data management</a:t>
            </a:r>
            <a:r>
              <a:rPr lang="en-US" dirty="0"/>
              <a:t>. ICAO. .: </a:t>
            </a:r>
            <a:r>
              <a:rPr lang="en-US" u="sng" dirty="0">
                <a:hlinkClick r:id="rId9"/>
              </a:rPr>
              <a:t>https://www.icao.int/sites/default/files/secretariat/OfficeOfInternalOversight/Final-Oversight-Reports/Performance-Audit-Report-on-Data-Management-Public-Disclosure.pdf</a:t>
            </a:r>
            <a:r>
              <a:rPr lang="en-US" dirty="0"/>
              <a:t> ..</a:t>
            </a:r>
          </a:p>
          <a:p>
            <a:pPr marL="514350" lvl="0" indent="-514350">
              <a:buFont typeface="+mj-lt"/>
              <a:buAutoNum type="arabicPeriod" startAt="31"/>
            </a:pPr>
            <a:r>
              <a:rPr lang="en-US" dirty="0"/>
              <a:t>Information Commissioner’s Office (ICO) (2025) </a:t>
            </a:r>
            <a:r>
              <a:rPr lang="en-US" i="1" dirty="0"/>
              <a:t>Right to erasure</a:t>
            </a:r>
            <a:r>
              <a:rPr lang="en-US" dirty="0"/>
              <a:t>. UK Information Commissioner’s Office. .: </a:t>
            </a:r>
            <a:r>
              <a:rPr lang="en-US" u="sng" dirty="0">
                <a:hlinkClick r:id="rId10"/>
              </a:rPr>
              <a:t>https://ico.org.uk/for-organisations/uk-gdpr-guidance-and-resources/individual-rights/individual-rights/right-to-erasure/</a:t>
            </a:r>
            <a:r>
              <a:rPr lang="en-US" dirty="0"/>
              <a:t> ..</a:t>
            </a:r>
          </a:p>
          <a:p>
            <a:pPr marL="514350" lvl="0" indent="-514350">
              <a:buFont typeface="+mj-lt"/>
              <a:buAutoNum type="arabicPeriod" startAt="31"/>
            </a:pPr>
            <a:r>
              <a:rPr lang="en-US" dirty="0"/>
              <a:t>European Data Protection Board (EDPB) (2019) </a:t>
            </a:r>
            <a:r>
              <a:rPr lang="en-US" i="1" dirty="0"/>
              <a:t>Guidelines 5/2019 on the criteria of the Right to be Forgotten in the search engines cases under the GDPR</a:t>
            </a:r>
            <a:r>
              <a:rPr lang="en-US" dirty="0"/>
              <a:t>. EDPB. .: </a:t>
            </a:r>
            <a:r>
              <a:rPr lang="en-US" u="sng" dirty="0">
                <a:hlinkClick r:id="rId11"/>
              </a:rPr>
              <a:t>https://www.edpb.europa.eu/sites/default/files/files/file1/edpb_guidelines_201905_rtbfsearchengines_afterpublicconsultation_en.pdf</a:t>
            </a:r>
            <a:r>
              <a:rPr lang="en-US" dirty="0"/>
              <a:t> ..</a:t>
            </a:r>
          </a:p>
          <a:p>
            <a:pPr marL="514350" lvl="0" indent="-514350">
              <a:buFont typeface="+mj-lt"/>
              <a:buAutoNum type="arabicPeriod" startAt="31"/>
            </a:pPr>
            <a:r>
              <a:rPr lang="en-US" dirty="0"/>
              <a:t>Deloitte (2018) </a:t>
            </a:r>
            <a:r>
              <a:rPr lang="en-US" i="1" dirty="0"/>
              <a:t>Data-driven process </a:t>
            </a:r>
            <a:r>
              <a:rPr lang="en-US" i="1" dirty="0" err="1"/>
              <a:t>optimisation</a:t>
            </a:r>
            <a:r>
              <a:rPr lang="en-US" i="1" dirty="0"/>
              <a:t> in the aviation industry (White Paper)</a:t>
            </a:r>
            <a:r>
              <a:rPr lang="en-US" dirty="0"/>
              <a:t>. Deloitte. .: </a:t>
            </a:r>
            <a:r>
              <a:rPr lang="en-US" u="sng" dirty="0">
                <a:hlinkClick r:id="rId12"/>
              </a:rPr>
              <a:t>https://www.deloitte.com/global/en/Industries/transportation/perspectives/data-driven-process-optimization-in-the-aviation-industry.html</a:t>
            </a:r>
            <a:r>
              <a:rPr lang="en-US" dirty="0"/>
              <a:t> ..</a:t>
            </a:r>
          </a:p>
          <a:p>
            <a:pPr marL="514350" lvl="0" indent="-514350">
              <a:buFont typeface="+mj-lt"/>
              <a:buAutoNum type="arabicPeriod" startAt="31"/>
            </a:pPr>
            <a:r>
              <a:rPr lang="en-US" dirty="0"/>
              <a:t>SITA (2018) </a:t>
            </a:r>
            <a:r>
              <a:rPr lang="en-US" i="1" dirty="0"/>
              <a:t>Blockchain going up the priority list for airlines and airports</a:t>
            </a:r>
            <a:r>
              <a:rPr lang="en-US" dirty="0"/>
              <a:t>. Aerospace Global News. .: </a:t>
            </a:r>
            <a:r>
              <a:rPr lang="en-US" u="sng" dirty="0">
                <a:hlinkClick r:id="rId13"/>
              </a:rPr>
              <a:t>https://aerospaceglobalnews.com/news/blockchain-going-up-the-priority-list-for-airlines-and-airports/</a:t>
            </a:r>
            <a:r>
              <a:rPr lang="en-US" dirty="0"/>
              <a:t> ..</a:t>
            </a:r>
          </a:p>
          <a:p>
            <a:pPr marL="514350" lvl="0" indent="-514350">
              <a:buFont typeface="+mj-lt"/>
              <a:buAutoNum type="arabicPeriod" startAt="31"/>
            </a:pPr>
            <a:r>
              <a:rPr lang="en-US" dirty="0"/>
              <a:t>SITA (2022) </a:t>
            </a:r>
            <a:r>
              <a:rPr lang="en-US" i="1" dirty="0"/>
              <a:t>Chair’s statement 2021</a:t>
            </a:r>
            <a:r>
              <a:rPr lang="en-US" dirty="0"/>
              <a:t>. SITA Activity Report 2021. .: </a:t>
            </a:r>
            <a:r>
              <a:rPr lang="en-US" u="sng" dirty="0">
                <a:hlinkClick r:id="rId14"/>
              </a:rPr>
              <a:t>https://www.sita.aero/sita-activity-report-2021/executive-statements/chair-statement/</a:t>
            </a:r>
            <a:r>
              <a:rPr lang="en-US" dirty="0"/>
              <a:t> ..</a:t>
            </a:r>
          </a:p>
          <a:p>
            <a:pPr marL="514350" lvl="0" indent="-514350">
              <a:buFont typeface="+mj-lt"/>
              <a:buAutoNum type="arabicPeriod" startAt="31"/>
            </a:pPr>
            <a:r>
              <a:rPr lang="en-US" dirty="0"/>
              <a:t>EUROCONTROL (2021) </a:t>
            </a:r>
            <a:r>
              <a:rPr lang="en-US" i="1" dirty="0"/>
              <a:t>Network Operations Report 2020</a:t>
            </a:r>
            <a:r>
              <a:rPr lang="en-US" dirty="0"/>
              <a:t>. EUROCONTROL Network Manager. .: </a:t>
            </a:r>
            <a:r>
              <a:rPr lang="en-US" u="sng" dirty="0">
                <a:hlinkClick r:id="rId15"/>
              </a:rPr>
              <a:t>https://www.eurocontrol.int/sites/default/files/2021-04/eurocontrol-annual-nor-2020-main-report.pdf</a:t>
            </a:r>
            <a:r>
              <a:rPr lang="en-US" dirty="0"/>
              <a:t> ..</a:t>
            </a:r>
          </a:p>
          <a:p>
            <a:pPr marL="514350" lvl="0" indent="-514350">
              <a:buFont typeface="+mj-lt"/>
              <a:buAutoNum type="arabicPeriod" startAt="31"/>
            </a:pPr>
            <a:r>
              <a:rPr lang="en-US" dirty="0"/>
              <a:t>Lufthansa Group (2024) </a:t>
            </a:r>
            <a:r>
              <a:rPr lang="en-US" i="1" dirty="0"/>
              <a:t>Flight content distribution on the Camino Blockchain</a:t>
            </a:r>
            <a:r>
              <a:rPr lang="en-US" dirty="0"/>
              <a:t>. YouTube. .: </a:t>
            </a:r>
            <a:r>
              <a:rPr lang="en-US" u="sng" dirty="0">
                <a:hlinkClick r:id="rId16"/>
              </a:rPr>
              <a:t>https://youtu.be/PTAQ6azDSRM</a:t>
            </a:r>
            <a:r>
              <a:rPr lang="en-US" dirty="0"/>
              <a:t> ..</a:t>
            </a:r>
          </a:p>
          <a:p>
            <a:pPr marL="514350" lvl="0" indent="-514350">
              <a:buFont typeface="+mj-lt"/>
              <a:buAutoNum type="arabicPeriod" startAt="31"/>
            </a:pPr>
            <a:r>
              <a:rPr lang="en-US" dirty="0"/>
              <a:t>Bajaj, K. and Bala, M. (n.d.) </a:t>
            </a:r>
            <a:r>
              <a:rPr lang="en-US" i="1" dirty="0"/>
              <a:t>Blockchain in the tourism industry: A new era of secure and transparent travel solutions</a:t>
            </a:r>
            <a:r>
              <a:rPr lang="en-US" dirty="0"/>
              <a:t>. Springer. .: </a:t>
            </a:r>
            <a:r>
              <a:rPr lang="en-US" u="sng" dirty="0">
                <a:hlinkClick r:id="rId17"/>
              </a:rPr>
              <a:t>https://www.springerprofessional.de/en/blockchain-in-the-tourism-industry-a-new-era-of-secure-and-trans/51283202</a:t>
            </a:r>
            <a:r>
              <a:rPr lang="en-US" dirty="0"/>
              <a:t> ..</a:t>
            </a:r>
          </a:p>
          <a:p>
            <a:pPr marL="514350" lvl="0" indent="-514350">
              <a:buFont typeface="+mj-lt"/>
              <a:buAutoNum type="arabicPeriod" startAt="31"/>
            </a:pPr>
            <a:r>
              <a:rPr lang="en-US" dirty="0"/>
              <a:t>Lufthansa Industry Solutions (n.d.) </a:t>
            </a:r>
            <a:r>
              <a:rPr lang="en-US" i="1" dirty="0"/>
              <a:t>Generating more transparency in aviation with blockchain technology (BC4A Initiative)</a:t>
            </a:r>
            <a:r>
              <a:rPr lang="en-US" dirty="0"/>
              <a:t>. Lufthansa Industry Solutions. .: </a:t>
            </a:r>
            <a:r>
              <a:rPr lang="en-US" u="sng" dirty="0">
                <a:hlinkClick r:id="rId18"/>
              </a:rPr>
              <a:t>https://www.lufthansa-industry-solutions.com/de-en/solutions-products/aviation/generating-more-transparency-in-aviation-with-blockchain-technology</a:t>
            </a:r>
            <a:r>
              <a:rPr lang="en-US" dirty="0"/>
              <a:t> ..</a:t>
            </a:r>
          </a:p>
          <a:p>
            <a:pPr marL="514350" lvl="0" indent="-514350">
              <a:buFont typeface="+mj-lt"/>
              <a:buAutoNum type="arabicPeriod" startAt="31"/>
            </a:pPr>
            <a:r>
              <a:rPr lang="en-US" dirty="0" err="1"/>
              <a:t>Universidade</a:t>
            </a:r>
            <a:r>
              <a:rPr lang="en-US" dirty="0"/>
              <a:t> Católica Portuguesa (n.d.) </a:t>
            </a:r>
            <a:r>
              <a:rPr lang="en-US" i="1" dirty="0"/>
              <a:t>Repository entry</a:t>
            </a:r>
            <a:r>
              <a:rPr lang="en-US" dirty="0"/>
              <a:t>. </a:t>
            </a:r>
            <a:r>
              <a:rPr lang="en-US" dirty="0" err="1"/>
              <a:t>Universidade</a:t>
            </a:r>
            <a:r>
              <a:rPr lang="en-US" dirty="0"/>
              <a:t> Católica Portuguesa Repository. .: </a:t>
            </a:r>
            <a:r>
              <a:rPr lang="en-US" u="sng" dirty="0">
                <a:hlinkClick r:id="rId19"/>
              </a:rPr>
              <a:t>https://repositorio.ucp.pt/server/api/core/bitstreams/8c5018b5-8c6e-49e3-b06d-385358806946/content</a:t>
            </a:r>
            <a:r>
              <a:rPr lang="en-US" dirty="0"/>
              <a:t> ..</a:t>
            </a:r>
          </a:p>
          <a:p>
            <a:pPr marL="514350" lvl="0" indent="-514350">
              <a:buFont typeface="+mj-lt"/>
              <a:buAutoNum type="arabicPeriod" startAt="31"/>
            </a:pPr>
            <a:r>
              <a:rPr lang="en-US" dirty="0"/>
              <a:t>Yahoo Finance (n.d.) </a:t>
            </a:r>
            <a:r>
              <a:rPr lang="en-US" i="1" dirty="0"/>
              <a:t>Lufthansa announces global blockchain challenge for the aviation industry</a:t>
            </a:r>
            <a:r>
              <a:rPr lang="en-US" dirty="0"/>
              <a:t>. Yahoo Finance. .: </a:t>
            </a:r>
            <a:r>
              <a:rPr lang="en-US" u="sng" dirty="0">
                <a:hlinkClick r:id="rId20"/>
              </a:rPr>
              <a:t>https://au.finance.yahoo.com/news/lufthansa-announces-global-blockchain-challenge-113420763.html</a:t>
            </a:r>
            <a:r>
              <a:rPr lang="en-US" dirty="0"/>
              <a:t> ..</a:t>
            </a:r>
          </a:p>
          <a:p>
            <a:pPr marL="514350" lvl="0" indent="-514350">
              <a:buFont typeface="+mj-lt"/>
              <a:buAutoNum type="arabicPeriod" startAt="31"/>
            </a:pPr>
            <a:r>
              <a:rPr lang="en-US" dirty="0"/>
              <a:t>Lufthansa Systems (n.d.) </a:t>
            </a:r>
            <a:r>
              <a:rPr lang="en-US" i="1" dirty="0"/>
              <a:t>The Lufthansa Systems blockchain hackathon</a:t>
            </a:r>
            <a:r>
              <a:rPr lang="en-US" dirty="0"/>
              <a:t>. YouTube. .: </a:t>
            </a:r>
            <a:r>
              <a:rPr lang="en-US" u="sng" dirty="0">
                <a:hlinkClick r:id="rId21"/>
              </a:rPr>
              <a:t>https://www.youtube.com/watch?v=n3D9-WJcgis</a:t>
            </a:r>
            <a:r>
              <a:rPr lang="en-US" dirty="0"/>
              <a:t> ..</a:t>
            </a:r>
          </a:p>
          <a:p>
            <a:pPr marL="514350" lvl="0" indent="-514350">
              <a:buFont typeface="+mj-lt"/>
              <a:buAutoNum type="arabicPeriod" startAt="31"/>
            </a:pPr>
            <a:r>
              <a:rPr lang="en-US" dirty="0"/>
              <a:t>Insights Podcast (n.d.) </a:t>
            </a:r>
            <a:r>
              <a:rPr lang="en-US" i="1" dirty="0"/>
              <a:t>Lufthansa’s Steffen Boller shares the airline’s blockchain loyalty strategy (</a:t>
            </a:r>
            <a:r>
              <a:rPr lang="en-US" i="1" dirty="0" err="1"/>
              <a:t>Uptrip</a:t>
            </a:r>
            <a:r>
              <a:rPr lang="en-US" i="1" dirty="0"/>
              <a:t> Web3 loyalty program)</a:t>
            </a:r>
            <a:r>
              <a:rPr lang="en-US" dirty="0"/>
              <a:t>. YouTube. .: </a:t>
            </a:r>
            <a:r>
              <a:rPr lang="en-US" u="sng" dirty="0">
                <a:hlinkClick r:id="rId22"/>
              </a:rPr>
              <a:t>https://www.youtube.com/watch?v=Zn96NDdIFps</a:t>
            </a:r>
            <a:r>
              <a:rPr lang="en-US" dirty="0"/>
              <a:t> ..</a:t>
            </a:r>
          </a:p>
          <a:p>
            <a:pPr marL="514350" lvl="0" indent="-514350">
              <a:buFont typeface="+mj-lt"/>
              <a:buAutoNum type="arabicPeriod" startAt="31"/>
            </a:pPr>
            <a:r>
              <a:rPr lang="en-US" dirty="0"/>
              <a:t>Hesselbarth, C. et al. (2021) </a:t>
            </a:r>
            <a:r>
              <a:rPr lang="en-US" i="1" dirty="0"/>
              <a:t>The impact of blockchain on the aviation industry: Findings from a qualitative study</a:t>
            </a:r>
            <a:r>
              <a:rPr lang="en-US" dirty="0"/>
              <a:t>. Journal of Air Transport Management. .: </a:t>
            </a:r>
            <a:r>
              <a:rPr lang="en-US" u="sng" dirty="0">
                <a:hlinkClick r:id="rId2"/>
              </a:rPr>
              <a:t>https://www.sciencedirect.com/science/article/abs/pii/S2210539521000523</a:t>
            </a:r>
            <a:r>
              <a:rPr lang="en-US" dirty="0"/>
              <a:t> ..</a:t>
            </a:r>
          </a:p>
          <a:p>
            <a:pPr marL="514350" lvl="0" indent="-514350">
              <a:buFont typeface="+mj-lt"/>
              <a:buAutoNum type="arabicPeriod" startAt="31"/>
            </a:pPr>
            <a:r>
              <a:rPr lang="en-US" dirty="0"/>
              <a:t>Amadeus (n.d.) </a:t>
            </a:r>
            <a:r>
              <a:rPr lang="en-US" i="1" dirty="0"/>
              <a:t>Amadeus to support EU Digital ID Wallet, simplifying travel in Europe</a:t>
            </a:r>
            <a:r>
              <a:rPr lang="en-US" dirty="0"/>
              <a:t>. Amadeus. .: </a:t>
            </a:r>
            <a:r>
              <a:rPr lang="en-US" u="sng" dirty="0">
                <a:hlinkClick r:id="rId23"/>
              </a:rPr>
              <a:t>https://amadeus.com/en/newsroom/press-releases/amadeus-lufthansa-eu-digital-identity-wallet</a:t>
            </a:r>
            <a:r>
              <a:rPr lang="en-US" dirty="0"/>
              <a:t> ..</a:t>
            </a:r>
          </a:p>
          <a:p>
            <a:pPr marL="514350" lvl="0" indent="-514350">
              <a:buFont typeface="+mj-lt"/>
              <a:buAutoNum type="arabicPeriod" startAt="31"/>
            </a:pPr>
            <a:r>
              <a:rPr lang="en-US" dirty="0" err="1"/>
              <a:t>arXiv</a:t>
            </a:r>
            <a:r>
              <a:rPr lang="en-US" dirty="0"/>
              <a:t> (2024) </a:t>
            </a:r>
            <a:r>
              <a:rPr lang="en-US" i="1" dirty="0"/>
              <a:t>Technical paper on blockchain/aviation</a:t>
            </a:r>
            <a:r>
              <a:rPr lang="en-US" dirty="0"/>
              <a:t>. </a:t>
            </a:r>
            <a:r>
              <a:rPr lang="en-US" dirty="0" err="1"/>
              <a:t>arXiv</a:t>
            </a:r>
            <a:r>
              <a:rPr lang="en-US" dirty="0"/>
              <a:t> preprint arXiv:2410.14518. .: </a:t>
            </a:r>
            <a:r>
              <a:rPr lang="en-US" u="sng" dirty="0">
                <a:hlinkClick r:id="rId24"/>
              </a:rPr>
              <a:t>https://arxiv.org/pdf/2410.14518.pdf</a:t>
            </a:r>
            <a:r>
              <a:rPr lang="en-US" dirty="0"/>
              <a:t> ..</a:t>
            </a:r>
          </a:p>
          <a:p>
            <a:pPr marL="514350" indent="-514350">
              <a:buFont typeface="+mj-lt"/>
              <a:buAutoNum type="arabicPeriod" startAt="31"/>
            </a:pPr>
            <a:endParaRPr lang="en-US" dirty="0"/>
          </a:p>
        </p:txBody>
      </p:sp>
    </p:spTree>
    <p:extLst>
      <p:ext uri="{BB962C8B-B14F-4D97-AF65-F5344CB8AC3E}">
        <p14:creationId xmlns:p14="http://schemas.microsoft.com/office/powerpoint/2010/main" val="3312660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3F0FE-2C80-7E87-3846-7206B162F358}"/>
              </a:ext>
            </a:extLst>
          </p:cNvPr>
          <p:cNvSpPr>
            <a:spLocks noGrp="1"/>
          </p:cNvSpPr>
          <p:nvPr>
            <p:ph type="title"/>
          </p:nvPr>
        </p:nvSpPr>
        <p:spPr/>
        <p:txBody>
          <a:bodyPr>
            <a:normAutofit fontScale="90000"/>
          </a:bodyPr>
          <a:lstStyle/>
          <a:p>
            <a:r>
              <a:rPr lang="en-US" b="1" dirty="0"/>
              <a:t>Reflection of Muhammad Shoaib Baig</a:t>
            </a:r>
            <a:br>
              <a:rPr lang="en-US" dirty="0"/>
            </a:br>
            <a:endParaRPr lang="en-US" dirty="0"/>
          </a:p>
        </p:txBody>
      </p:sp>
      <p:sp>
        <p:nvSpPr>
          <p:cNvPr id="3" name="Content Placeholder 2">
            <a:extLst>
              <a:ext uri="{FF2B5EF4-FFF2-40B4-BE49-F238E27FC236}">
                <a16:creationId xmlns:a16="http://schemas.microsoft.com/office/drawing/2014/main" id="{091A8D84-5C28-C9EE-A0E8-F1A3DA1EC13D}"/>
              </a:ext>
            </a:extLst>
          </p:cNvPr>
          <p:cNvSpPr>
            <a:spLocks noGrp="1"/>
          </p:cNvSpPr>
          <p:nvPr>
            <p:ph idx="1"/>
          </p:nvPr>
        </p:nvSpPr>
        <p:spPr>
          <a:xfrm>
            <a:off x="457200" y="1600200"/>
            <a:ext cx="17068800" cy="8412162"/>
          </a:xfrm>
        </p:spPr>
        <p:txBody>
          <a:bodyPr>
            <a:normAutofit fontScale="77500" lnSpcReduction="20000"/>
          </a:bodyPr>
          <a:lstStyle/>
          <a:p>
            <a:pPr marL="0" indent="0" algn="just">
              <a:buNone/>
            </a:pPr>
            <a:r>
              <a:rPr lang="en-US" dirty="0"/>
              <a:t>This reflection is an opportunity to tell you about my experience as a leader of Group 6. To achieve the success of the entire project, I felt that my responsibility was to ensure that the rest of the group members divided the tasks according to their particular strengths. At the point when the project topic selection voting was completed and we settled on our topic of this project, it was my responsibility to do the initial research so that I could know what the project was all about and present this information to the rest of the group members and what are we trying to accomplish. I also wanted to ensure that this was the right subject between us. I realized that </a:t>
            </a:r>
            <a:r>
              <a:rPr lang="en-US" dirty="0" err="1"/>
              <a:t>FlightChain</a:t>
            </a:r>
            <a:r>
              <a:rPr lang="en-US" dirty="0"/>
              <a:t> was a compelling case study since it operated effectively technically to handle two million flight changes but encountered problems in the real world.</a:t>
            </a:r>
          </a:p>
          <a:p>
            <a:pPr marL="0" indent="0" algn="just">
              <a:buNone/>
            </a:pPr>
            <a:endParaRPr lang="en-US" dirty="0"/>
          </a:p>
          <a:p>
            <a:pPr marL="0" indent="0" algn="just">
              <a:buNone/>
            </a:pPr>
            <a:r>
              <a:rPr lang="en-US" dirty="0"/>
              <a:t>As soon as we began, I became the leader in terms of time </a:t>
            </a:r>
            <a:r>
              <a:rPr lang="en-US" dirty="0" err="1"/>
              <a:t>organisation</a:t>
            </a:r>
            <a:r>
              <a:rPr lang="en-US" dirty="0"/>
              <a:t>. I did not want us to use Microsoft Teams only, so I ensured that we were meeting in person by reserving meeting rooms in the library of JB Priestley. In such sessions, I paid attention to professional demeanor. I also established house rules so that we could be on point and could not get distracted.</a:t>
            </a:r>
          </a:p>
          <a:p>
            <a:pPr marL="0" indent="0" algn="just">
              <a:buNone/>
            </a:pPr>
            <a:endParaRPr lang="en-US" dirty="0"/>
          </a:p>
          <a:p>
            <a:pPr marL="0" indent="0" algn="just">
              <a:buNone/>
            </a:pPr>
            <a:r>
              <a:rPr lang="en-US" dirty="0"/>
              <a:t>I also had the responsibility of taking care of the team workload. I assigned particular duties to the members and was the one pursuing them when information was not provided. I attempted to be a supportive leader and ensure that I was around whenever there was a person struggling with a complex concept such as Triangulation and permissioned Ledgers.</a:t>
            </a:r>
          </a:p>
          <a:p>
            <a:pPr marL="0" indent="0" algn="just">
              <a:buNone/>
            </a:pPr>
            <a:endParaRPr lang="en-US" dirty="0"/>
          </a:p>
          <a:p>
            <a:pPr marL="0" indent="0" algn="just">
              <a:buNone/>
            </a:pPr>
            <a:r>
              <a:rPr lang="en-US" dirty="0"/>
              <a:t>Triangulation Methodology was one of the most important choices that I made. We ensured that we verify what we have in our slides through comparison with other sources. As an example, I led the team to cross verify the technical success stated by SITA and the legal warnings of the government reports.</a:t>
            </a:r>
          </a:p>
          <a:p>
            <a:pPr marL="0" indent="0" algn="just">
              <a:buNone/>
            </a:pPr>
            <a:endParaRPr lang="en-US" dirty="0"/>
          </a:p>
          <a:p>
            <a:pPr marL="0" indent="0" algn="just">
              <a:buNone/>
            </a:pPr>
            <a:r>
              <a:rPr lang="en-US" dirty="0"/>
              <a:t>Conclusion: As the leader on this project, it was a challenge of integrating the various research works of the other five team members into a single clear visual narrative. The result of my strong emphasis on triangulation and the choice of the </a:t>
            </a:r>
            <a:r>
              <a:rPr lang="en-US" dirty="0" err="1"/>
              <a:t>centre</a:t>
            </a:r>
            <a:r>
              <a:rPr lang="en-US" dirty="0"/>
              <a:t> of our slides on the Governance Paradox made our presentation a critical and evidence-based analysis. We have been able to demonstrate the reasons why </a:t>
            </a:r>
            <a:r>
              <a:rPr lang="en-US" dirty="0" err="1"/>
              <a:t>FlightChain</a:t>
            </a:r>
            <a:r>
              <a:rPr lang="en-US" dirty="0"/>
              <a:t> worked technically but failed at the organisational one.</a:t>
            </a:r>
          </a:p>
          <a:p>
            <a:pPr algn="just"/>
            <a:endParaRPr lang="en-US" dirty="0"/>
          </a:p>
        </p:txBody>
      </p:sp>
    </p:spTree>
    <p:extLst>
      <p:ext uri="{BB962C8B-B14F-4D97-AF65-F5344CB8AC3E}">
        <p14:creationId xmlns:p14="http://schemas.microsoft.com/office/powerpoint/2010/main" val="1099120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5781-E36F-C40F-47AC-0115C789B91D}"/>
              </a:ext>
            </a:extLst>
          </p:cNvPr>
          <p:cNvSpPr>
            <a:spLocks noGrp="1"/>
          </p:cNvSpPr>
          <p:nvPr>
            <p:ph type="title"/>
          </p:nvPr>
        </p:nvSpPr>
        <p:spPr/>
        <p:txBody>
          <a:bodyPr>
            <a:normAutofit fontScale="90000"/>
          </a:bodyPr>
          <a:lstStyle/>
          <a:p>
            <a:pPr algn="l"/>
            <a:r>
              <a:rPr lang="en-US" b="1" dirty="0"/>
              <a:t>Reflection of Niraj Joshi</a:t>
            </a:r>
            <a:br>
              <a:rPr lang="en-US" dirty="0"/>
            </a:br>
            <a:endParaRPr lang="en-US" dirty="0"/>
          </a:p>
        </p:txBody>
      </p:sp>
      <p:sp>
        <p:nvSpPr>
          <p:cNvPr id="3" name="Content Placeholder 2">
            <a:extLst>
              <a:ext uri="{FF2B5EF4-FFF2-40B4-BE49-F238E27FC236}">
                <a16:creationId xmlns:a16="http://schemas.microsoft.com/office/drawing/2014/main" id="{A2B6A294-8CD4-EAFC-34E2-EE3171815A0B}"/>
              </a:ext>
            </a:extLst>
          </p:cNvPr>
          <p:cNvSpPr>
            <a:spLocks noGrp="1"/>
          </p:cNvSpPr>
          <p:nvPr>
            <p:ph idx="1"/>
          </p:nvPr>
        </p:nvSpPr>
        <p:spPr>
          <a:xfrm>
            <a:off x="457200" y="1600200"/>
            <a:ext cx="17830800" cy="8412162"/>
          </a:xfrm>
        </p:spPr>
        <p:txBody>
          <a:bodyPr>
            <a:normAutofit fontScale="85000" lnSpcReduction="10000"/>
          </a:bodyPr>
          <a:lstStyle/>
          <a:p>
            <a:pPr marL="0" indent="0" algn="just">
              <a:buNone/>
            </a:pPr>
            <a:r>
              <a:rPr lang="en-US" dirty="0"/>
              <a:t>I hope you are doing great and I also wish to take a moment to thank you on your lectures and seminars. Your effort and the dedication that you give to teaching is amazing and it has been something that has guided me during this assignment.</a:t>
            </a:r>
          </a:p>
          <a:p>
            <a:pPr marL="0" indent="0" algn="just">
              <a:buNone/>
            </a:pPr>
            <a:r>
              <a:rPr lang="en-US" dirty="0"/>
              <a:t>At the inception of the case study exercise, I started by taking a close glance at the guidelines of the assignment you have presented. I subdivided the instructions into major points and then brainstormed the possible topics to make it understandable. At first, I came up with about twenty potential ideas, yet I filtered them down through assessing the availability and usefulness of the reliable sources, as well as relevance to the assignment. I narrowed down to five topics after this process and gave out a poll in our WhatsApp group to engage my peers in the decision-making. Most people picked </a:t>
            </a:r>
            <a:r>
              <a:rPr lang="en-US" dirty="0" err="1"/>
              <a:t>FlightsChain</a:t>
            </a:r>
            <a:r>
              <a:rPr lang="en-US" dirty="0"/>
              <a:t>, which appeared the most innovative and interesting.</a:t>
            </a:r>
          </a:p>
          <a:p>
            <a:pPr marL="0" indent="0" algn="just">
              <a:buNone/>
            </a:pPr>
            <a:r>
              <a:rPr lang="en-US" dirty="0"/>
              <a:t>After finalizing the topic, I worked with my friends who were undertaking similar assignments to collect information. The report which we prepared was a long one, almost 9,500 words. I was supposed to compress this material to a more digestible format. I also made the slides outlines, summarized the information on the slide into a list of bullet points and made sure that the presentation did not produce the same effect of making the audience bored.</a:t>
            </a:r>
          </a:p>
          <a:p>
            <a:pPr marL="0" indent="0" algn="just">
              <a:buNone/>
            </a:pPr>
            <a:r>
              <a:rPr lang="en-US" dirty="0"/>
              <a:t>I was in charge of designing the slides and visualization as I am conversant with Canvas. I do hope that the graphics that I produced show the effort that I put into making the presentation interesting. I organized with the team members to make the right decisions regarding the use of </a:t>
            </a:r>
            <a:r>
              <a:rPr lang="en-US" dirty="0" err="1"/>
              <a:t>cliparts</a:t>
            </a:r>
            <a:r>
              <a:rPr lang="en-US" dirty="0"/>
              <a:t> and design options, as well as to examine scholarly articles and references to make the references strong. I have also tried using AI tools to create image </a:t>
            </a:r>
            <a:r>
              <a:rPr lang="en-US" dirty="0" err="1"/>
              <a:t>cliparts</a:t>
            </a:r>
            <a:r>
              <a:rPr lang="en-US" dirty="0"/>
              <a:t>, as it increased the general attractiveness of the PowerPoint.</a:t>
            </a:r>
          </a:p>
          <a:p>
            <a:pPr marL="0" indent="0" algn="just">
              <a:buNone/>
            </a:pPr>
            <a:r>
              <a:rPr lang="en-US" dirty="0"/>
              <a:t>Overall, I made contributions of topic selection, refining content, visualizing content, and coordinating the team. It was a challenging and rewarding assignment and I am thankful that I got a chance to learn and apply these skills. I would like to thank you in reading my reflection.</a:t>
            </a:r>
          </a:p>
          <a:p>
            <a:pPr algn="just"/>
            <a:endParaRPr lang="en-US" dirty="0"/>
          </a:p>
        </p:txBody>
      </p:sp>
    </p:spTree>
    <p:extLst>
      <p:ext uri="{BB962C8B-B14F-4D97-AF65-F5344CB8AC3E}">
        <p14:creationId xmlns:p14="http://schemas.microsoft.com/office/powerpoint/2010/main" val="1307986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96D45-3F6A-E516-8459-BC38397AFCCE}"/>
              </a:ext>
            </a:extLst>
          </p:cNvPr>
          <p:cNvSpPr>
            <a:spLocks noGrp="1"/>
          </p:cNvSpPr>
          <p:nvPr>
            <p:ph type="title"/>
          </p:nvPr>
        </p:nvSpPr>
        <p:spPr/>
        <p:txBody>
          <a:bodyPr>
            <a:normAutofit fontScale="90000"/>
          </a:bodyPr>
          <a:lstStyle/>
          <a:p>
            <a:r>
              <a:rPr lang="en-US" b="1" dirty="0"/>
              <a:t>Reflection of Mohammed Uzair Patel</a:t>
            </a:r>
            <a:br>
              <a:rPr lang="en-US" dirty="0"/>
            </a:br>
            <a:endParaRPr lang="en-US" dirty="0"/>
          </a:p>
        </p:txBody>
      </p:sp>
      <p:sp>
        <p:nvSpPr>
          <p:cNvPr id="3" name="Content Placeholder 2">
            <a:extLst>
              <a:ext uri="{FF2B5EF4-FFF2-40B4-BE49-F238E27FC236}">
                <a16:creationId xmlns:a16="http://schemas.microsoft.com/office/drawing/2014/main" id="{328F88E8-9934-BA9E-7095-2753A9BAE9D9}"/>
              </a:ext>
            </a:extLst>
          </p:cNvPr>
          <p:cNvSpPr>
            <a:spLocks noGrp="1"/>
          </p:cNvSpPr>
          <p:nvPr>
            <p:ph idx="1"/>
          </p:nvPr>
        </p:nvSpPr>
        <p:spPr>
          <a:xfrm>
            <a:off x="457200" y="1600200"/>
            <a:ext cx="17449800" cy="8412162"/>
          </a:xfrm>
        </p:spPr>
        <p:txBody>
          <a:bodyPr>
            <a:normAutofit fontScale="92500" lnSpcReduction="10000"/>
          </a:bodyPr>
          <a:lstStyle/>
          <a:p>
            <a:pPr marL="0" indent="0">
              <a:buNone/>
            </a:pPr>
            <a:r>
              <a:rPr lang="en-US" dirty="0"/>
              <a:t>Here, I would like to present my contribution to the group assignment and comment on the process. My major task was to prepare the background of the case, which involved the preparation of the factual and situational aspects of the research. First, I conducted research to identify the kind of slide that we could create, and was able to confirm the structure we would have after going through a variety of references. This was the first step which made our presentation have a clear premise.</a:t>
            </a:r>
          </a:p>
          <a:p>
            <a:pPr marL="0" indent="0">
              <a:buNone/>
            </a:pPr>
            <a:r>
              <a:rPr lang="en-US" dirty="0"/>
              <a:t>I researched on media journals and academic articles to enhance the background of the case, as I aimed that the information was reliable and substantiated. I engaged in heavy citations and reference use, as to provide valuable articles and links to the group to keep everyone on track. This approach of collaboration contributed to our consistency and helped us to make sure that our work was based on trustworthy sources.</a:t>
            </a:r>
          </a:p>
          <a:p>
            <a:pPr marL="0" indent="0">
              <a:buNone/>
            </a:pPr>
            <a:r>
              <a:rPr lang="en-US" dirty="0"/>
              <a:t>Mapping the timeline of the project was one of my significant jobs. I described the story starting with the first White Paper in 2017 and emphasized the drastic change in 2019. Such a shift signified the shift towards the focus on testing blockchain technology to the focus on governance, and I believed it was essential to document this change. This arrangement of the timeline allowed me to assist the team in describing the way the project evolves with time and why governance became the key focus.</a:t>
            </a:r>
          </a:p>
          <a:p>
            <a:pPr marL="0" indent="0">
              <a:buNone/>
            </a:pPr>
            <a:r>
              <a:rPr lang="en-US" dirty="0"/>
              <a:t>In general, my work was a mixture of research, checking facts, and visualization. I was involved in the choice of the topics, formulation of the case background, and created a timeline, which placed the project in context. This assignment enabled me to work with scholarly materials and practice critical thinking, as well as provide the team with organized information. I am thankful to be given a chance to make a positive contribution and to be guided in the process.</a:t>
            </a:r>
          </a:p>
          <a:p>
            <a:pPr marL="0" indent="0">
              <a:buNone/>
            </a:pPr>
            <a:endParaRPr lang="en-US" dirty="0"/>
          </a:p>
        </p:txBody>
      </p:sp>
    </p:spTree>
    <p:extLst>
      <p:ext uri="{BB962C8B-B14F-4D97-AF65-F5344CB8AC3E}">
        <p14:creationId xmlns:p14="http://schemas.microsoft.com/office/powerpoint/2010/main" val="3194984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14CB2-BE56-E922-BC22-5A991E35F215}"/>
              </a:ext>
            </a:extLst>
          </p:cNvPr>
          <p:cNvSpPr>
            <a:spLocks noGrp="1"/>
          </p:cNvSpPr>
          <p:nvPr>
            <p:ph type="title"/>
          </p:nvPr>
        </p:nvSpPr>
        <p:spPr/>
        <p:txBody>
          <a:bodyPr>
            <a:normAutofit fontScale="90000"/>
          </a:bodyPr>
          <a:lstStyle/>
          <a:p>
            <a:r>
              <a:rPr lang="en-US" b="1" dirty="0"/>
              <a:t>Reflection of Miqdad Hamdani</a:t>
            </a:r>
            <a:br>
              <a:rPr lang="en-US" dirty="0"/>
            </a:br>
            <a:endParaRPr lang="en-US" dirty="0"/>
          </a:p>
        </p:txBody>
      </p:sp>
      <p:sp>
        <p:nvSpPr>
          <p:cNvPr id="3" name="Content Placeholder 2">
            <a:extLst>
              <a:ext uri="{FF2B5EF4-FFF2-40B4-BE49-F238E27FC236}">
                <a16:creationId xmlns:a16="http://schemas.microsoft.com/office/drawing/2014/main" id="{AA0126C5-9D8A-E72F-24A0-2D8B45CEAF62}"/>
              </a:ext>
            </a:extLst>
          </p:cNvPr>
          <p:cNvSpPr>
            <a:spLocks noGrp="1"/>
          </p:cNvSpPr>
          <p:nvPr>
            <p:ph idx="1"/>
          </p:nvPr>
        </p:nvSpPr>
        <p:spPr>
          <a:xfrm>
            <a:off x="457200" y="1600200"/>
            <a:ext cx="17449800" cy="8412162"/>
          </a:xfrm>
        </p:spPr>
        <p:txBody>
          <a:bodyPr>
            <a:normAutofit lnSpcReduction="10000"/>
          </a:bodyPr>
          <a:lstStyle/>
          <a:p>
            <a:pPr marL="0" indent="0">
              <a:buNone/>
            </a:pPr>
            <a:r>
              <a:rPr lang="en-US" dirty="0"/>
              <a:t>The primary tasks that I performed in this project were to design a definite structure of the presentation and make sure that the presentation satisfies the assessment requirements. Initially, I created the original outline and sequenced the progress of the slide deck to the extent that every part of the presentation follows a logical scheme in the module brief, Assessment 2 Group Project BRIEF. I was in charge of the design and production of the title slide ensuring that the names of the team, UB numbers and dates were accurate and presented in a professional manner. I also prepared the executive summary, where I expressed the who, what, when, and where of the case perfectly well and the main problem. To summarize the overall finding of the group, I wrote one sentence which was a key finding and ensured that it was short and backed up by evidence.</a:t>
            </a:r>
          </a:p>
          <a:p>
            <a:pPr marL="0" indent="0">
              <a:buNone/>
            </a:pPr>
            <a:endParaRPr lang="en-US" dirty="0"/>
          </a:p>
          <a:p>
            <a:pPr marL="0" indent="0">
              <a:buNone/>
            </a:pPr>
            <a:r>
              <a:rPr lang="en-US" dirty="0"/>
              <a:t>Another significant element of my contribution was research. To find out what the company was and what operational issues it encountered, I reviewed several sources such as reports, academic articles, and industry documents before adopting blockchain. This study allowed me to develop the company background and business context slides that would act as a basis to the further work of the team. In the process, I came up with major themes such as ineffective procurement systems, financial inefficiencies, and weak monitoring systems. I also participated in collecting evidence used in the triangulation section and ensured that all the references were always formatted in the Bradford Harvard style.</a:t>
            </a:r>
          </a:p>
          <a:p>
            <a:pPr marL="0" indent="0">
              <a:buNone/>
            </a:pPr>
            <a:endParaRPr lang="en-US" dirty="0"/>
          </a:p>
          <a:p>
            <a:endParaRPr lang="en-US" dirty="0"/>
          </a:p>
        </p:txBody>
      </p:sp>
    </p:spTree>
    <p:extLst>
      <p:ext uri="{BB962C8B-B14F-4D97-AF65-F5344CB8AC3E}">
        <p14:creationId xmlns:p14="http://schemas.microsoft.com/office/powerpoint/2010/main" val="2819928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60130-22AE-4522-5F86-9B67BAB40C9E}"/>
              </a:ext>
            </a:extLst>
          </p:cNvPr>
          <p:cNvSpPr>
            <a:spLocks noGrp="1"/>
          </p:cNvSpPr>
          <p:nvPr>
            <p:ph type="title"/>
          </p:nvPr>
        </p:nvSpPr>
        <p:spPr/>
        <p:txBody>
          <a:bodyPr>
            <a:normAutofit fontScale="90000"/>
          </a:bodyPr>
          <a:lstStyle/>
          <a:p>
            <a:r>
              <a:rPr lang="en-US" b="1" dirty="0"/>
              <a:t>Reflection of Hasan Ali</a:t>
            </a:r>
            <a:br>
              <a:rPr lang="en-US" dirty="0"/>
            </a:br>
            <a:endParaRPr lang="en-US" dirty="0"/>
          </a:p>
        </p:txBody>
      </p:sp>
      <p:sp>
        <p:nvSpPr>
          <p:cNvPr id="3" name="Content Placeholder 2">
            <a:extLst>
              <a:ext uri="{FF2B5EF4-FFF2-40B4-BE49-F238E27FC236}">
                <a16:creationId xmlns:a16="http://schemas.microsoft.com/office/drawing/2014/main" id="{878FBBF9-58B8-EF34-A2FB-A24EB851E3FF}"/>
              </a:ext>
            </a:extLst>
          </p:cNvPr>
          <p:cNvSpPr>
            <a:spLocks noGrp="1"/>
          </p:cNvSpPr>
          <p:nvPr>
            <p:ph idx="1"/>
          </p:nvPr>
        </p:nvSpPr>
        <p:spPr>
          <a:xfrm>
            <a:off x="457200" y="1600200"/>
            <a:ext cx="17297400" cy="8191500"/>
          </a:xfrm>
        </p:spPr>
        <p:txBody>
          <a:bodyPr>
            <a:normAutofit fontScale="92500" lnSpcReduction="10000"/>
          </a:bodyPr>
          <a:lstStyle/>
          <a:p>
            <a:pPr marL="0" indent="0">
              <a:buNone/>
            </a:pPr>
            <a:r>
              <a:rPr lang="en-US" dirty="0"/>
              <a:t>My personal contribution to the written part of the Evidence Analysis section was the summary of the findings, where triangulation was reflected and the different sources contradicted each other or supported each other. The other activity I was engaged in was creating the Critical Discussion section to which I deconstructed what made </a:t>
            </a:r>
            <a:r>
              <a:rPr lang="en-US" dirty="0" err="1"/>
              <a:t>FlightChain</a:t>
            </a:r>
            <a:r>
              <a:rPr lang="en-US" dirty="0"/>
              <a:t> such a distinct multi-stakeholder initiative and what were the lessons that can be applied to governance, interoperability, and scalability. It was noteworthy that these contributions brought the group to the next level of results, which was the description, to a more analytical reasoning and thus achieved a higher mark.</a:t>
            </a:r>
          </a:p>
          <a:p>
            <a:pPr marL="0" indent="0">
              <a:buNone/>
            </a:pPr>
            <a:r>
              <a:rPr lang="en-US" dirty="0"/>
              <a:t>My other help was in the reference making by gathering the links and inserting them at the end reference list. This ensured the academic integrity and aided in supporting our arguments. I was also involved in the presentation proofreading and formatting consistency, slide structure and alignment to assignment brief and marking criteria.</a:t>
            </a:r>
          </a:p>
          <a:p>
            <a:pPr marL="0" indent="0">
              <a:buNone/>
            </a:pPr>
            <a:r>
              <a:rPr lang="en-US" dirty="0"/>
              <a:t>There were helpful ideas on collaborative work. Another important lesson that I received is that regular communication is necessary to make sure there is no need to have a person do the same job. The different styles of writing and the meanings attached to the content that our group had to coordinate were also not very easy to follow at times. However, after deliberations and comments, we were in a position to refine our work and come up with a logical end work. The project enhanced my self-research abilities, my personal contribution in collaborating in groups, and my ability to organize technical information that is hardly understandable into academic content.</a:t>
            </a:r>
          </a:p>
        </p:txBody>
      </p:sp>
    </p:spTree>
    <p:extLst>
      <p:ext uri="{BB962C8B-B14F-4D97-AF65-F5344CB8AC3E}">
        <p14:creationId xmlns:p14="http://schemas.microsoft.com/office/powerpoint/2010/main" val="2007821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3FCE-0796-67C9-5B6F-31A87CFA1354}"/>
              </a:ext>
            </a:extLst>
          </p:cNvPr>
          <p:cNvSpPr>
            <a:spLocks noGrp="1"/>
          </p:cNvSpPr>
          <p:nvPr>
            <p:ph type="title"/>
          </p:nvPr>
        </p:nvSpPr>
        <p:spPr/>
        <p:txBody>
          <a:bodyPr>
            <a:normAutofit fontScale="90000"/>
          </a:bodyPr>
          <a:lstStyle/>
          <a:p>
            <a:r>
              <a:rPr lang="en-US" b="1" dirty="0"/>
              <a:t>Reflection of Mohammed Fahad </a:t>
            </a:r>
            <a:br>
              <a:rPr lang="en-US" dirty="0"/>
            </a:br>
            <a:endParaRPr lang="en-US" dirty="0"/>
          </a:p>
        </p:txBody>
      </p:sp>
      <p:sp>
        <p:nvSpPr>
          <p:cNvPr id="3" name="Content Placeholder 2">
            <a:extLst>
              <a:ext uri="{FF2B5EF4-FFF2-40B4-BE49-F238E27FC236}">
                <a16:creationId xmlns:a16="http://schemas.microsoft.com/office/drawing/2014/main" id="{3982B9D2-63C2-3486-76C3-FE1F58A0301D}"/>
              </a:ext>
            </a:extLst>
          </p:cNvPr>
          <p:cNvSpPr>
            <a:spLocks noGrp="1"/>
          </p:cNvSpPr>
          <p:nvPr>
            <p:ph idx="1"/>
          </p:nvPr>
        </p:nvSpPr>
        <p:spPr>
          <a:xfrm>
            <a:off x="457200" y="1600200"/>
            <a:ext cx="17526000" cy="8412162"/>
          </a:xfrm>
        </p:spPr>
        <p:txBody>
          <a:bodyPr>
            <a:normAutofit fontScale="92500" lnSpcReduction="10000"/>
          </a:bodyPr>
          <a:lstStyle/>
          <a:p>
            <a:pPr marL="0" indent="0">
              <a:buNone/>
            </a:pPr>
            <a:r>
              <a:rPr lang="en-US" dirty="0"/>
              <a:t>Being the team member responsible in Recommendations, Future Prospects, and Conclusion, the most important question that needed to be answered was the following: What happens next? Other members in the team were looking at the problems that had been experienced in the past, whereas I was planning the solutions to the future. </a:t>
            </a:r>
          </a:p>
          <a:p>
            <a:pPr marL="0" indent="0">
              <a:buNone/>
            </a:pPr>
            <a:r>
              <a:rPr lang="en-US" dirty="0"/>
              <a:t>Overcoming the Rule-Making Problem Our team determined that technology was not the problem, but the rules were the problem. The concept on which I formed our recommendations was that tech companies such as SITA cannot act alone. I came up with the argument that large industry organizations, including IATA and ACI, must intervene as the custodians of custodianship to establish the standards. I presented facts that proved that the aviation industry cannot have a </a:t>
            </a:r>
            <a:r>
              <a:rPr lang="en-US" dirty="0" err="1"/>
              <a:t>hostless</a:t>
            </a:r>
            <a:r>
              <a:rPr lang="en-US" dirty="0"/>
              <a:t> system. Thus, I suggested a mix-solution, which is to retain the same technology, but have a centralized set of rules. </a:t>
            </a:r>
          </a:p>
          <a:p>
            <a:pPr marL="0" indent="0">
              <a:buNone/>
            </a:pPr>
            <a:r>
              <a:rPr lang="en-US" dirty="0"/>
              <a:t>Sealing The Law Gap To the future perspective, I focused on the law. In our study, it was found that smart contracts are effective in data management, but do not have legal power. I explained the point that the second action is not to write better code, but to make new laws. These automated agreements should also be legally accepted in the industry to enable the airlines to be able to rely on them. </a:t>
            </a:r>
          </a:p>
          <a:p>
            <a:pPr marL="0" indent="0">
              <a:buNone/>
            </a:pPr>
            <a:r>
              <a:rPr lang="en-US" dirty="0"/>
              <a:t>Conclusion My last task was to put our 20 slides into a one-point message. I have made a judgment that </a:t>
            </a:r>
            <a:r>
              <a:rPr lang="en-US" dirty="0" err="1"/>
              <a:t>FlightChain</a:t>
            </a:r>
            <a:r>
              <a:rPr lang="en-US" dirty="0"/>
              <a:t> was technically successful, and did not have governance issues. It had successfully changed two million flight tickets but it was stuck due to the fact that the human consensus of the industry has failed to match its digital offerings.</a:t>
            </a:r>
          </a:p>
          <a:p>
            <a:endParaRPr lang="en-US" dirty="0"/>
          </a:p>
        </p:txBody>
      </p:sp>
    </p:spTree>
    <p:extLst>
      <p:ext uri="{BB962C8B-B14F-4D97-AF65-F5344CB8AC3E}">
        <p14:creationId xmlns:p14="http://schemas.microsoft.com/office/powerpoint/2010/main" val="3901027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16338</Words>
  <Application>Microsoft Office PowerPoint</Application>
  <PresentationFormat>Custom</PresentationFormat>
  <Paragraphs>936</Paragraphs>
  <Slides>29</Slides>
  <Notes>21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vt:lpstr>
      <vt:lpstr>Aptos</vt:lpstr>
      <vt:lpstr>Calibri (MS) Bold</vt:lpstr>
      <vt:lpstr>Arial</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lpstr>Reflection of Muhammad Shoaib Baig </vt:lpstr>
      <vt:lpstr>Reflection of Niraj Joshi </vt:lpstr>
      <vt:lpstr>Reflection of Mohammed Uzair Patel </vt:lpstr>
      <vt:lpstr>Reflection of Miqdad Hamdani </vt:lpstr>
      <vt:lpstr>Reflection of Hasan Ali </vt:lpstr>
      <vt:lpstr>Reflection of Mohammed Fahad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Presentation.pptx</dc:title>
  <dc:creator>Shoaib Baig</dc:creator>
  <cp:lastModifiedBy>Shoaib Baig</cp:lastModifiedBy>
  <cp:revision>81</cp:revision>
  <dcterms:created xsi:type="dcterms:W3CDTF">2006-08-16T00:00:00Z</dcterms:created>
  <dcterms:modified xsi:type="dcterms:W3CDTF">2025-12-12T11:53:09Z</dcterms:modified>
  <dc:identifier>DAG7Q571qQw</dc:identifier>
</cp:coreProperties>
</file>